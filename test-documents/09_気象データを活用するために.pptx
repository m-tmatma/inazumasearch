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removePersonalInfoOnSave="1" saveSubsetFonts="1">
  <p:sldMasterIdLst>
    <p:sldMasterId id="2147483648" r:id="rId4"/>
  </p:sldMasterIdLst>
  <p:notesMasterIdLst>
    <p:notesMasterId r:id="rId30"/>
  </p:notesMasterIdLst>
  <p:sldIdLst>
    <p:sldId id="1738" r:id="rId5"/>
    <p:sldId id="1737" r:id="rId6"/>
    <p:sldId id="1739" r:id="rId7"/>
    <p:sldId id="1658" r:id="rId8"/>
    <p:sldId id="1746" r:id="rId9"/>
    <p:sldId id="1705" r:id="rId10"/>
    <p:sldId id="1571" r:id="rId11"/>
    <p:sldId id="1576" r:id="rId12"/>
    <p:sldId id="1646" r:id="rId13"/>
    <p:sldId id="1647" r:id="rId14"/>
    <p:sldId id="1648" r:id="rId15"/>
    <p:sldId id="1644" r:id="rId16"/>
    <p:sldId id="1650" r:id="rId17"/>
    <p:sldId id="1747" r:id="rId18"/>
    <p:sldId id="1651" r:id="rId19"/>
    <p:sldId id="1575" r:id="rId20"/>
    <p:sldId id="1743" r:id="rId21"/>
    <p:sldId id="1574" r:id="rId22"/>
    <p:sldId id="1573" r:id="rId23"/>
    <p:sldId id="1653" r:id="rId24"/>
    <p:sldId id="1572" r:id="rId25"/>
    <p:sldId id="1654" r:id="rId26"/>
    <p:sldId id="1660" r:id="rId27"/>
    <p:sldId id="1661" r:id="rId28"/>
    <p:sldId id="1655" r:id="rId29"/>
  </p:sldIdLst>
  <p:sldSz cx="9144000" cy="6858000" type="screen4x3"/>
  <p:notesSz cx="7104063"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354595A4-3FAA-4E76-9EBF-BB3ACFFAA077}">
          <p14:sldIdLst>
            <p14:sldId id="1738"/>
          </p14:sldIdLst>
        </p14:section>
        <p14:section name="目次" id="{9BE09C68-0B0D-4F42-A9FD-D1E335835DCB}">
          <p14:sldIdLst>
            <p14:sldId id="1737"/>
          </p14:sldIdLst>
        </p14:section>
        <p14:section name="気象データの活用事例について" id="{27AE9FF6-7816-492B-9305-F345069EA293}">
          <p14:sldIdLst>
            <p14:sldId id="1739"/>
            <p14:sldId id="1658"/>
            <p14:sldId id="1746"/>
            <p14:sldId id="1705"/>
            <p14:sldId id="1571"/>
            <p14:sldId id="1576"/>
            <p14:sldId id="1646"/>
            <p14:sldId id="1647"/>
            <p14:sldId id="1648"/>
            <p14:sldId id="1644"/>
            <p14:sldId id="1650"/>
            <p14:sldId id="1747"/>
            <p14:sldId id="1651"/>
            <p14:sldId id="1575"/>
          </p14:sldIdLst>
        </p14:section>
        <p14:section name="気象データの取得方法について" id="{50F473DD-71B6-4112-95D0-3F20E6D43F91}">
          <p14:sldIdLst>
            <p14:sldId id="1743"/>
            <p14:sldId id="1574"/>
            <p14:sldId id="1573"/>
            <p14:sldId id="1653"/>
            <p14:sldId id="1572"/>
            <p14:sldId id="1654"/>
            <p14:sldId id="1660"/>
            <p14:sldId id="1661"/>
            <p14:sldId id="1655"/>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229" userDrawn="1">
          <p15:clr>
            <a:srgbClr val="A4A3A4"/>
          </p15:clr>
        </p15:guide>
        <p15:guide id="2" pos="223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作成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E700"/>
    <a:srgbClr val="FA2800"/>
    <a:srgbClr val="0000FF"/>
    <a:srgbClr val="AA00AA"/>
    <a:srgbClr val="FFFFFF"/>
    <a:srgbClr val="0C000C"/>
    <a:srgbClr val="EFE736"/>
    <a:srgbClr val="C83826"/>
    <a:srgbClr val="CC3399"/>
    <a:srgbClr val="FCF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757DD8-15AD-4EAB-942A-9F4AAC9B00D7}" v="4" dt="2026-03-30T07:01:56.04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A488322-F2BA-4B5B-9748-0D474271808F}" styleName="中間スタイル 3 - アクセント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E8B1032C-EA38-4F05-BA0D-38AFFFC7BED3}" styleName="淡色スタイル 3 - アクセント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ABFCF23-3B69-468F-B69F-88F6DE6A72F2}" styleName="中間スタイル 1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89" autoAdjust="0"/>
    <p:restoredTop sz="72988" autoAdjust="0"/>
  </p:normalViewPr>
  <p:slideViewPr>
    <p:cSldViewPr snapToGrid="0" showGuides="1">
      <p:cViewPr varScale="1">
        <p:scale>
          <a:sx n="43" d="100"/>
          <a:sy n="43" d="100"/>
        </p:scale>
        <p:origin x="356" y="56"/>
      </p:cViewPr>
      <p:guideLst>
        <p:guide orient="horz" pos="2160"/>
        <p:guide pos="2880"/>
      </p:guideLst>
    </p:cSldViewPr>
  </p:slideViewPr>
  <p:outlineViewPr>
    <p:cViewPr>
      <p:scale>
        <a:sx n="33" d="100"/>
        <a:sy n="33" d="100"/>
      </p:scale>
      <p:origin x="0" y="0"/>
    </p:cViewPr>
  </p:outlineViewPr>
  <p:notesTextViewPr>
    <p:cViewPr>
      <p:scale>
        <a:sx n="66" d="100"/>
        <a:sy n="66" d="100"/>
      </p:scale>
      <p:origin x="0" y="0"/>
    </p:cViewPr>
  </p:notesTextViewPr>
  <p:sorterViewPr>
    <p:cViewPr>
      <p:scale>
        <a:sx n="100" d="100"/>
        <a:sy n="100" d="100"/>
      </p:scale>
      <p:origin x="0" y="0"/>
    </p:cViewPr>
  </p:sorterViewPr>
  <p:notesViewPr>
    <p:cSldViewPr snapToGrid="0" showGuides="1">
      <p:cViewPr>
        <p:scale>
          <a:sx n="100" d="100"/>
          <a:sy n="100" d="100"/>
        </p:scale>
        <p:origin x="3588" y="-1134"/>
      </p:cViewPr>
      <p:guideLst>
        <p:guide orient="horz" pos="3229"/>
        <p:guide pos="223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スライド イメージ プレースホルダー 8">
            <a:extLst>
              <a:ext uri="{FF2B5EF4-FFF2-40B4-BE49-F238E27FC236}">
                <a16:creationId xmlns:a16="http://schemas.microsoft.com/office/drawing/2014/main" id="{131E49BE-6B8E-8770-8286-8435FBAA6917}"/>
              </a:ext>
            </a:extLst>
          </p:cNvPr>
          <p:cNvSpPr>
            <a:spLocks noGrp="1" noRot="1" noChangeAspect="1"/>
          </p:cNvSpPr>
          <p:nvPr>
            <p:ph type="sldImg" idx="2"/>
          </p:nvPr>
        </p:nvSpPr>
        <p:spPr>
          <a:xfrm>
            <a:off x="565150" y="636588"/>
            <a:ext cx="5973763" cy="4481512"/>
          </a:xfrm>
          <a:prstGeom prst="rect">
            <a:avLst/>
          </a:prstGeom>
          <a:noFill/>
          <a:ln w="12700">
            <a:solidFill>
              <a:prstClr val="black"/>
            </a:solidFill>
          </a:ln>
        </p:spPr>
        <p:txBody>
          <a:bodyPr vert="horz" lIns="95491" tIns="47745" rIns="95491" bIns="47745" rtlCol="0" anchor="ctr"/>
          <a:lstStyle/>
          <a:p>
            <a:endParaRPr lang="ja-JP" altLang="en-US"/>
          </a:p>
        </p:txBody>
      </p:sp>
      <p:sp>
        <p:nvSpPr>
          <p:cNvPr id="12" name="ノート プレースホルダー 11">
            <a:extLst>
              <a:ext uri="{FF2B5EF4-FFF2-40B4-BE49-F238E27FC236}">
                <a16:creationId xmlns:a16="http://schemas.microsoft.com/office/drawing/2014/main" id="{26790ABC-3506-36C8-DDF1-68809D567FB8}"/>
              </a:ext>
            </a:extLst>
          </p:cNvPr>
          <p:cNvSpPr>
            <a:spLocks noGrp="1"/>
          </p:cNvSpPr>
          <p:nvPr>
            <p:ph type="body" sz="quarter" idx="3"/>
          </p:nvPr>
        </p:nvSpPr>
        <p:spPr>
          <a:xfrm>
            <a:off x="513473" y="5257480"/>
            <a:ext cx="6074947" cy="4836501"/>
          </a:xfrm>
          <a:prstGeom prst="rect">
            <a:avLst/>
          </a:prstGeom>
        </p:spPr>
        <p:txBody>
          <a:bodyPr vert="horz" lIns="95491" tIns="47745" rIns="95491" bIns="4774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フッター プレースホルダー 1">
            <a:extLst>
              <a:ext uri="{FF2B5EF4-FFF2-40B4-BE49-F238E27FC236}">
                <a16:creationId xmlns:a16="http://schemas.microsoft.com/office/drawing/2014/main" id="{4F00F793-AEC2-D34E-17AF-042AA9B04DD9}"/>
              </a:ext>
            </a:extLst>
          </p:cNvPr>
          <p:cNvSpPr>
            <a:spLocks noGrp="1"/>
          </p:cNvSpPr>
          <p:nvPr>
            <p:ph type="ftr" sz="quarter" idx="4"/>
          </p:nvPr>
        </p:nvSpPr>
        <p:spPr>
          <a:xfrm>
            <a:off x="1" y="9720826"/>
            <a:ext cx="3079042" cy="513789"/>
          </a:xfrm>
          <a:prstGeom prst="rect">
            <a:avLst/>
          </a:prstGeom>
        </p:spPr>
        <p:txBody>
          <a:bodyPr vert="horz" lIns="95491" tIns="47745" rIns="95491" bIns="47745" rtlCol="0" anchor="b"/>
          <a:lstStyle>
            <a:lvl1pPr algn="l">
              <a:defRPr sz="1300"/>
            </a:lvl1pPr>
          </a:lstStyle>
          <a:p>
            <a:endParaRPr kumimoji="1" lang="ja-JP" altLang="en-US"/>
          </a:p>
        </p:txBody>
      </p:sp>
      <p:sp>
        <p:nvSpPr>
          <p:cNvPr id="3" name="ヘッダー プレースホルダー 2">
            <a:extLst>
              <a:ext uri="{FF2B5EF4-FFF2-40B4-BE49-F238E27FC236}">
                <a16:creationId xmlns:a16="http://schemas.microsoft.com/office/drawing/2014/main" id="{350CB205-4F6D-DC01-CB0C-2F2AF6EF13CD}"/>
              </a:ext>
            </a:extLst>
          </p:cNvPr>
          <p:cNvSpPr>
            <a:spLocks noGrp="1"/>
          </p:cNvSpPr>
          <p:nvPr>
            <p:ph type="hdr" sz="quarter"/>
          </p:nvPr>
        </p:nvSpPr>
        <p:spPr>
          <a:xfrm>
            <a:off x="1" y="2"/>
            <a:ext cx="3079042" cy="513789"/>
          </a:xfrm>
          <a:prstGeom prst="rect">
            <a:avLst/>
          </a:prstGeom>
        </p:spPr>
        <p:txBody>
          <a:bodyPr vert="horz" lIns="95491" tIns="47745" rIns="95491" bIns="47745" rtlCol="0"/>
          <a:lstStyle>
            <a:lvl1pPr algn="l">
              <a:defRPr sz="1300"/>
            </a:lvl1pPr>
          </a:lstStyle>
          <a:p>
            <a:endParaRPr kumimoji="1" lang="ja-JP" altLang="en-US"/>
          </a:p>
        </p:txBody>
      </p:sp>
      <p:sp>
        <p:nvSpPr>
          <p:cNvPr id="4" name="日付プレースホルダー 3">
            <a:extLst>
              <a:ext uri="{FF2B5EF4-FFF2-40B4-BE49-F238E27FC236}">
                <a16:creationId xmlns:a16="http://schemas.microsoft.com/office/drawing/2014/main" id="{260941CD-6E05-1109-E2DA-97F090C7E3AA}"/>
              </a:ext>
            </a:extLst>
          </p:cNvPr>
          <p:cNvSpPr>
            <a:spLocks noGrp="1"/>
          </p:cNvSpPr>
          <p:nvPr>
            <p:ph type="dt" idx="1"/>
          </p:nvPr>
        </p:nvSpPr>
        <p:spPr>
          <a:xfrm>
            <a:off x="4023348" y="2"/>
            <a:ext cx="3079040" cy="513789"/>
          </a:xfrm>
          <a:prstGeom prst="rect">
            <a:avLst/>
          </a:prstGeom>
        </p:spPr>
        <p:txBody>
          <a:bodyPr vert="horz" lIns="95491" tIns="47745" rIns="95491" bIns="47745" rtlCol="0"/>
          <a:lstStyle>
            <a:lvl1pPr algn="r">
              <a:defRPr sz="1300"/>
            </a:lvl1pPr>
          </a:lstStyle>
          <a:p>
            <a:fld id="{F2A13AB3-D421-433A-9447-13F036C2234C}" type="datetimeFigureOut">
              <a:rPr kumimoji="1" lang="ja-JP" altLang="en-US" smtClean="0"/>
              <a:t>2026/3/30</a:t>
            </a:fld>
            <a:endParaRPr kumimoji="1" lang="ja-JP" altLang="en-US"/>
          </a:p>
        </p:txBody>
      </p:sp>
      <p:sp>
        <p:nvSpPr>
          <p:cNvPr id="5" name="スライド番号プレースホルダー 4">
            <a:extLst>
              <a:ext uri="{FF2B5EF4-FFF2-40B4-BE49-F238E27FC236}">
                <a16:creationId xmlns:a16="http://schemas.microsoft.com/office/drawing/2014/main" id="{197B2DE8-245A-EC85-0F87-0A05E4AAB50C}"/>
              </a:ext>
            </a:extLst>
          </p:cNvPr>
          <p:cNvSpPr>
            <a:spLocks noGrp="1"/>
          </p:cNvSpPr>
          <p:nvPr>
            <p:ph type="sldNum" sz="quarter" idx="5"/>
          </p:nvPr>
        </p:nvSpPr>
        <p:spPr>
          <a:xfrm>
            <a:off x="4023348" y="9720826"/>
            <a:ext cx="3079040" cy="513789"/>
          </a:xfrm>
          <a:prstGeom prst="rect">
            <a:avLst/>
          </a:prstGeom>
        </p:spPr>
        <p:txBody>
          <a:bodyPr vert="horz" lIns="95491" tIns="47745" rIns="95491" bIns="47745" rtlCol="0" anchor="b"/>
          <a:lstStyle>
            <a:lvl1pPr algn="r">
              <a:defRPr sz="1300"/>
            </a:lvl1pPr>
          </a:lstStyle>
          <a:p>
            <a:fld id="{3617F24F-670C-40F7-AD9F-223EA85139BD}" type="slidenum">
              <a:rPr kumimoji="1" lang="ja-JP" altLang="en-US" smtClean="0"/>
              <a:t>‹#›</a:t>
            </a:fld>
            <a:endParaRPr kumimoji="1" lang="ja-JP" altLang="en-US"/>
          </a:p>
        </p:txBody>
      </p:sp>
    </p:spTree>
    <p:extLst>
      <p:ext uri="{BB962C8B-B14F-4D97-AF65-F5344CB8AC3E}">
        <p14:creationId xmlns:p14="http://schemas.microsoft.com/office/powerpoint/2010/main" val="108836715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224" userDrawn="1">
          <p15:clr>
            <a:srgbClr val="F26B43"/>
          </p15:clr>
        </p15:guide>
        <p15:guide id="2" pos="2237"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amu.rd.naro.go.jp/"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www.naro.go.jp/publicity_report/publication/files/3f7c9bb6537fe89b7cb9de5122c7b59c_1.pdf"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www.data.jma.go.jp/risk/probability/docs/2weekRefcst-readme.pdf"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www.jma.go.jp/jma/kishou/know/stats/shishin/shishin_all.pdf#chap3" TargetMode="Externa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data.jma.go.jp/risk/probability/docs/1monthRefcst-readme.pdf"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s://www.jma.go.jp/jma/kishou/know/stats/shishin/shishin_all.pdf#chap3"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 イメージ プレースホルダー 2">
            <a:extLst>
              <a:ext uri="{FF2B5EF4-FFF2-40B4-BE49-F238E27FC236}">
                <a16:creationId xmlns:a16="http://schemas.microsoft.com/office/drawing/2014/main" id="{8971DD68-BA2D-F82C-59D3-77026D65984B}"/>
              </a:ext>
            </a:extLst>
          </p:cNvPr>
          <p:cNvSpPr>
            <a:spLocks noGrp="1" noRot="1" noChangeAspect="1"/>
          </p:cNvSpPr>
          <p:nvPr>
            <p:ph type="sldImg"/>
          </p:nvPr>
        </p:nvSpPr>
        <p:spPr>
          <a:xfrm>
            <a:off x="563563" y="635000"/>
            <a:ext cx="5976937" cy="4483100"/>
          </a:xfrm>
        </p:spPr>
      </p:sp>
      <p:sp>
        <p:nvSpPr>
          <p:cNvPr id="5" name="ノート プレースホルダー 4">
            <a:extLst>
              <a:ext uri="{FF2B5EF4-FFF2-40B4-BE49-F238E27FC236}">
                <a16:creationId xmlns:a16="http://schemas.microsoft.com/office/drawing/2014/main" id="{9F5ACFC9-D01C-B853-56F8-13AD9125B69B}"/>
              </a:ext>
            </a:extLst>
          </p:cNvPr>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3891998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3563" y="635000"/>
            <a:ext cx="5976937" cy="4483100"/>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5DBCB91F-D698-4BB1-AA1E-02C582C05983}" type="slidenum">
              <a:rPr kumimoji="1" lang="ja-JP" altLang="en-US" smtClean="0"/>
              <a:t>1</a:t>
            </a:fld>
            <a:endParaRPr kumimoji="1" lang="ja-JP" altLang="en-US"/>
          </a:p>
        </p:txBody>
      </p:sp>
    </p:spTree>
    <p:extLst>
      <p:ext uri="{BB962C8B-B14F-4D97-AF65-F5344CB8AC3E}">
        <p14:creationId xmlns:p14="http://schemas.microsoft.com/office/powerpoint/2010/main" val="871103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3563" y="635000"/>
            <a:ext cx="5976937" cy="4483100"/>
          </a:xfrm>
        </p:spPr>
      </p:sp>
      <p:sp>
        <p:nvSpPr>
          <p:cNvPr id="3" name="ノート プレースホルダー 2"/>
          <p:cNvSpPr>
            <a:spLocks noGrp="1"/>
          </p:cNvSpPr>
          <p:nvPr>
            <p:ph type="body" idx="1"/>
          </p:nvPr>
        </p:nvSpPr>
        <p:spPr/>
        <p:txBody>
          <a:bodyPr/>
          <a:lstStyle/>
          <a:p>
            <a:pPr defTabSz="954908">
              <a:defRPr/>
            </a:pPr>
            <a:r>
              <a:rPr kumimoji="1" lang="ja-JP" altLang="en-US" dirty="0">
                <a:latin typeface="+mn-ea"/>
              </a:rPr>
              <a:t>　この別冊では、実際に</a:t>
            </a:r>
            <a:r>
              <a:rPr lang="ja-JP" altLang="en-US" dirty="0">
                <a:latin typeface="+mn-ea"/>
              </a:rPr>
              <a:t>気候</a:t>
            </a:r>
            <a:r>
              <a:rPr kumimoji="1" lang="ja-JP" altLang="en-US" dirty="0">
                <a:latin typeface="+mn-ea"/>
              </a:rPr>
              <a:t>リスク管理を進めるための参考にしていただくため、はじめに、農業における気温予測データの活用事例を紹介します。</a:t>
            </a:r>
            <a:endParaRPr kumimoji="1" lang="en-US" altLang="ja-JP" dirty="0">
              <a:latin typeface="+mn-ea"/>
            </a:endParaRPr>
          </a:p>
          <a:p>
            <a:pPr defTabSz="954908">
              <a:defRPr/>
            </a:pPr>
            <a:endParaRPr kumimoji="1" lang="en-US" altLang="ja-JP" dirty="0">
              <a:latin typeface="+mn-ea"/>
            </a:endParaRPr>
          </a:p>
          <a:p>
            <a:pPr defTabSz="954908">
              <a:defRPr/>
            </a:pPr>
            <a:r>
              <a:rPr kumimoji="1" lang="ja-JP" altLang="en-US" dirty="0">
                <a:latin typeface="+mn-ea"/>
              </a:rPr>
              <a:t>　次に、気候リスク管理を行うために必要となる、</a:t>
            </a:r>
            <a:r>
              <a:rPr lang="ja-JP" altLang="en-US" b="0" i="0" u="none" strike="noStrike" baseline="0" dirty="0">
                <a:solidFill>
                  <a:srgbClr val="000000"/>
                </a:solidFill>
                <a:latin typeface="+mn-ea"/>
              </a:rPr>
              <a:t>気象に関する過去のデータや、気温予測データを気象庁ホームページから</a:t>
            </a:r>
            <a:r>
              <a:rPr kumimoji="1" lang="ja-JP" altLang="en-US" dirty="0">
                <a:latin typeface="+mn-ea"/>
              </a:rPr>
              <a:t>取得する方法について紹介します。</a:t>
            </a:r>
            <a:endParaRPr kumimoji="1" lang="en-US" altLang="ja-JP" dirty="0">
              <a:latin typeface="+mn-ea"/>
            </a:endParaRPr>
          </a:p>
          <a:p>
            <a:endParaRPr kumimoji="1" lang="ja-JP" altLang="en-US" dirty="0"/>
          </a:p>
        </p:txBody>
      </p:sp>
      <p:sp>
        <p:nvSpPr>
          <p:cNvPr id="4" name="スライド番号プレースホルダー 3"/>
          <p:cNvSpPr>
            <a:spLocks noGrp="1"/>
          </p:cNvSpPr>
          <p:nvPr>
            <p:ph type="sldNum" sz="quarter" idx="10"/>
          </p:nvPr>
        </p:nvSpPr>
        <p:spPr/>
        <p:txBody>
          <a:bodyPr/>
          <a:lstStyle/>
          <a:p>
            <a:fld id="{3617F24F-670C-40F7-AD9F-223EA85139BD}" type="slidenum">
              <a:rPr kumimoji="1" lang="ja-JP" altLang="en-US" smtClean="0"/>
              <a:t>2</a:t>
            </a:fld>
            <a:endParaRPr kumimoji="1" lang="ja-JP" altLang="en-US"/>
          </a:p>
        </p:txBody>
      </p:sp>
    </p:spTree>
    <p:extLst>
      <p:ext uri="{BB962C8B-B14F-4D97-AF65-F5344CB8AC3E}">
        <p14:creationId xmlns:p14="http://schemas.microsoft.com/office/powerpoint/2010/main" val="17160376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3563" y="635000"/>
            <a:ext cx="5976937" cy="4483100"/>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617F24F-670C-40F7-AD9F-223EA85139BD}" type="slidenum">
              <a:rPr kumimoji="1" lang="ja-JP" altLang="en-US" smtClean="0"/>
              <a:t>3</a:t>
            </a:fld>
            <a:endParaRPr kumimoji="1" lang="ja-JP" altLang="en-US"/>
          </a:p>
        </p:txBody>
      </p:sp>
    </p:spTree>
    <p:extLst>
      <p:ext uri="{BB962C8B-B14F-4D97-AF65-F5344CB8AC3E}">
        <p14:creationId xmlns:p14="http://schemas.microsoft.com/office/powerpoint/2010/main" val="3969459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3563" y="635000"/>
            <a:ext cx="5976937" cy="4483100"/>
          </a:xfrm>
        </p:spPr>
      </p:sp>
      <p:sp>
        <p:nvSpPr>
          <p:cNvPr id="3" name="ノート プレースホルダー 2"/>
          <p:cNvSpPr>
            <a:spLocks noGrp="1"/>
          </p:cNvSpPr>
          <p:nvPr>
            <p:ph type="body" idx="1"/>
          </p:nvPr>
        </p:nvSpPr>
        <p:spPr/>
        <p:txBody>
          <a:bodyPr/>
          <a:lstStyle/>
          <a:p>
            <a:r>
              <a:rPr kumimoji="1" lang="ja-JP" altLang="en-US" dirty="0"/>
              <a:t>　もう少し具体的にイメージを持っていただくため、気象データの活用方法について具体例とともに説明します。</a:t>
            </a:r>
            <a:endParaRPr kumimoji="1" lang="en-US" altLang="ja-JP" dirty="0"/>
          </a:p>
          <a:p>
            <a:endParaRPr kumimoji="1" lang="en-US" altLang="ja-JP" dirty="0"/>
          </a:p>
          <a:p>
            <a:r>
              <a:rPr kumimoji="1" lang="ja-JP" altLang="en-US" dirty="0"/>
              <a:t>　それぞれの業務で用いる蓄積したデータと、過去の気象データを使って、どういう気候のときに、どのような影響があるかを評価することができます。</a:t>
            </a:r>
            <a:r>
              <a:rPr lang="ja-JP" altLang="en-US" dirty="0"/>
              <a:t>農業の場合、農業研究機関等で、どのような条件の下でイネに高温障害が起きる可能性があるのかを、</a:t>
            </a:r>
            <a:r>
              <a:rPr kumimoji="1" lang="ja-JP" altLang="en-US" dirty="0"/>
              <a:t>経験と勘に頼るのではなく、定量的に評価しています。</a:t>
            </a:r>
            <a:endParaRPr kumimoji="1" lang="en-US" altLang="ja-JP" dirty="0"/>
          </a:p>
          <a:p>
            <a:endParaRPr kumimoji="1" lang="en-US" altLang="ja-JP" dirty="0"/>
          </a:p>
          <a:p>
            <a:r>
              <a:rPr kumimoji="1" lang="ja-JP" altLang="en-US" dirty="0"/>
              <a:t>　このように、影響を与える気候の基準を定量的に把握することで、 現在の気温が危険な状況に近づいている場合や、 影響を与える気温が予想されている場合に、何らかの対策を行う判断に利用できます。</a:t>
            </a:r>
          </a:p>
        </p:txBody>
      </p:sp>
      <p:sp>
        <p:nvSpPr>
          <p:cNvPr id="4" name="スライド番号プレースホルダー 3"/>
          <p:cNvSpPr>
            <a:spLocks noGrp="1"/>
          </p:cNvSpPr>
          <p:nvPr>
            <p:ph type="sldNum" sz="quarter" idx="5"/>
          </p:nvPr>
        </p:nvSpPr>
        <p:spPr/>
        <p:txBody>
          <a:bodyPr/>
          <a:lstStyle/>
          <a:p>
            <a:fld id="{3617F24F-670C-40F7-AD9F-223EA85139BD}" type="slidenum">
              <a:rPr kumimoji="1" lang="ja-JP" altLang="en-US" smtClean="0"/>
              <a:t>4</a:t>
            </a:fld>
            <a:endParaRPr kumimoji="1" lang="ja-JP" altLang="en-US"/>
          </a:p>
        </p:txBody>
      </p:sp>
    </p:spTree>
    <p:extLst>
      <p:ext uri="{BB962C8B-B14F-4D97-AF65-F5344CB8AC3E}">
        <p14:creationId xmlns:p14="http://schemas.microsoft.com/office/powerpoint/2010/main" val="3102969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3563" y="635000"/>
            <a:ext cx="5976937" cy="4483100"/>
          </a:xfrm>
        </p:spPr>
      </p:sp>
      <p:sp>
        <p:nvSpPr>
          <p:cNvPr id="3" name="ノート プレースホルダー 2"/>
          <p:cNvSpPr>
            <a:spLocks noGrp="1"/>
          </p:cNvSpPr>
          <p:nvPr>
            <p:ph type="body" idx="1"/>
          </p:nvPr>
        </p:nvSpPr>
        <p:spPr/>
        <p:txBody>
          <a:bodyPr/>
          <a:lstStyle/>
          <a:p>
            <a:r>
              <a:rPr kumimoji="1" lang="ja-JP" altLang="en-US" dirty="0"/>
              <a:t>　次に、もう少し高度な気象データの活用方法をご紹介します。</a:t>
            </a:r>
            <a:endParaRPr kumimoji="1" lang="en-US" altLang="ja-JP" dirty="0"/>
          </a:p>
          <a:p>
            <a:endParaRPr kumimoji="1" lang="en-US" altLang="ja-JP" dirty="0"/>
          </a:p>
          <a:p>
            <a:r>
              <a:rPr kumimoji="1" lang="ja-JP" altLang="en-US" dirty="0"/>
              <a:t>　生育予測モデルに入力する将来の気温の値を平年値の代わりに気温予測値に置き換えて計算することにより、生育の進度がどの程度平年から隔たりそうか、客観的に評価することが出来ます。これにより、作物の開花日や収穫適期などをより精度よく予測でき、防除、機材等の事前準備に役立てることができます。</a:t>
            </a:r>
            <a:endParaRPr kumimoji="1" lang="en-US" altLang="ja-JP" dirty="0"/>
          </a:p>
          <a:p>
            <a:endParaRPr kumimoji="1" lang="en-US" altLang="ja-JP" dirty="0"/>
          </a:p>
          <a:p>
            <a:r>
              <a:rPr kumimoji="1" lang="ja-JP" altLang="en-US" dirty="0"/>
              <a:t>　その他、農作物の生育予測には有効積算温度による手法もよく使われており、温度によって変化の程度を予測できる事例での利用が想定されます。特に、これまで平年値のみで気温を積算している場合は、予測値を利用することにより、予測される適期が改善されることがあります。</a:t>
            </a:r>
            <a:endParaRPr kumimoji="1" lang="en-US" altLang="ja-JP" dirty="0"/>
          </a:p>
        </p:txBody>
      </p:sp>
      <p:sp>
        <p:nvSpPr>
          <p:cNvPr id="4" name="スライド番号プレースホルダー 3"/>
          <p:cNvSpPr>
            <a:spLocks noGrp="1"/>
          </p:cNvSpPr>
          <p:nvPr>
            <p:ph type="sldNum" sz="quarter" idx="5"/>
          </p:nvPr>
        </p:nvSpPr>
        <p:spPr/>
        <p:txBody>
          <a:bodyPr/>
          <a:lstStyle/>
          <a:p>
            <a:fld id="{3617F24F-670C-40F7-AD9F-223EA85139BD}" type="slidenum">
              <a:rPr kumimoji="1" lang="ja-JP" altLang="en-US" smtClean="0"/>
              <a:t>5</a:t>
            </a:fld>
            <a:endParaRPr kumimoji="1" lang="ja-JP" altLang="en-US"/>
          </a:p>
        </p:txBody>
      </p:sp>
    </p:spTree>
    <p:extLst>
      <p:ext uri="{BB962C8B-B14F-4D97-AF65-F5344CB8AC3E}">
        <p14:creationId xmlns:p14="http://schemas.microsoft.com/office/powerpoint/2010/main" val="26755079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pPr lvl="0"/>
            <a:r>
              <a:rPr lang="ja-JP" altLang="en-US" dirty="0"/>
              <a:t>　都道府県が作成する営農支援情報などで気温予測データの活用が進んでいます。</a:t>
            </a:r>
            <a:endParaRPr lang="en-US" altLang="ja-JP" dirty="0"/>
          </a:p>
          <a:p>
            <a:pPr lvl="0"/>
            <a:endParaRPr lang="en-US" altLang="ja-JP" dirty="0"/>
          </a:p>
          <a:p>
            <a:pPr lvl="0"/>
            <a:r>
              <a:rPr lang="ja-JP" altLang="en-US" dirty="0"/>
              <a:t>　農業における活用事例として、冷害・高温障害対策のため、極端な天候を監視し、農作物の発育に危険となる気温に対する早期の備えのために利用されています。また、最近では、農作物の生育予測モデルを活用した水稲の収穫適期予測や、果樹等の開花日予測、病害虫に対する防除適期の予測に利用されています。</a:t>
            </a:r>
            <a:endParaRPr lang="en-US" altLang="ja-JP" dirty="0"/>
          </a:p>
          <a:p>
            <a:pPr lvl="0"/>
            <a:r>
              <a:rPr lang="ja-JP" altLang="en-US" dirty="0"/>
              <a:t>　</a:t>
            </a:r>
            <a:endParaRPr lang="en-US" altLang="ja-JP" dirty="0"/>
          </a:p>
          <a:p>
            <a:pPr lvl="0"/>
            <a:r>
              <a:rPr lang="ja-JP" altLang="en-US" dirty="0"/>
              <a:t>　これらは、従来、農作物の生育予測や病害虫発生予測モデルの入力データとして、気象の実況値と平年値が用いられてきましたが、予測期間に用いる平年値を気温予測データに置きかえた活用となります。次スライド以降で具体的な活用事例を個別にみていきます。</a:t>
            </a:r>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6</a:t>
            </a:fld>
            <a:endParaRPr lang="ja-JP" altLang="en-US"/>
          </a:p>
        </p:txBody>
      </p:sp>
      <p:sp>
        <p:nvSpPr>
          <p:cNvPr id="10" name="スライド イメージ プレースホルダー 9">
            <a:extLst>
              <a:ext uri="{FF2B5EF4-FFF2-40B4-BE49-F238E27FC236}">
                <a16:creationId xmlns:a16="http://schemas.microsoft.com/office/drawing/2014/main" id="{3A71F6FB-02A6-3075-93D5-2F072839B5A4}"/>
              </a:ext>
            </a:extLst>
          </p:cNvPr>
          <p:cNvSpPr>
            <a:spLocks noGrp="1" noRot="1" noChangeAspect="1"/>
          </p:cNvSpPr>
          <p:nvPr>
            <p:ph type="sldImg"/>
          </p:nvPr>
        </p:nvSpPr>
        <p:spPr>
          <a:xfrm>
            <a:off x="563563" y="635000"/>
            <a:ext cx="5976937" cy="4483100"/>
          </a:xfrm>
        </p:spPr>
      </p:sp>
    </p:spTree>
    <p:extLst>
      <p:ext uri="{BB962C8B-B14F-4D97-AF65-F5344CB8AC3E}">
        <p14:creationId xmlns:p14="http://schemas.microsoft.com/office/powerpoint/2010/main" val="695714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sz="1300" dirty="0"/>
              <a:t>　千葉県農林総合研究センターでは、水稲の出穂期・作業適期を予測する、水稲生育予測システム「でるた」も提供しています。「でるた」は</a:t>
            </a:r>
            <a:r>
              <a:rPr lang="ja-JP" altLang="en-US" dirty="0"/>
              <a:t>「水稲出穂期 予測モデル」をクラウドシステム化し、推奨される水稲の作業適期の目安をスマートフォンで閲覧が可能なアプリケーションです。</a:t>
            </a:r>
            <a:endParaRPr lang="en-US" altLang="ja-JP" dirty="0"/>
          </a:p>
          <a:p>
            <a:endParaRPr lang="en-US" altLang="ja-JP" sz="1300" dirty="0"/>
          </a:p>
          <a:p>
            <a:r>
              <a:rPr lang="ja-JP" altLang="en-US" dirty="0"/>
              <a:t>　「でるた」では、移植日以降の日平均気温等を基に品種ごとの「出穂期予測モデル」を使用し、日平均気温はアクセスした日の前日までは当年のアメダスデータ、アクセスした日以降から</a:t>
            </a:r>
            <a:r>
              <a:rPr lang="en-US" altLang="ja-JP" dirty="0"/>
              <a:t>13</a:t>
            </a:r>
            <a:r>
              <a:rPr lang="ja-JP" altLang="en-US" dirty="0"/>
              <a:t>日先までは２週間予報の気温予測値、</a:t>
            </a:r>
            <a:r>
              <a:rPr lang="en-US" altLang="ja-JP" dirty="0"/>
              <a:t>14</a:t>
            </a:r>
            <a:r>
              <a:rPr lang="ja-JP" altLang="en-US" dirty="0"/>
              <a:t>日先以降は過去</a:t>
            </a:r>
            <a:r>
              <a:rPr lang="en-US" altLang="ja-JP" dirty="0"/>
              <a:t>10</a:t>
            </a:r>
            <a:r>
              <a:rPr lang="ja-JP" altLang="en-US" dirty="0"/>
              <a:t>年間のアメダスデータの平均値を使って予測します。なお、本システムで予測できる品種は「ふさおとめ」、「ふさこがね」、「コシヒカリ」、「粒すけ」、「アキヒカリ」、「夢あおば」の計６品種です。</a:t>
            </a:r>
            <a:endParaRPr lang="en-US" altLang="ja-JP" dirty="0"/>
          </a:p>
          <a:p>
            <a:endParaRPr lang="en-US" altLang="ja-JP"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dirty="0"/>
              <a:t>水稲生育予測システム 「でるた™」 利用マニュアル</a:t>
            </a:r>
            <a:r>
              <a:rPr lang="ja-JP" altLang="en-US" sz="1400" dirty="0">
                <a:sym typeface="Wingdings" panose="05000000000000000000" pitchFamily="2" charset="2"/>
              </a:rPr>
              <a:t>（</a:t>
            </a:r>
            <a:r>
              <a:rPr kumimoji="1" lang="en-US" altLang="ja-JP"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https://www.pref.chiba.lg.jp/ninaite/system/documents/deltausermanual.pdf</a:t>
            </a:r>
            <a:r>
              <a:rPr lang="ja-JP" altLang="en-US" sz="1400" dirty="0"/>
              <a:t>）から引用</a:t>
            </a:r>
            <a:endParaRPr lang="en-US" altLang="ja-JP" sz="1400" dirty="0"/>
          </a:p>
          <a:p>
            <a:endParaRPr lang="en-US" altLang="ja-JP" sz="1300" dirty="0"/>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7</a:t>
            </a:fld>
            <a:endParaRPr lang="ja-JP" altLang="en-US"/>
          </a:p>
        </p:txBody>
      </p:sp>
      <p:sp>
        <p:nvSpPr>
          <p:cNvPr id="7" name="スライド イメージ プレースホルダー 6">
            <a:extLst>
              <a:ext uri="{FF2B5EF4-FFF2-40B4-BE49-F238E27FC236}">
                <a16:creationId xmlns:a16="http://schemas.microsoft.com/office/drawing/2014/main" id="{D4AC79FB-C99F-FF84-1B8F-8711DEC9B7F3}"/>
              </a:ext>
            </a:extLst>
          </p:cNvPr>
          <p:cNvSpPr>
            <a:spLocks noGrp="1" noRot="1" noChangeAspect="1"/>
          </p:cNvSpPr>
          <p:nvPr>
            <p:ph type="sldImg"/>
          </p:nvPr>
        </p:nvSpPr>
        <p:spPr>
          <a:xfrm>
            <a:off x="563563" y="635000"/>
            <a:ext cx="5976937" cy="4483100"/>
          </a:xfrm>
        </p:spPr>
      </p:sp>
    </p:spTree>
    <p:extLst>
      <p:ext uri="{BB962C8B-B14F-4D97-AF65-F5344CB8AC3E}">
        <p14:creationId xmlns:p14="http://schemas.microsoft.com/office/powerpoint/2010/main" val="3409401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dirty="0"/>
              <a:t>　改善された予測手法を用いた実際の農業気象情報での活用例です。山形県では、「おきたま米作り情報」の中で活用されました。実況・予測値データから作成した、銘柄ごとの刈り取り時期の目安を示しています。</a:t>
            </a:r>
            <a:endParaRPr lang="en-US" altLang="ja-JP" dirty="0"/>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8</a:t>
            </a:fld>
            <a:endParaRPr lang="ja-JP" altLang="en-US"/>
          </a:p>
        </p:txBody>
      </p:sp>
      <p:sp>
        <p:nvSpPr>
          <p:cNvPr id="9" name="スライド イメージ プレースホルダー 8">
            <a:extLst>
              <a:ext uri="{FF2B5EF4-FFF2-40B4-BE49-F238E27FC236}">
                <a16:creationId xmlns:a16="http://schemas.microsoft.com/office/drawing/2014/main" id="{1D12D2B3-3B17-4337-1773-78C3487CDBDC}"/>
              </a:ext>
            </a:extLst>
          </p:cNvPr>
          <p:cNvSpPr>
            <a:spLocks noGrp="1" noRot="1" noChangeAspect="1"/>
          </p:cNvSpPr>
          <p:nvPr>
            <p:ph type="sldImg"/>
          </p:nvPr>
        </p:nvSpPr>
        <p:spPr>
          <a:xfrm>
            <a:off x="563563" y="635000"/>
            <a:ext cx="5976937" cy="4483100"/>
          </a:xfrm>
        </p:spPr>
      </p:sp>
    </p:spTree>
    <p:extLst>
      <p:ext uri="{BB962C8B-B14F-4D97-AF65-F5344CB8AC3E}">
        <p14:creationId xmlns:p14="http://schemas.microsoft.com/office/powerpoint/2010/main" val="2281822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dirty="0"/>
              <a:t>　新潟県長岡農業普及センターの技術情報でも、気温予測データを用いた収穫適期のめやすが掲載されています。さらに、出穂期ごとに計算された収穫適期の一覧表も発行されています。</a:t>
            </a:r>
            <a:endParaRPr lang="en-US" altLang="ja-JP" dirty="0"/>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9</a:t>
            </a:fld>
            <a:endParaRPr lang="ja-JP" altLang="en-US"/>
          </a:p>
        </p:txBody>
      </p:sp>
      <p:sp>
        <p:nvSpPr>
          <p:cNvPr id="10" name="スライド イメージ プレースホルダー 9">
            <a:extLst>
              <a:ext uri="{FF2B5EF4-FFF2-40B4-BE49-F238E27FC236}">
                <a16:creationId xmlns:a16="http://schemas.microsoft.com/office/drawing/2014/main" id="{73AA2D09-811D-A94D-B358-C6007604688D}"/>
              </a:ext>
            </a:extLst>
          </p:cNvPr>
          <p:cNvSpPr>
            <a:spLocks noGrp="1" noRot="1" noChangeAspect="1"/>
          </p:cNvSpPr>
          <p:nvPr>
            <p:ph type="sldImg"/>
          </p:nvPr>
        </p:nvSpPr>
        <p:spPr>
          <a:xfrm>
            <a:off x="563563" y="635000"/>
            <a:ext cx="5976937" cy="4483100"/>
          </a:xfrm>
        </p:spPr>
      </p:sp>
    </p:spTree>
    <p:extLst>
      <p:ext uri="{BB962C8B-B14F-4D97-AF65-F5344CB8AC3E}">
        <p14:creationId xmlns:p14="http://schemas.microsoft.com/office/powerpoint/2010/main" val="21954214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pPr lvl="0"/>
            <a:r>
              <a:rPr lang="ja-JP" altLang="en-US" dirty="0"/>
              <a:t>　香川県農業経営課支援センターでは、収穫適期予想を掲載したものを発行し、</a:t>
            </a:r>
            <a:r>
              <a:rPr lang="ja-JP" altLang="ja-JP" dirty="0"/>
              <a:t>農協や販売店などへ提供</a:t>
            </a:r>
            <a:r>
              <a:rPr lang="ja-JP" altLang="en-US" dirty="0"/>
              <a:t>しています</a:t>
            </a:r>
            <a:r>
              <a:rPr lang="ja-JP" altLang="ja-JP" dirty="0"/>
              <a:t>。</a:t>
            </a:r>
            <a:endParaRPr lang="en-US" altLang="ja-JP" dirty="0"/>
          </a:p>
          <a:p>
            <a:pPr lvl="0"/>
            <a:endParaRPr lang="en-US" altLang="ja-JP" dirty="0"/>
          </a:p>
          <a:p>
            <a:pPr lvl="0"/>
            <a:r>
              <a:rPr lang="ja-JP" altLang="en-US" dirty="0"/>
              <a:t>　以下は農業担当者のコメントです。</a:t>
            </a:r>
            <a:endParaRPr lang="en-US" altLang="ja-JP" dirty="0"/>
          </a:p>
          <a:p>
            <a:pPr lvl="0"/>
            <a:endParaRPr lang="en-US" altLang="ja-JP" dirty="0"/>
          </a:p>
          <a:p>
            <a:pPr lvl="0"/>
            <a:r>
              <a:rPr lang="ja-JP" altLang="en-US" dirty="0"/>
              <a:t>　米生産において適期に収穫することは、特に玄米品質を確保するために必須であり、収穫が遅れると、茶米の発生等による検査等級の低下を招き、生産者の収入減となるだけでなく、地域的な品質低下が産地全体の評価の低下に結びつきかねない。品質低下を避けるためには、刈取適期を推定することにより、計画的に収穫作業をすることが重要である。</a:t>
            </a:r>
          </a:p>
          <a:p>
            <a:pPr lvl="0"/>
            <a:r>
              <a:rPr lang="ja-JP" altLang="en-US" dirty="0"/>
              <a:t>　特に水稲作付面積が大きい経営体では、天候による収穫可能日数をふまえて収穫開始時期から終了時期までを適期内で作業することが必要となるため、収穫開始期を的確に捉えることが重要となる。</a:t>
            </a:r>
          </a:p>
          <a:p>
            <a:pPr lvl="0"/>
            <a:r>
              <a:rPr lang="ja-JP" altLang="en-US" dirty="0"/>
              <a:t>　近年は</a:t>
            </a:r>
            <a:r>
              <a:rPr lang="en-US" altLang="ja-JP" dirty="0"/>
              <a:t>9</a:t>
            </a:r>
            <a:r>
              <a:rPr lang="ja-JP" altLang="en-US" dirty="0"/>
              <a:t>月でも異常高温となるような年次がみられるようになり、平年値を用いた予測では実際の刈取適期より遅れることが懸念される。</a:t>
            </a:r>
            <a:r>
              <a:rPr lang="en-US" altLang="ja-JP" dirty="0"/>
              <a:t>2</a:t>
            </a:r>
            <a:r>
              <a:rPr lang="ja-JP" altLang="en-US" dirty="0"/>
              <a:t>週間前に刈取始めの時期がわかれば、逆算して水管理が可能となり、作業計画も立てやすくなる。</a:t>
            </a:r>
          </a:p>
          <a:p>
            <a:pPr lvl="0"/>
            <a:r>
              <a:rPr lang="ja-JP" altLang="en-US" dirty="0"/>
              <a:t>　共同乾燥調製施設では、施設の準備や雇用等を計画的に実施でき、施設運営にとって経営的に有効であるだけでなく、地域の適期刈取りを推進する上での効果も期待できる。</a:t>
            </a:r>
          </a:p>
          <a:p>
            <a:pPr lvl="0"/>
            <a:r>
              <a:rPr lang="ja-JP" altLang="en-US" dirty="0"/>
              <a:t>　さらに、指導機関等が適期刈取を推進するための情報提供も効果的に実施できる。</a:t>
            </a:r>
            <a:endParaRPr lang="en-US" altLang="ja-JP" dirty="0"/>
          </a:p>
          <a:p>
            <a:pPr lvl="0"/>
            <a:endParaRPr lang="en-US" altLang="ja-JP" dirty="0"/>
          </a:p>
          <a:p>
            <a:pPr lvl="0"/>
            <a:r>
              <a:rPr lang="ja-JP" altLang="en-US" dirty="0"/>
              <a:t>上記の内容は、横山克至 </a:t>
            </a:r>
            <a:r>
              <a:rPr lang="en-US" altLang="ja-JP" dirty="0"/>
              <a:t>2014: </a:t>
            </a:r>
            <a:r>
              <a:rPr lang="ja-JP" altLang="en-US" dirty="0"/>
              <a:t>気象確率予測資料を用いた水稲刈取適期の予測</a:t>
            </a:r>
            <a:r>
              <a:rPr lang="en-US" altLang="ja-JP" dirty="0"/>
              <a:t>. </a:t>
            </a:r>
            <a:r>
              <a:rPr lang="ja-JP" altLang="en-US" dirty="0"/>
              <a:t>東北の農業気象</a:t>
            </a:r>
            <a:r>
              <a:rPr lang="en-US" altLang="ja-JP" dirty="0"/>
              <a:t>, 58, 1-6. </a:t>
            </a:r>
            <a:r>
              <a:rPr lang="ja-JP" altLang="en-US" dirty="0"/>
              <a:t>を参考にしました。</a:t>
            </a:r>
            <a:endParaRPr lang="ja-JP" altLang="ja-JP" dirty="0"/>
          </a:p>
          <a:p>
            <a:endParaRPr lang="ja-JP" altLang="en-US" dirty="0"/>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10</a:t>
            </a:fld>
            <a:endParaRPr lang="ja-JP" altLang="en-US"/>
          </a:p>
        </p:txBody>
      </p:sp>
      <p:sp>
        <p:nvSpPr>
          <p:cNvPr id="10" name="スライド イメージ プレースホルダー 9">
            <a:extLst>
              <a:ext uri="{FF2B5EF4-FFF2-40B4-BE49-F238E27FC236}">
                <a16:creationId xmlns:a16="http://schemas.microsoft.com/office/drawing/2014/main" id="{0BDC0CD1-0D36-C0B2-0415-7D3AB2522268}"/>
              </a:ext>
            </a:extLst>
          </p:cNvPr>
          <p:cNvSpPr>
            <a:spLocks noGrp="1" noRot="1" noChangeAspect="1"/>
          </p:cNvSpPr>
          <p:nvPr>
            <p:ph type="sldImg"/>
          </p:nvPr>
        </p:nvSpPr>
        <p:spPr>
          <a:xfrm>
            <a:off x="563563" y="635000"/>
            <a:ext cx="5976937" cy="4483100"/>
          </a:xfrm>
        </p:spPr>
      </p:sp>
    </p:spTree>
    <p:extLst>
      <p:ext uri="{BB962C8B-B14F-4D97-AF65-F5344CB8AC3E}">
        <p14:creationId xmlns:p14="http://schemas.microsoft.com/office/powerpoint/2010/main" val="2072797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pPr lvl="0"/>
            <a:r>
              <a:rPr lang="ja-JP" altLang="en-US" sz="1100" dirty="0"/>
              <a:t>　千葉県農林総合研究センターでは、日本ナシ「幸水」と「豊水」の開花予測システムを提供しています。開花予測システムでは、</a:t>
            </a:r>
            <a:r>
              <a:rPr lang="en-US" altLang="ja-JP" sz="1100" dirty="0"/>
              <a:t>2</a:t>
            </a:r>
            <a:r>
              <a:rPr lang="ja-JP" altLang="en-US" sz="1100" dirty="0"/>
              <a:t>週間気温予報の予測値が使用されています。</a:t>
            </a:r>
            <a:endParaRPr lang="en-US" altLang="ja-JP" sz="1100" dirty="0"/>
          </a:p>
          <a:p>
            <a:pPr lvl="0"/>
            <a:r>
              <a:rPr lang="ja-JP" altLang="en-US" sz="1100" dirty="0"/>
              <a:t>　</a:t>
            </a:r>
            <a:endParaRPr lang="en-US" altLang="ja-JP" sz="1100" dirty="0"/>
          </a:p>
          <a:p>
            <a:pPr lvl="0"/>
            <a:r>
              <a:rPr lang="ja-JP" altLang="en-US" sz="1100" dirty="0"/>
              <a:t>　１時間毎のアメダス気温データ、品種・地区毎の係数を基に、「ニホンナシの生育予測モデル」を使用し、気温はアクセスした日の前日までは当年のアメダスデータ、アクセスした日以降は最新の２週間気温予報と過去のアメダスデータの平均値を使って予測します。なお</a:t>
            </a:r>
            <a:r>
              <a:rPr lang="ja-JP" altLang="en-US" sz="1300" dirty="0"/>
              <a:t>「幸水」では</a:t>
            </a:r>
            <a:r>
              <a:rPr lang="en-US" altLang="ja-JP" sz="1300" dirty="0"/>
              <a:t>9</a:t>
            </a:r>
            <a:r>
              <a:rPr lang="ja-JP" altLang="en-US" sz="1300" dirty="0"/>
              <a:t>地点（千葉市、印西市、市川市、市原市、木更津市、一宮町、柏市、いすみ市、香取市）、「豊水」では</a:t>
            </a:r>
            <a:r>
              <a:rPr lang="en-US" altLang="ja-JP" sz="1300" dirty="0"/>
              <a:t>5</a:t>
            </a:r>
            <a:r>
              <a:rPr lang="ja-JP" altLang="en-US" sz="1300" dirty="0"/>
              <a:t>地点（千葉市、四街道市、鎌ヶ谷市、八千代市、旭市）の予測結果が表示されます。</a:t>
            </a:r>
            <a:endParaRPr lang="en-US" altLang="ja-JP" sz="1300" dirty="0"/>
          </a:p>
          <a:p>
            <a:endParaRPr lang="en-US" altLang="ja-JP"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dirty="0"/>
              <a:t>ナシ開花予測システム （ウェブ運用試験版） 利用マニュアル</a:t>
            </a:r>
            <a:r>
              <a:rPr lang="ja-JP" altLang="en-US" sz="1400" dirty="0">
                <a:sym typeface="Wingdings" panose="05000000000000000000" pitchFamily="2" charset="2"/>
              </a:rPr>
              <a:t>（</a:t>
            </a:r>
            <a:r>
              <a:rPr kumimoji="1" lang="en-US" altLang="ja-JP" sz="14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https://www.pref.chiba.lg.jp/ninaite/system/documents/usermanual2025.pdf</a:t>
            </a:r>
            <a:r>
              <a:rPr lang="ja-JP" altLang="en-US" sz="1400" dirty="0"/>
              <a:t>）から引用</a:t>
            </a:r>
            <a:endParaRPr lang="en-US" altLang="ja-JP" sz="1400" dirty="0"/>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11</a:t>
            </a:fld>
            <a:endParaRPr lang="ja-JP" altLang="en-US"/>
          </a:p>
        </p:txBody>
      </p:sp>
      <p:sp>
        <p:nvSpPr>
          <p:cNvPr id="7" name="スライド イメージ プレースホルダー 6">
            <a:extLst>
              <a:ext uri="{FF2B5EF4-FFF2-40B4-BE49-F238E27FC236}">
                <a16:creationId xmlns:a16="http://schemas.microsoft.com/office/drawing/2014/main" id="{47DE9B0E-654B-97E2-AD02-36FB900E87CC}"/>
              </a:ext>
            </a:extLst>
          </p:cNvPr>
          <p:cNvSpPr>
            <a:spLocks noGrp="1" noRot="1" noChangeAspect="1"/>
          </p:cNvSpPr>
          <p:nvPr>
            <p:ph type="sldImg"/>
          </p:nvPr>
        </p:nvSpPr>
        <p:spPr>
          <a:xfrm>
            <a:off x="563563" y="635000"/>
            <a:ext cx="5976937" cy="4483100"/>
          </a:xfrm>
        </p:spPr>
      </p:sp>
    </p:spTree>
    <p:extLst>
      <p:ext uri="{BB962C8B-B14F-4D97-AF65-F5344CB8AC3E}">
        <p14:creationId xmlns:p14="http://schemas.microsoft.com/office/powerpoint/2010/main" val="10363529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dirty="0"/>
              <a:t>　山梨県果樹試験場では、</a:t>
            </a:r>
            <a:r>
              <a:rPr lang="en-US" altLang="ja-JP" dirty="0"/>
              <a:t>2016</a:t>
            </a:r>
            <a:r>
              <a:rPr lang="ja-JP" altLang="en-US" dirty="0"/>
              <a:t>年までは、予測時点までの観測値とそれ以降の平年値を用いることで開花予想を行ってきましたが、気温予測値の有効性を確認後、</a:t>
            </a:r>
            <a:r>
              <a:rPr lang="en-US" altLang="ja-JP" dirty="0"/>
              <a:t>2017</a:t>
            </a:r>
            <a:r>
              <a:rPr lang="ja-JP" altLang="en-US" dirty="0"/>
              <a:t>年からは、平年値を用いた開花日の予測に加えて、気象庁発表の気温予測値を用いた場合の予測も併記しています。</a:t>
            </a:r>
            <a:endParaRPr lang="en-US" altLang="ja-JP" dirty="0"/>
          </a:p>
          <a:p>
            <a:endParaRPr lang="en-US" altLang="ja-JP" dirty="0"/>
          </a:p>
          <a:p>
            <a:r>
              <a:rPr lang="ja-JP" altLang="en-US" dirty="0"/>
              <a:t>　</a:t>
            </a:r>
            <a:r>
              <a:rPr lang="en-US" altLang="ja-JP" dirty="0"/>
              <a:t>2021</a:t>
            </a:r>
            <a:r>
              <a:rPr lang="ja-JP" altLang="en-US" dirty="0"/>
              <a:t>年</a:t>
            </a:r>
            <a:r>
              <a:rPr lang="en-US" altLang="ja-JP" dirty="0"/>
              <a:t>3</a:t>
            </a:r>
            <a:r>
              <a:rPr lang="ja-JP" altLang="en-US" dirty="0"/>
              <a:t>月のような極端な高温年においては、平年値を利用した場合よりモモの開花日が</a:t>
            </a:r>
            <a:r>
              <a:rPr lang="en-US" altLang="ja-JP" dirty="0"/>
              <a:t>6</a:t>
            </a:r>
            <a:r>
              <a:rPr lang="ja-JP" altLang="en-US" dirty="0"/>
              <a:t>日早まることが予測でき、早めの作業・人員配置の徹底を呼び掛けることができました。</a:t>
            </a:r>
          </a:p>
          <a:p>
            <a:endParaRPr lang="ja-JP" altLang="en-US" dirty="0"/>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12</a:t>
            </a:fld>
            <a:endParaRPr lang="ja-JP" altLang="en-US"/>
          </a:p>
        </p:txBody>
      </p:sp>
      <p:sp>
        <p:nvSpPr>
          <p:cNvPr id="7" name="スライド イメージ プレースホルダー 6">
            <a:extLst>
              <a:ext uri="{FF2B5EF4-FFF2-40B4-BE49-F238E27FC236}">
                <a16:creationId xmlns:a16="http://schemas.microsoft.com/office/drawing/2014/main" id="{9A1F2E91-A91F-B224-F761-CE3EB9A0A5FB}"/>
              </a:ext>
            </a:extLst>
          </p:cNvPr>
          <p:cNvSpPr>
            <a:spLocks noGrp="1" noRot="1" noChangeAspect="1"/>
          </p:cNvSpPr>
          <p:nvPr>
            <p:ph type="sldImg"/>
          </p:nvPr>
        </p:nvSpPr>
        <p:spPr>
          <a:xfrm>
            <a:off x="563563" y="635000"/>
            <a:ext cx="5976937" cy="4483100"/>
          </a:xfrm>
        </p:spPr>
      </p:sp>
    </p:spTree>
    <p:extLst>
      <p:ext uri="{BB962C8B-B14F-4D97-AF65-F5344CB8AC3E}">
        <p14:creationId xmlns:p14="http://schemas.microsoft.com/office/powerpoint/2010/main" val="1033895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66E80-ECCE-403B-53CD-8D5AA35E0DA1}"/>
            </a:ext>
          </a:extLst>
        </p:cNvPr>
        <p:cNvGrpSpPr/>
        <p:nvPr/>
      </p:nvGrpSpPr>
      <p:grpSpPr>
        <a:xfrm>
          <a:off x="0" y="0"/>
          <a:ext cx="0" cy="0"/>
          <a:chOff x="0" y="0"/>
          <a:chExt cx="0" cy="0"/>
        </a:xfrm>
      </p:grpSpPr>
      <p:sp>
        <p:nvSpPr>
          <p:cNvPr id="3" name="ノート プレースホルダー 2">
            <a:extLst>
              <a:ext uri="{FF2B5EF4-FFF2-40B4-BE49-F238E27FC236}">
                <a16:creationId xmlns:a16="http://schemas.microsoft.com/office/drawing/2014/main" id="{63B5B1B6-87EE-CB7B-D988-485B9077952E}"/>
              </a:ext>
            </a:extLst>
          </p:cNvPr>
          <p:cNvSpPr>
            <a:spLocks noGrp="1"/>
          </p:cNvSpPr>
          <p:nvPr>
            <p:ph type="body" idx="1"/>
          </p:nvPr>
        </p:nvSpPr>
        <p:spPr/>
        <p:txBody>
          <a:bodyPr/>
          <a:lstStyle/>
          <a:p>
            <a:r>
              <a:rPr lang="ja-JP" altLang="en-US" dirty="0"/>
              <a:t>　サトウキビに被害をもたらすカンシャコバネナガカメムシの防除時期の予測に気温予測値を用い、より効果的な防除を促している事例について紹介します。</a:t>
            </a:r>
            <a:endParaRPr lang="en-US" altLang="ja-JP" dirty="0"/>
          </a:p>
          <a:p>
            <a:endParaRPr lang="en-US" altLang="ja-JP" dirty="0"/>
          </a:p>
          <a:p>
            <a:r>
              <a:rPr lang="ja-JP" altLang="en-US" dirty="0"/>
              <a:t>　「気温予測値を用いた病害虫防除適期予測の精度検証」（萱場ほか</a:t>
            </a:r>
            <a:r>
              <a:rPr lang="en-US" altLang="ja-JP" dirty="0"/>
              <a:t>, 2019</a:t>
            </a:r>
            <a:r>
              <a:rPr lang="ja-JP" altLang="en-US" dirty="0"/>
              <a:t>）では、</a:t>
            </a:r>
            <a:r>
              <a:rPr lang="en-US" altLang="ja-JP" dirty="0"/>
              <a:t>1981</a:t>
            </a:r>
            <a:r>
              <a:rPr lang="ja-JP" altLang="en-US" dirty="0"/>
              <a:t>～</a:t>
            </a:r>
            <a:r>
              <a:rPr lang="en-US" altLang="ja-JP" dirty="0"/>
              <a:t>2017</a:t>
            </a:r>
            <a:r>
              <a:rPr lang="ja-JP" altLang="en-US" dirty="0"/>
              <a:t>年を対象としたシミュレーションにより、平年値の代わりに気温予測値を用いるメリットを評価しました。その結果、予測値を活用することで防除時期の予測精度が向上し、極端な高温年（例えば</a:t>
            </a:r>
            <a:r>
              <a:rPr lang="en-US" altLang="ja-JP" dirty="0"/>
              <a:t>1998</a:t>
            </a:r>
            <a:r>
              <a:rPr lang="ja-JP" altLang="en-US" dirty="0"/>
              <a:t>年）は１か月前の時点で</a:t>
            </a:r>
            <a:r>
              <a:rPr lang="en-US" altLang="ja-JP" dirty="0"/>
              <a:t>3</a:t>
            </a:r>
            <a:r>
              <a:rPr lang="ja-JP" altLang="en-US" dirty="0"/>
              <a:t>日程度改善することがわかりました。このような天候が平年から大きく異なる場合に防除適期が適切に予測できることは、気温予測値を用いるメリットであり、地球温暖化による近年の傾向に有効であると考えられます。</a:t>
            </a:r>
            <a:endParaRPr lang="en-US" altLang="ja-JP" dirty="0"/>
          </a:p>
          <a:p>
            <a:pPr lvl="0"/>
            <a:endParaRPr lang="en-US" altLang="ja-JP" dirty="0"/>
          </a:p>
          <a:p>
            <a:pPr lvl="0"/>
            <a:r>
              <a:rPr lang="ja-JP" altLang="en-US" dirty="0"/>
              <a:t>　本調査も踏まえ、沖縄県で</a:t>
            </a:r>
            <a:r>
              <a:rPr lang="en-US" altLang="ja-JP" dirty="0"/>
              <a:t>3</a:t>
            </a:r>
            <a:r>
              <a:rPr lang="ja-JP" altLang="en-US" dirty="0"/>
              <a:t>月下旬頃に実施するカンシャコバネナガカメムシの防除適期予測にも、気温予測値を用いる手法が活用され、情報提供が実施されています。これにより、生産者によるより効果的な薬剤散布の実施と適切な防除計画の策定が期待されます。</a:t>
            </a:r>
            <a:endParaRPr lang="en-US" altLang="ja-JP" dirty="0"/>
          </a:p>
          <a:p>
            <a:endParaRPr lang="en-US" altLang="ja-JP" dirty="0"/>
          </a:p>
          <a:p>
            <a:r>
              <a:rPr lang="ja-JP" altLang="en-US" dirty="0"/>
              <a:t>参考文献：気温予測値を用いた病害虫防除適期予測の精度検証　～カンシャコバネナガカメムシにおける精度検証～　萱場亙起ほか</a:t>
            </a:r>
            <a:r>
              <a:rPr lang="en-US" altLang="ja-JP" dirty="0"/>
              <a:t>, 2019 : </a:t>
            </a:r>
            <a:r>
              <a:rPr lang="ja-JP" altLang="en-US" dirty="0"/>
              <a:t>植物防疫</a:t>
            </a:r>
            <a:r>
              <a:rPr lang="en-US" altLang="ja-JP" dirty="0"/>
              <a:t>, 73, 106-113.</a:t>
            </a:r>
            <a:endParaRPr lang="ja-JP" altLang="en-US" dirty="0"/>
          </a:p>
          <a:p>
            <a:endParaRPr lang="ja-JP" altLang="en-US" dirty="0"/>
          </a:p>
        </p:txBody>
      </p:sp>
      <p:sp>
        <p:nvSpPr>
          <p:cNvPr id="4" name="スライド番号プレースホルダー 3">
            <a:extLst>
              <a:ext uri="{FF2B5EF4-FFF2-40B4-BE49-F238E27FC236}">
                <a16:creationId xmlns:a16="http://schemas.microsoft.com/office/drawing/2014/main" id="{0F66DC3D-1923-7346-C963-DD8B06FB4114}"/>
              </a:ext>
            </a:extLst>
          </p:cNvPr>
          <p:cNvSpPr>
            <a:spLocks noGrp="1"/>
          </p:cNvSpPr>
          <p:nvPr>
            <p:ph type="sldNum" sz="quarter" idx="5"/>
          </p:nvPr>
        </p:nvSpPr>
        <p:spPr/>
        <p:txBody>
          <a:bodyPr/>
          <a:lstStyle/>
          <a:p>
            <a:fld id="{981C6E68-323E-4B7F-BAAC-CC0F1FE3A822}" type="slidenum">
              <a:rPr lang="ja-JP" altLang="en-US" smtClean="0"/>
              <a:pPr/>
              <a:t>13</a:t>
            </a:fld>
            <a:endParaRPr lang="ja-JP" altLang="en-US"/>
          </a:p>
        </p:txBody>
      </p:sp>
      <p:sp>
        <p:nvSpPr>
          <p:cNvPr id="7" name="スライド イメージ プレースホルダー 6">
            <a:extLst>
              <a:ext uri="{FF2B5EF4-FFF2-40B4-BE49-F238E27FC236}">
                <a16:creationId xmlns:a16="http://schemas.microsoft.com/office/drawing/2014/main" id="{5E915045-0824-B172-3597-B25FF2E7ADA7}"/>
              </a:ext>
            </a:extLst>
          </p:cNvPr>
          <p:cNvSpPr>
            <a:spLocks noGrp="1" noRot="1" noChangeAspect="1"/>
          </p:cNvSpPr>
          <p:nvPr>
            <p:ph type="sldImg"/>
          </p:nvPr>
        </p:nvSpPr>
        <p:spPr>
          <a:xfrm>
            <a:off x="563563" y="635000"/>
            <a:ext cx="5976937" cy="4483100"/>
          </a:xfrm>
        </p:spPr>
      </p:sp>
    </p:spTree>
    <p:extLst>
      <p:ext uri="{BB962C8B-B14F-4D97-AF65-F5344CB8AC3E}">
        <p14:creationId xmlns:p14="http://schemas.microsoft.com/office/powerpoint/2010/main" val="3183817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dirty="0"/>
              <a:t>　栃木県農業総合研究センターの植物防疫ニュースでも、ヒメトビウンカが産卵最盛期を迎える時期を気温予測値を用いて計算し、防除的期予測に関する情報を提供しています。</a:t>
            </a:r>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14</a:t>
            </a:fld>
            <a:endParaRPr lang="ja-JP" altLang="en-US"/>
          </a:p>
        </p:txBody>
      </p:sp>
      <p:sp>
        <p:nvSpPr>
          <p:cNvPr id="7" name="スライド イメージ プレースホルダー 6">
            <a:extLst>
              <a:ext uri="{FF2B5EF4-FFF2-40B4-BE49-F238E27FC236}">
                <a16:creationId xmlns:a16="http://schemas.microsoft.com/office/drawing/2014/main" id="{B49AF8F9-02F2-A078-FF05-35974296321F}"/>
              </a:ext>
            </a:extLst>
          </p:cNvPr>
          <p:cNvSpPr>
            <a:spLocks noGrp="1" noRot="1" noChangeAspect="1"/>
          </p:cNvSpPr>
          <p:nvPr>
            <p:ph type="sldImg"/>
          </p:nvPr>
        </p:nvSpPr>
        <p:spPr>
          <a:xfrm>
            <a:off x="563563" y="635000"/>
            <a:ext cx="5976937" cy="4483100"/>
          </a:xfrm>
        </p:spPr>
      </p:sp>
    </p:spTree>
    <p:extLst>
      <p:ext uri="{BB962C8B-B14F-4D97-AF65-F5344CB8AC3E}">
        <p14:creationId xmlns:p14="http://schemas.microsoft.com/office/powerpoint/2010/main" val="41757090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dirty="0"/>
              <a:t>　国立研究開発法人 農業・食品産業技術総合研究機構では気温・降水量・日照時間などの要素の「メッシュ農業気象データ」を約１</a:t>
            </a:r>
            <a:r>
              <a:rPr lang="en-US" altLang="ja-JP" dirty="0"/>
              <a:t>km</a:t>
            </a:r>
            <a:r>
              <a:rPr lang="ja-JP" altLang="en-US" dirty="0"/>
              <a:t>四方の大きさの領域（基準地域メッシュ）を単位に整備しています。基礎データとして、気象庁のアメダスや数値予報モデルの</a:t>
            </a:r>
            <a:r>
              <a:rPr lang="en-US" altLang="ja-JP" dirty="0"/>
              <a:t>GPV</a:t>
            </a:r>
            <a:r>
              <a:rPr lang="ja-JP" altLang="en-US" dirty="0"/>
              <a:t>データのほか、</a:t>
            </a:r>
            <a:r>
              <a:rPr lang="en-US" altLang="ja-JP" dirty="0"/>
              <a:t>2</a:t>
            </a:r>
            <a:r>
              <a:rPr lang="ja-JP" altLang="en-US" dirty="0"/>
              <a:t>週間気温予報データ、１か月予報データも活用されています。気象庁もこれまで技術的情報の提供や予測値の精度検証などで協力を行ってきました。</a:t>
            </a:r>
            <a:endParaRPr lang="en-US" altLang="ja-JP" dirty="0"/>
          </a:p>
          <a:p>
            <a:endParaRPr lang="en-US" altLang="ja-JP" dirty="0"/>
          </a:p>
          <a:p>
            <a:r>
              <a:rPr lang="ja-JP" altLang="en-US" dirty="0"/>
              <a:t>　メッシュ農業気象データは作物の全栽培期間をカバーするので、収穫適期などを最新の気象データに基づいて予測することができます。また、過去データを使用すれば、栽培に適した作物や品種、栽培期間を検討することもできます。</a:t>
            </a:r>
            <a:endParaRPr lang="en-US" altLang="ja-JP" dirty="0"/>
          </a:p>
          <a:p>
            <a:endParaRPr lang="en-US" altLang="ja-JP" dirty="0"/>
          </a:p>
          <a:p>
            <a:r>
              <a:rPr lang="ja-JP" altLang="en-US" dirty="0"/>
              <a:t>農研機構 メッシュ農業気象データシステム</a:t>
            </a:r>
            <a:r>
              <a:rPr lang="en-US" altLang="ja-JP" dirty="0"/>
              <a:t>HP</a:t>
            </a:r>
            <a:r>
              <a:rPr lang="ja-JP" altLang="en-US" dirty="0"/>
              <a:t>：</a:t>
            </a:r>
            <a:r>
              <a:rPr lang="en-US" altLang="ja-JP" dirty="0">
                <a:hlinkClick r:id="rId3"/>
              </a:rPr>
              <a:t>https://amu.rd.naro.go.jp</a:t>
            </a:r>
            <a:endParaRPr lang="en-US" altLang="ja-JP" dirty="0"/>
          </a:p>
          <a:p>
            <a:r>
              <a:rPr lang="ja-JP" altLang="en-US" dirty="0"/>
              <a:t>メッシュ農業気象データ利用マニュアル：</a:t>
            </a:r>
            <a:r>
              <a:rPr lang="en-US" altLang="ja-JP" dirty="0"/>
              <a:t> </a:t>
            </a:r>
            <a:r>
              <a:rPr lang="en-US" altLang="ja-JP" sz="900" dirty="0">
                <a:hlinkClick r:id="rId4"/>
              </a:rPr>
              <a:t>https://www.naro.go.jp/publicity_report/publication/files/3f7c9bb6537fe89b7cb9de5122c7b59c_1.pdf</a:t>
            </a:r>
            <a:endParaRPr lang="en-US" altLang="ja-JP" sz="900" dirty="0"/>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15</a:t>
            </a:fld>
            <a:endParaRPr lang="ja-JP" altLang="en-US" dirty="0"/>
          </a:p>
        </p:txBody>
      </p:sp>
      <p:sp>
        <p:nvSpPr>
          <p:cNvPr id="9" name="スライド イメージ プレースホルダー 8">
            <a:extLst>
              <a:ext uri="{FF2B5EF4-FFF2-40B4-BE49-F238E27FC236}">
                <a16:creationId xmlns:a16="http://schemas.microsoft.com/office/drawing/2014/main" id="{60FD38EF-8BF6-4732-4F2C-606FF91CD2C1}"/>
              </a:ext>
            </a:extLst>
          </p:cNvPr>
          <p:cNvSpPr>
            <a:spLocks noGrp="1" noRot="1" noChangeAspect="1"/>
          </p:cNvSpPr>
          <p:nvPr>
            <p:ph type="sldImg"/>
          </p:nvPr>
        </p:nvSpPr>
        <p:spPr>
          <a:xfrm>
            <a:off x="563563" y="635000"/>
            <a:ext cx="5976937" cy="4483100"/>
          </a:xfrm>
        </p:spPr>
      </p:sp>
    </p:spTree>
    <p:extLst>
      <p:ext uri="{BB962C8B-B14F-4D97-AF65-F5344CB8AC3E}">
        <p14:creationId xmlns:p14="http://schemas.microsoft.com/office/powerpoint/2010/main" val="9513432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3563" y="635000"/>
            <a:ext cx="5976937" cy="4483100"/>
          </a:xfrm>
        </p:spPr>
      </p:sp>
      <p:sp>
        <p:nvSpPr>
          <p:cNvPr id="3" name="ノート プレースホルダー 2"/>
          <p:cNvSpPr>
            <a:spLocks noGrp="1"/>
          </p:cNvSpPr>
          <p:nvPr>
            <p:ph type="body" idx="1"/>
          </p:nvPr>
        </p:nvSpPr>
        <p:spPr/>
        <p:txBody>
          <a:bodyPr/>
          <a:lstStyle/>
          <a:p>
            <a:pPr defTabSz="954908">
              <a:defRPr/>
            </a:pPr>
            <a:r>
              <a:rPr kumimoji="1" lang="ja-JP" altLang="en-US" dirty="0">
                <a:latin typeface="+mn-ea"/>
              </a:rPr>
              <a:t>　気候リスク管理を行うために必要となる、</a:t>
            </a:r>
            <a:r>
              <a:rPr lang="ja-JP" altLang="en-US" b="0" i="0" u="none" strike="noStrike" baseline="0" dirty="0">
                <a:solidFill>
                  <a:srgbClr val="000000"/>
                </a:solidFill>
                <a:latin typeface="+mn-ea"/>
              </a:rPr>
              <a:t>気象に関する過去のデータや、気温予測データを気象庁ホームページから</a:t>
            </a:r>
            <a:r>
              <a:rPr kumimoji="1" lang="ja-JP" altLang="en-US" dirty="0">
                <a:latin typeface="+mn-ea"/>
              </a:rPr>
              <a:t>取得する方法について紹介します。</a:t>
            </a:r>
            <a:endParaRPr kumimoji="1" lang="en-US" altLang="ja-JP" dirty="0">
              <a:latin typeface="+mn-ea"/>
            </a:endParaRPr>
          </a:p>
          <a:p>
            <a:endParaRPr kumimoji="1" lang="ja-JP" altLang="en-US" dirty="0"/>
          </a:p>
        </p:txBody>
      </p:sp>
      <p:sp>
        <p:nvSpPr>
          <p:cNvPr id="4" name="スライド番号プレースホルダー 3"/>
          <p:cNvSpPr>
            <a:spLocks noGrp="1"/>
          </p:cNvSpPr>
          <p:nvPr>
            <p:ph type="sldNum" sz="quarter" idx="10"/>
          </p:nvPr>
        </p:nvSpPr>
        <p:spPr/>
        <p:txBody>
          <a:bodyPr/>
          <a:lstStyle/>
          <a:p>
            <a:fld id="{3617F24F-670C-40F7-AD9F-223EA85139BD}" type="slidenum">
              <a:rPr kumimoji="1" lang="ja-JP" altLang="en-US" smtClean="0"/>
              <a:t>16</a:t>
            </a:fld>
            <a:endParaRPr kumimoji="1" lang="ja-JP" altLang="en-US"/>
          </a:p>
        </p:txBody>
      </p:sp>
    </p:spTree>
    <p:extLst>
      <p:ext uri="{BB962C8B-B14F-4D97-AF65-F5344CB8AC3E}">
        <p14:creationId xmlns:p14="http://schemas.microsoft.com/office/powerpoint/2010/main" val="15096331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pPr lvl="0"/>
            <a:r>
              <a:rPr lang="ja-JP" altLang="en-US" dirty="0"/>
              <a:t>　気象庁では、季節予報をはじめとする気候情報の有効な活用方法の検討を進めています。 この取り組みのひとつとして、気温予測情報を利活用する「気候リスク管理」技術を普及させるための取り組みを推進しています。</a:t>
            </a:r>
            <a:endParaRPr lang="en-US" altLang="ja-JP" dirty="0"/>
          </a:p>
          <a:p>
            <a:pPr lvl="0"/>
            <a:endParaRPr lang="en-US" altLang="ja-JP" dirty="0"/>
          </a:p>
          <a:p>
            <a:pPr lvl="0"/>
            <a:r>
              <a:rPr lang="ja-JP" altLang="en-US" dirty="0"/>
              <a:t>　気象庁ホームページの「気象情報を活用して気候の影響を軽減してみませんか？」 ページでは、気温予測情報を活用するためのツール、実例などを紹介しています。観測値や統計値などの過去の気象データを取得するページへのリンク、気温予測値を取得するページへのリンク、農研機構など様々な団体と共同で調査した気候リスク管理の報告ページへのリンク、気候リスクの評価や対応の実例ページのリンクがあります。</a:t>
            </a:r>
            <a:endParaRPr lang="en-US" altLang="ja-JP" dirty="0"/>
          </a:p>
          <a:p>
            <a:pPr lvl="0"/>
            <a:endParaRPr lang="en-US" altLang="ja-JP" dirty="0"/>
          </a:p>
          <a:p>
            <a:pPr lvl="0"/>
            <a:r>
              <a:rPr lang="ja-JP" altLang="en-US" dirty="0"/>
              <a:t>　次スライド以降では、過去の気象データと気温予測値を取得するページについて紹介します。</a:t>
            </a:r>
            <a:endParaRPr lang="en-US" altLang="ja-JP" dirty="0"/>
          </a:p>
          <a:p>
            <a:endParaRPr lang="ja-JP" altLang="en-US" dirty="0"/>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17</a:t>
            </a:fld>
            <a:endParaRPr lang="ja-JP" altLang="en-US"/>
          </a:p>
        </p:txBody>
      </p:sp>
      <p:sp>
        <p:nvSpPr>
          <p:cNvPr id="7" name="スライド イメージ プレースホルダー 6">
            <a:extLst>
              <a:ext uri="{FF2B5EF4-FFF2-40B4-BE49-F238E27FC236}">
                <a16:creationId xmlns:a16="http://schemas.microsoft.com/office/drawing/2014/main" id="{D62F5B94-DD87-F417-56BD-3CF4353C7C1A}"/>
              </a:ext>
            </a:extLst>
          </p:cNvPr>
          <p:cNvSpPr>
            <a:spLocks noGrp="1" noRot="1" noChangeAspect="1"/>
          </p:cNvSpPr>
          <p:nvPr>
            <p:ph type="sldImg"/>
          </p:nvPr>
        </p:nvSpPr>
        <p:spPr>
          <a:xfrm>
            <a:off x="563563" y="635000"/>
            <a:ext cx="5976937" cy="4483100"/>
          </a:xfrm>
        </p:spPr>
      </p:sp>
    </p:spTree>
    <p:extLst>
      <p:ext uri="{BB962C8B-B14F-4D97-AF65-F5344CB8AC3E}">
        <p14:creationId xmlns:p14="http://schemas.microsoft.com/office/powerpoint/2010/main" val="12465950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pPr lvl="0"/>
            <a:r>
              <a:rPr lang="ja-JP" altLang="en-US" dirty="0"/>
              <a:t>　「過去の気象データ・ダウンロード」では、複数地点および任意期間の過去データを抽出し、データを画面に表示することや、</a:t>
            </a:r>
            <a:r>
              <a:rPr lang="en-US" altLang="ja-JP" dirty="0"/>
              <a:t>CSV</a:t>
            </a:r>
            <a:r>
              <a:rPr lang="ja-JP" altLang="en-US" dirty="0"/>
              <a:t>ファイルとしてダウンロードすることができます。</a:t>
            </a:r>
            <a:endParaRPr lang="en-US" altLang="ja-JP" dirty="0"/>
          </a:p>
          <a:p>
            <a:pPr lvl="0"/>
            <a:endParaRPr lang="en-US" altLang="ja-JP" dirty="0"/>
          </a:p>
          <a:p>
            <a:pPr lvl="0"/>
            <a:r>
              <a:rPr lang="ja-JP" altLang="en-US" dirty="0"/>
              <a:t>　観測要素は、気温・降水・日照・積雪・風・湿度・気圧・天気などです。</a:t>
            </a:r>
            <a:endParaRPr lang="en-US" altLang="ja-JP" dirty="0"/>
          </a:p>
          <a:p>
            <a:pPr lvl="0"/>
            <a:endParaRPr lang="en-US" altLang="ja-JP" dirty="0"/>
          </a:p>
          <a:p>
            <a:pPr lvl="0"/>
            <a:r>
              <a:rPr lang="ja-JP" altLang="en-US" dirty="0"/>
              <a:t>　数日間の平均・合計値などを集計して、その値を平年値や最近の数年間の平均値と比較することができ、異常気象であった年と平年との気候の隔たりや特徴を調べるなど、さまざまな使い方があります。</a:t>
            </a:r>
            <a:endParaRPr lang="en-US" altLang="ja-JP" dirty="0"/>
          </a:p>
          <a:p>
            <a:pPr lvl="0"/>
            <a:endParaRPr lang="en-US" altLang="ja-JP" dirty="0"/>
          </a:p>
          <a:p>
            <a:pPr lvl="0"/>
            <a:r>
              <a:rPr lang="ja-JP" altLang="en-US" dirty="0"/>
              <a:t>　利用のための解説ページを用意しており、ページ上部のリンクから参照できます。</a:t>
            </a:r>
            <a:endParaRPr lang="en-US" altLang="ja-JP" dirty="0"/>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18</a:t>
            </a:fld>
            <a:endParaRPr lang="ja-JP" altLang="en-US"/>
          </a:p>
        </p:txBody>
      </p:sp>
      <p:sp>
        <p:nvSpPr>
          <p:cNvPr id="7" name="スライド イメージ プレースホルダー 6">
            <a:extLst>
              <a:ext uri="{FF2B5EF4-FFF2-40B4-BE49-F238E27FC236}">
                <a16:creationId xmlns:a16="http://schemas.microsoft.com/office/drawing/2014/main" id="{D15763BF-47B6-527C-D407-6349D7CFE93A}"/>
              </a:ext>
            </a:extLst>
          </p:cNvPr>
          <p:cNvSpPr>
            <a:spLocks noGrp="1" noRot="1" noChangeAspect="1"/>
          </p:cNvSpPr>
          <p:nvPr>
            <p:ph type="sldImg"/>
          </p:nvPr>
        </p:nvSpPr>
        <p:spPr>
          <a:xfrm>
            <a:off x="563563" y="635000"/>
            <a:ext cx="5976937" cy="4483100"/>
          </a:xfrm>
        </p:spPr>
      </p:sp>
    </p:spTree>
    <p:extLst>
      <p:ext uri="{BB962C8B-B14F-4D97-AF65-F5344CB8AC3E}">
        <p14:creationId xmlns:p14="http://schemas.microsoft.com/office/powerpoint/2010/main" val="11839937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dirty="0"/>
              <a:t>　「向こう２週間・１か月の予測資料」では、 </a:t>
            </a:r>
            <a:r>
              <a:rPr lang="en-US" altLang="ja-JP" dirty="0"/>
              <a:t>2 </a:t>
            </a:r>
            <a:r>
              <a:rPr lang="ja-JP" altLang="en-US" dirty="0"/>
              <a:t>週間気温予報と </a:t>
            </a:r>
            <a:r>
              <a:rPr lang="en-US" altLang="ja-JP" dirty="0"/>
              <a:t>1 </a:t>
            </a:r>
            <a:r>
              <a:rPr lang="ja-JP" altLang="en-US" dirty="0"/>
              <a:t>か月予報のそれぞれの期間について、確率予測資料の取得やグラフ表示が可能です。</a:t>
            </a:r>
            <a:endParaRPr lang="en-US" altLang="ja-JP" dirty="0"/>
          </a:p>
          <a:p>
            <a:endParaRPr lang="en-US" altLang="ja-JP" dirty="0"/>
          </a:p>
          <a:p>
            <a:r>
              <a:rPr lang="ja-JP" altLang="en-US" dirty="0"/>
              <a:t>　確率予測資料は、エクセルなどの表計算ソフトやプログラム言語で確認・分析しやすいように、</a:t>
            </a:r>
            <a:r>
              <a:rPr lang="en-US" altLang="ja-JP" dirty="0"/>
              <a:t>CSV</a:t>
            </a:r>
            <a:r>
              <a:rPr lang="ja-JP" altLang="en-US" dirty="0"/>
              <a:t>形式で提供しています。また、分析の参考になるよう、データの内容を可視化するサンプルツール（</a:t>
            </a:r>
            <a:r>
              <a:rPr lang="en-US" altLang="ja-JP" dirty="0"/>
              <a:t>Excel</a:t>
            </a:r>
            <a:r>
              <a:rPr lang="ja-JP" altLang="en-US" dirty="0"/>
              <a:t>ファイル）の提供も行っています。</a:t>
            </a:r>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19</a:t>
            </a:fld>
            <a:endParaRPr lang="ja-JP" altLang="en-US"/>
          </a:p>
        </p:txBody>
      </p:sp>
      <p:sp>
        <p:nvSpPr>
          <p:cNvPr id="7" name="スライド イメージ プレースホルダー 6">
            <a:extLst>
              <a:ext uri="{FF2B5EF4-FFF2-40B4-BE49-F238E27FC236}">
                <a16:creationId xmlns:a16="http://schemas.microsoft.com/office/drawing/2014/main" id="{C8414A6F-FDF2-0D6C-B10E-562FDDE97293}"/>
              </a:ext>
            </a:extLst>
          </p:cNvPr>
          <p:cNvSpPr>
            <a:spLocks noGrp="1" noRot="1" noChangeAspect="1"/>
          </p:cNvSpPr>
          <p:nvPr>
            <p:ph type="sldImg"/>
          </p:nvPr>
        </p:nvSpPr>
        <p:spPr>
          <a:xfrm>
            <a:off x="563563" y="635000"/>
            <a:ext cx="5976937" cy="4483100"/>
          </a:xfrm>
        </p:spPr>
      </p:sp>
    </p:spTree>
    <p:extLst>
      <p:ext uri="{BB962C8B-B14F-4D97-AF65-F5344CB8AC3E}">
        <p14:creationId xmlns:p14="http://schemas.microsoft.com/office/powerpoint/2010/main" val="2532468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pPr lvl="0"/>
            <a:r>
              <a:rPr lang="ja-JP" altLang="en-US" dirty="0"/>
              <a:t>　ここで「確率予測資料」という言葉が出てきましたので簡単に説明します。確率予測資料は、</a:t>
            </a:r>
            <a:r>
              <a:rPr lang="en-US" altLang="ja-JP" dirty="0"/>
              <a:t>2 </a:t>
            </a:r>
            <a:r>
              <a:rPr lang="ja-JP" altLang="en-US" dirty="0"/>
              <a:t>週間気温予報、</a:t>
            </a:r>
            <a:r>
              <a:rPr lang="en-US" altLang="ja-JP" dirty="0"/>
              <a:t>1</a:t>
            </a:r>
            <a:r>
              <a:rPr lang="ja-JP" altLang="en-US" dirty="0"/>
              <a:t>か月予報の基礎資料である数値予報の計算結果です。</a:t>
            </a:r>
            <a:endParaRPr lang="en-US" altLang="ja-JP" dirty="0"/>
          </a:p>
          <a:p>
            <a:pPr lvl="0"/>
            <a:endParaRPr lang="en-US" altLang="ja-JP" dirty="0"/>
          </a:p>
          <a:p>
            <a:pPr lvl="0"/>
            <a:r>
              <a:rPr lang="ja-JP" altLang="en-US" dirty="0"/>
              <a:t>　気象の予測には不確実性があり、予報期間が長くなるにつれて予測の不確定さも大きくなり、長期間の予報は困難となります。そこで、</a:t>
            </a:r>
            <a:r>
              <a:rPr lang="en-US" altLang="ja-JP" dirty="0"/>
              <a:t>2</a:t>
            </a:r>
            <a:r>
              <a:rPr lang="ja-JP" altLang="en-US" dirty="0"/>
              <a:t>週間気温予報、</a:t>
            </a:r>
            <a:r>
              <a:rPr lang="en-US" altLang="ja-JP" dirty="0"/>
              <a:t>1</a:t>
            </a:r>
            <a:r>
              <a:rPr lang="ja-JP" altLang="en-US" dirty="0"/>
              <a:t>か月予報等では、初期状態がわずかに異なる約</a:t>
            </a:r>
            <a:r>
              <a:rPr lang="en-US" altLang="ja-JP" dirty="0"/>
              <a:t>50</a:t>
            </a:r>
            <a:r>
              <a:rPr lang="ja-JP" altLang="en-US" dirty="0"/>
              <a:t>通りの数値予報を行い、その結果を統計的に処理することで、不確定さを考慮した確率的な予測を実施しています。このような手法をアンサンブル予報と呼んでいます。</a:t>
            </a:r>
            <a:endParaRPr lang="en-US" altLang="ja-JP" dirty="0"/>
          </a:p>
          <a:p>
            <a:pPr lvl="0"/>
            <a:endParaRPr lang="en-US" altLang="ja-JP" dirty="0"/>
          </a:p>
          <a:p>
            <a:pPr lvl="0"/>
            <a:r>
              <a:rPr lang="ja-JP" altLang="en-US" dirty="0"/>
              <a:t>　１か月予報におけるアンサンブル予報を例に説明します。この</a:t>
            </a:r>
            <a:r>
              <a:rPr lang="en-US" altLang="ja-JP" dirty="0"/>
              <a:t>50</a:t>
            </a:r>
            <a:r>
              <a:rPr lang="ja-JP" altLang="en-US" dirty="0"/>
              <a:t>本の細い線は、</a:t>
            </a:r>
            <a:r>
              <a:rPr lang="en-US" altLang="ja-JP" dirty="0"/>
              <a:t>850hPa</a:t>
            </a:r>
            <a:r>
              <a:rPr lang="ja-JP" altLang="en-US" dirty="0"/>
              <a:t>（地上約</a:t>
            </a:r>
            <a:r>
              <a:rPr lang="en-US" altLang="ja-JP" dirty="0"/>
              <a:t>1,500m</a:t>
            </a:r>
            <a:r>
              <a:rPr lang="ja-JP" altLang="en-US" dirty="0"/>
              <a:t>）の気温の平年差の予測を示しています。初期値にわずかなバラツキを与えただけで、</a:t>
            </a:r>
            <a:r>
              <a:rPr lang="en-US" altLang="ja-JP" dirty="0"/>
              <a:t>50</a:t>
            </a:r>
            <a:r>
              <a:rPr lang="ja-JP" altLang="en-US" dirty="0"/>
              <a:t>個全ての予報が異なる予測結果を示していることが分かります。</a:t>
            </a:r>
            <a:endParaRPr lang="en-US" altLang="ja-JP" dirty="0"/>
          </a:p>
          <a:p>
            <a:pPr lvl="0"/>
            <a:r>
              <a:rPr lang="ja-JP" altLang="en-US" dirty="0"/>
              <a:t>　</a:t>
            </a:r>
            <a:endParaRPr lang="en-US" altLang="ja-JP" dirty="0"/>
          </a:p>
          <a:p>
            <a:pPr lvl="0"/>
            <a:r>
              <a:rPr lang="ja-JP" altLang="en-US" dirty="0"/>
              <a:t>　黒の太い実線は</a:t>
            </a:r>
            <a:r>
              <a:rPr lang="en-US" altLang="ja-JP" dirty="0"/>
              <a:t>50</a:t>
            </a:r>
            <a:r>
              <a:rPr lang="ja-JP" altLang="en-US" dirty="0"/>
              <a:t>本の細い線を平均したもので、これがアンサンブル平均の予測結果です。この例では、向こう１か月間のはじめは高温となり、その後は平年より</a:t>
            </a:r>
            <a:r>
              <a:rPr lang="en-US" altLang="ja-JP" dirty="0"/>
              <a:t>1</a:t>
            </a:r>
            <a:r>
              <a:rPr lang="ja-JP" altLang="en-US" dirty="0"/>
              <a:t>℃程度低く経過すると予測されています。また、</a:t>
            </a:r>
            <a:r>
              <a:rPr lang="en-US" altLang="ja-JP" dirty="0"/>
              <a:t>50</a:t>
            </a:r>
            <a:r>
              <a:rPr lang="ja-JP" altLang="en-US" dirty="0"/>
              <a:t>個の予測のばらつき方は前半に比べ後半では大きくなっており、予報時間が延びるとともに予測が難しくなることを示しています。（なお、図の気温は</a:t>
            </a:r>
            <a:r>
              <a:rPr lang="en-US" altLang="ja-JP" dirty="0"/>
              <a:t>7</a:t>
            </a:r>
            <a:r>
              <a:rPr lang="ja-JP" altLang="en-US" dirty="0"/>
              <a:t>日間の移動平均であり、たとえば初期日（</a:t>
            </a:r>
            <a:r>
              <a:rPr lang="en-US" altLang="ja-JP" dirty="0"/>
              <a:t>0</a:t>
            </a:r>
            <a:r>
              <a:rPr lang="ja-JP" altLang="en-US" dirty="0"/>
              <a:t>日目）から</a:t>
            </a:r>
            <a:r>
              <a:rPr lang="en-US" altLang="ja-JP" dirty="0"/>
              <a:t>6</a:t>
            </a:r>
            <a:r>
              <a:rPr lang="ja-JP" altLang="en-US" dirty="0"/>
              <a:t>日目までを平均した予測結果は</a:t>
            </a:r>
            <a:r>
              <a:rPr lang="en-US" altLang="ja-JP" dirty="0"/>
              <a:t>3</a:t>
            </a:r>
            <a:r>
              <a:rPr lang="ja-JP" altLang="en-US" dirty="0"/>
              <a:t>日目のところに示してあります。 ）</a:t>
            </a:r>
          </a:p>
          <a:p>
            <a:endParaRPr lang="ja-JP" altLang="en-US" dirty="0"/>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20</a:t>
            </a:fld>
            <a:endParaRPr lang="ja-JP" altLang="en-US"/>
          </a:p>
        </p:txBody>
      </p:sp>
      <p:sp>
        <p:nvSpPr>
          <p:cNvPr id="7" name="スライド イメージ プレースホルダー 6">
            <a:extLst>
              <a:ext uri="{FF2B5EF4-FFF2-40B4-BE49-F238E27FC236}">
                <a16:creationId xmlns:a16="http://schemas.microsoft.com/office/drawing/2014/main" id="{99A7EB0C-812E-B930-DACA-A2648DE51171}"/>
              </a:ext>
            </a:extLst>
          </p:cNvPr>
          <p:cNvSpPr>
            <a:spLocks noGrp="1" noRot="1" noChangeAspect="1"/>
          </p:cNvSpPr>
          <p:nvPr>
            <p:ph type="sldImg"/>
          </p:nvPr>
        </p:nvSpPr>
        <p:spPr>
          <a:xfrm>
            <a:off x="563563" y="635000"/>
            <a:ext cx="5976937" cy="4483100"/>
          </a:xfrm>
        </p:spPr>
      </p:sp>
    </p:spTree>
    <p:extLst>
      <p:ext uri="{BB962C8B-B14F-4D97-AF65-F5344CB8AC3E}">
        <p14:creationId xmlns:p14="http://schemas.microsoft.com/office/powerpoint/2010/main" val="10146184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ノート プレースホルダー 2"/>
          <p:cNvSpPr>
            <a:spLocks noGrp="1"/>
          </p:cNvSpPr>
          <p:nvPr>
            <p:ph type="body" idx="1"/>
          </p:nvPr>
        </p:nvSpPr>
        <p:spPr/>
        <p:txBody>
          <a:bodyPr/>
          <a:lstStyle/>
          <a:p>
            <a:r>
              <a:rPr lang="ja-JP" altLang="en-US" dirty="0"/>
              <a:t>　前のスライドのとおり、「確率予測資料提供ページ」では、</a:t>
            </a:r>
            <a:r>
              <a:rPr lang="en-US" altLang="ja-JP" dirty="0"/>
              <a:t>2</a:t>
            </a:r>
            <a:r>
              <a:rPr lang="ja-JP" altLang="en-US" dirty="0"/>
              <a:t>週間気温予報、</a:t>
            </a:r>
            <a:r>
              <a:rPr lang="en-US" altLang="ja-JP" dirty="0"/>
              <a:t>1</a:t>
            </a:r>
            <a:r>
              <a:rPr lang="ja-JP" altLang="en-US" dirty="0"/>
              <a:t>か月予報それぞれについて、最新の確率予測資料（</a:t>
            </a:r>
            <a:r>
              <a:rPr lang="en-US" altLang="ja-JP" dirty="0"/>
              <a:t>CSV</a:t>
            </a:r>
            <a:r>
              <a:rPr lang="ja-JP" altLang="en-US" dirty="0"/>
              <a:t>形式）の他、再予報データもダウンロード可能です。</a:t>
            </a:r>
            <a:endParaRPr lang="en-US" altLang="ja-JP" dirty="0"/>
          </a:p>
          <a:p>
            <a:endParaRPr lang="en-US" altLang="ja-JP" dirty="0"/>
          </a:p>
          <a:p>
            <a:r>
              <a:rPr lang="ja-JP" altLang="en-US" dirty="0"/>
              <a:t>　再予報データは現在の技術で過去の予測を再度行ったもので、気温の予測結果のみ公開しています。この再予報データにより、気温の予測精度がどの程度あるかを知ることができます。さらに過去の開花日データや収穫データなどと組み合わせることで、農業の作業適期や収量などを予想することに気温予測を有効に使えるかの事前評価に利用できます。</a:t>
            </a:r>
            <a:endParaRPr lang="en-US" altLang="ja-JP" dirty="0"/>
          </a:p>
          <a:p>
            <a:endParaRPr lang="en-US" altLang="ja-JP" dirty="0"/>
          </a:p>
          <a:p>
            <a:r>
              <a:rPr lang="ja-JP" altLang="en-US" dirty="0"/>
              <a:t>　なお、</a:t>
            </a:r>
            <a:r>
              <a:rPr lang="en-US" altLang="ja-JP" dirty="0"/>
              <a:t>CSV</a:t>
            </a:r>
            <a:r>
              <a:rPr lang="ja-JP" altLang="en-US" dirty="0"/>
              <a:t>ファイルのファイルフォーマットは同ページに記載しています。</a:t>
            </a:r>
          </a:p>
        </p:txBody>
      </p:sp>
      <p:sp>
        <p:nvSpPr>
          <p:cNvPr id="4" name="スライド番号プレースホルダー 3"/>
          <p:cNvSpPr>
            <a:spLocks noGrp="1"/>
          </p:cNvSpPr>
          <p:nvPr>
            <p:ph type="sldNum" sz="quarter" idx="5"/>
          </p:nvPr>
        </p:nvSpPr>
        <p:spPr/>
        <p:txBody>
          <a:bodyPr/>
          <a:lstStyle/>
          <a:p>
            <a:fld id="{981C6E68-323E-4B7F-BAAC-CC0F1FE3A822}" type="slidenum">
              <a:rPr lang="ja-JP" altLang="en-US" smtClean="0"/>
              <a:pPr/>
              <a:t>21</a:t>
            </a:fld>
            <a:endParaRPr lang="ja-JP" altLang="en-US"/>
          </a:p>
        </p:txBody>
      </p:sp>
      <p:sp>
        <p:nvSpPr>
          <p:cNvPr id="7" name="スライド イメージ プレースホルダー 6">
            <a:extLst>
              <a:ext uri="{FF2B5EF4-FFF2-40B4-BE49-F238E27FC236}">
                <a16:creationId xmlns:a16="http://schemas.microsoft.com/office/drawing/2014/main" id="{1989D2F6-493F-40AF-EA33-EA1FEFECB92F}"/>
              </a:ext>
            </a:extLst>
          </p:cNvPr>
          <p:cNvSpPr>
            <a:spLocks noGrp="1" noRot="1" noChangeAspect="1"/>
          </p:cNvSpPr>
          <p:nvPr>
            <p:ph type="sldImg"/>
          </p:nvPr>
        </p:nvSpPr>
        <p:spPr>
          <a:xfrm>
            <a:off x="563563" y="635000"/>
            <a:ext cx="5976937" cy="4483100"/>
          </a:xfrm>
        </p:spPr>
      </p:sp>
    </p:spTree>
    <p:extLst>
      <p:ext uri="{BB962C8B-B14F-4D97-AF65-F5344CB8AC3E}">
        <p14:creationId xmlns:p14="http://schemas.microsoft.com/office/powerpoint/2010/main" val="31922976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3563" y="635000"/>
            <a:ext cx="5976937" cy="4483100"/>
          </a:xfrm>
        </p:spPr>
      </p:sp>
      <p:sp>
        <p:nvSpPr>
          <p:cNvPr id="3" name="ノート プレースホルダー 2"/>
          <p:cNvSpPr>
            <a:spLocks noGrp="1"/>
          </p:cNvSpPr>
          <p:nvPr>
            <p:ph type="body" idx="1"/>
          </p:nvPr>
        </p:nvSpPr>
        <p:spPr/>
        <p:txBody>
          <a:bodyPr/>
          <a:lstStyle/>
          <a:p>
            <a:pPr defTabSz="954908"/>
            <a:r>
              <a:rPr lang="ja-JP" altLang="en-US" sz="1300" dirty="0"/>
              <a:t>（注意事項）</a:t>
            </a:r>
            <a:endParaRPr lang="en-US" altLang="ja-JP" sz="1300" dirty="0"/>
          </a:p>
          <a:p>
            <a:r>
              <a:rPr lang="en-US" altLang="ja-JP" sz="1300" baseline="30000" dirty="0"/>
              <a:t>※1</a:t>
            </a:r>
            <a:r>
              <a:rPr lang="ja-JP" altLang="en-US" sz="1300" dirty="0"/>
              <a:t> 欠測や観測条件の変化があった場合は「</a:t>
            </a:r>
            <a:r>
              <a:rPr lang="en-US" altLang="ja-JP" sz="1300" dirty="0"/>
              <a:t>-9999</a:t>
            </a:r>
            <a:r>
              <a:rPr lang="ja-JP" altLang="en-US" sz="1300" dirty="0"/>
              <a:t>」が入ります。</a:t>
            </a:r>
            <a:br>
              <a:rPr lang="ja-JP" altLang="en-US" dirty="0"/>
            </a:br>
            <a:r>
              <a:rPr lang="en-US" altLang="ja-JP" sz="1300" baseline="30000" dirty="0"/>
              <a:t>※2</a:t>
            </a:r>
            <a:r>
              <a:rPr lang="ja-JP" altLang="en-US" sz="1300" dirty="0"/>
              <a:t> 再予報データでは「</a:t>
            </a:r>
            <a:r>
              <a:rPr lang="en-US" altLang="ja-JP" sz="1300" dirty="0"/>
              <a:t>-9999</a:t>
            </a:r>
            <a:r>
              <a:rPr lang="ja-JP" altLang="en-US" sz="1300" dirty="0"/>
              <a:t>」が入ります。</a:t>
            </a:r>
            <a:br>
              <a:rPr lang="ja-JP" altLang="en-US" dirty="0"/>
            </a:br>
            <a:r>
              <a:rPr lang="en-US" altLang="ja-JP" sz="1300" baseline="30000" dirty="0"/>
              <a:t>※3</a:t>
            </a:r>
            <a:r>
              <a:rPr lang="ja-JP" altLang="en-US" sz="1300" dirty="0"/>
              <a:t> 再予報データのみ値が入ります。欠測の場合「</a:t>
            </a:r>
            <a:r>
              <a:rPr lang="en-US" altLang="ja-JP" sz="1300" dirty="0"/>
              <a:t>-9999</a:t>
            </a:r>
            <a:r>
              <a:rPr lang="ja-JP" altLang="en-US" sz="1300" dirty="0"/>
              <a:t>」が入ります。移転等により観測条件の変化があった場合、現在の観測条件に補正した値が格納されます。該当する地点と時期は</a:t>
            </a:r>
            <a:r>
              <a:rPr lang="ja-JP" altLang="en-US" sz="1300" u="sng" dirty="0">
                <a:hlinkClick r:id="rId3"/>
              </a:rPr>
              <a:t>再予報データの仕様等について</a:t>
            </a:r>
            <a:r>
              <a:rPr lang="ja-JP" altLang="en-US" sz="1300" dirty="0"/>
              <a:t>（</a:t>
            </a:r>
            <a:r>
              <a:rPr lang="en-US" altLang="ja-JP" sz="1300" dirty="0"/>
              <a:t>PDF</a:t>
            </a:r>
            <a:r>
              <a:rPr lang="ja-JP" altLang="en-US" sz="1300" dirty="0"/>
              <a:t>ファイル：約</a:t>
            </a:r>
            <a:r>
              <a:rPr lang="en-US" altLang="ja-JP" sz="1300" dirty="0"/>
              <a:t>110KB</a:t>
            </a:r>
            <a:r>
              <a:rPr lang="ja-JP" altLang="en-US" sz="1300" dirty="0"/>
              <a:t>）（</a:t>
            </a:r>
            <a:r>
              <a:rPr lang="en-US" altLang="ja-JP" sz="1300" dirty="0"/>
              <a:t>https://www.data.jma.go.jp/risk/probability/docs/2weekRefcst-readme.pdf</a:t>
            </a:r>
            <a:r>
              <a:rPr lang="ja-JP" altLang="en-US" sz="1300" dirty="0"/>
              <a:t>）をご覧ください。なお、補正の方法は</a:t>
            </a:r>
            <a:r>
              <a:rPr lang="ja-JP" altLang="en-US" sz="1300" u="sng" dirty="0">
                <a:hlinkClick r:id="rId4"/>
              </a:rPr>
              <a:t>気象観測統計指針 第３章　品質と均質性</a:t>
            </a:r>
            <a:r>
              <a:rPr lang="ja-JP" altLang="en-US" sz="1300" dirty="0"/>
              <a:t>の「</a:t>
            </a:r>
            <a:r>
              <a:rPr lang="en-US" altLang="ja-JP" sz="1300" dirty="0"/>
              <a:t>3.3</a:t>
            </a:r>
            <a:r>
              <a:rPr lang="ja-JP" altLang="en-US" sz="1300" dirty="0"/>
              <a:t>　移転等により観測条件に変化があった場合の取扱い」（</a:t>
            </a:r>
            <a:r>
              <a:rPr lang="en-US" altLang="ja-JP" sz="1300" dirty="0"/>
              <a:t>https://www.jma.go.jp/jma/kishou/know/stats/shishin/shishin_all.pdf#chap3</a:t>
            </a:r>
            <a:r>
              <a:rPr lang="ja-JP" altLang="en-US" sz="1300" dirty="0"/>
              <a:t>）に準じています。</a:t>
            </a:r>
            <a:endParaRPr kumimoji="1" lang="ja-JP" altLang="en-US" dirty="0"/>
          </a:p>
        </p:txBody>
      </p:sp>
      <p:sp>
        <p:nvSpPr>
          <p:cNvPr id="4" name="スライド番号プレースホルダー 3"/>
          <p:cNvSpPr>
            <a:spLocks noGrp="1"/>
          </p:cNvSpPr>
          <p:nvPr>
            <p:ph type="sldNum" sz="quarter" idx="5"/>
          </p:nvPr>
        </p:nvSpPr>
        <p:spPr/>
        <p:txBody>
          <a:bodyPr/>
          <a:lstStyle/>
          <a:p>
            <a:fld id="{3617F24F-670C-40F7-AD9F-223EA85139BD}" type="slidenum">
              <a:rPr kumimoji="1" lang="ja-JP" altLang="en-US" smtClean="0"/>
              <a:t>22</a:t>
            </a:fld>
            <a:endParaRPr kumimoji="1" lang="ja-JP" altLang="en-US"/>
          </a:p>
        </p:txBody>
      </p:sp>
    </p:spTree>
    <p:extLst>
      <p:ext uri="{BB962C8B-B14F-4D97-AF65-F5344CB8AC3E}">
        <p14:creationId xmlns:p14="http://schemas.microsoft.com/office/powerpoint/2010/main" val="21590186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3563" y="635000"/>
            <a:ext cx="5976937" cy="4483100"/>
          </a:xfrm>
        </p:spPr>
      </p:sp>
      <p:sp>
        <p:nvSpPr>
          <p:cNvPr id="3" name="ノート プレースホルダー 2"/>
          <p:cNvSpPr>
            <a:spLocks noGrp="1"/>
          </p:cNvSpPr>
          <p:nvPr>
            <p:ph type="body" idx="1"/>
          </p:nvPr>
        </p:nvSpPr>
        <p:spPr/>
        <p:txBody>
          <a:bodyPr/>
          <a:lstStyle/>
          <a:p>
            <a:r>
              <a:rPr lang="ja-JP" altLang="en-US" sz="1300" dirty="0"/>
              <a:t>（注意事項）</a:t>
            </a:r>
            <a:endParaRPr lang="en-US" altLang="ja-JP" sz="1300" dirty="0"/>
          </a:p>
          <a:p>
            <a:r>
              <a:rPr lang="en-US" altLang="ja-JP" sz="1300" baseline="30000" dirty="0"/>
              <a:t>※1</a:t>
            </a:r>
            <a:r>
              <a:rPr lang="ja-JP" altLang="en-US" sz="1300" dirty="0"/>
              <a:t> 欠測や観測条件の変化があった場合は「</a:t>
            </a:r>
            <a:r>
              <a:rPr lang="en-US" altLang="ja-JP" sz="1300" dirty="0"/>
              <a:t>-9999</a:t>
            </a:r>
            <a:r>
              <a:rPr lang="ja-JP" altLang="en-US" sz="1300" dirty="0"/>
              <a:t>」が入ります。</a:t>
            </a:r>
            <a:br>
              <a:rPr lang="ja-JP" altLang="en-US" dirty="0"/>
            </a:br>
            <a:r>
              <a:rPr lang="en-US" altLang="ja-JP" sz="1300" baseline="30000" dirty="0"/>
              <a:t>※2</a:t>
            </a:r>
            <a:r>
              <a:rPr lang="ja-JP" altLang="en-US" sz="1300" dirty="0"/>
              <a:t> 再予報データでは「</a:t>
            </a:r>
            <a:r>
              <a:rPr lang="en-US" altLang="ja-JP" sz="1300" dirty="0"/>
              <a:t>-9999</a:t>
            </a:r>
            <a:r>
              <a:rPr lang="ja-JP" altLang="en-US" sz="1300" dirty="0"/>
              <a:t>」が入ります。</a:t>
            </a:r>
            <a:br>
              <a:rPr lang="ja-JP" altLang="en-US" dirty="0"/>
            </a:br>
            <a:r>
              <a:rPr lang="en-US" altLang="ja-JP" sz="1300" baseline="30000" dirty="0"/>
              <a:t>※3</a:t>
            </a:r>
            <a:r>
              <a:rPr lang="ja-JP" altLang="en-US" sz="1300" dirty="0"/>
              <a:t> 再予報データのみ値が入ります。欠測の場合は「</a:t>
            </a:r>
            <a:r>
              <a:rPr lang="en-US" altLang="ja-JP" sz="1300" dirty="0"/>
              <a:t>-9999</a:t>
            </a:r>
            <a:r>
              <a:rPr lang="ja-JP" altLang="en-US" sz="1300" dirty="0"/>
              <a:t>」が入ります。移転等により観測条件の変化があった場合、現在の観測条件に補正した値が格納されます。該当する地点と時期は</a:t>
            </a:r>
            <a:r>
              <a:rPr lang="ja-JP" altLang="en-US" sz="1300" u="sng" dirty="0">
                <a:hlinkClick r:id="rId3"/>
              </a:rPr>
              <a:t>再予報データの仕様等について</a:t>
            </a:r>
            <a:r>
              <a:rPr lang="ja-JP" altLang="en-US" sz="1300" dirty="0"/>
              <a:t>（</a:t>
            </a:r>
            <a:r>
              <a:rPr lang="en-US" altLang="ja-JP" sz="1300" dirty="0"/>
              <a:t>PDF</a:t>
            </a:r>
            <a:r>
              <a:rPr lang="ja-JP" altLang="en-US" sz="1300" dirty="0"/>
              <a:t>ファイル：約</a:t>
            </a:r>
            <a:r>
              <a:rPr lang="en-US" altLang="ja-JP" sz="1300" dirty="0"/>
              <a:t>110KB</a:t>
            </a:r>
            <a:r>
              <a:rPr lang="ja-JP" altLang="en-US" sz="1300" dirty="0"/>
              <a:t>）（</a:t>
            </a:r>
            <a:r>
              <a:rPr lang="en-US" altLang="ja-JP" sz="1300" dirty="0"/>
              <a:t>https://www.data.jma.go.jp/risk/probability/docs/1monthRefcst-readme.pdf</a:t>
            </a:r>
            <a:r>
              <a:rPr lang="ja-JP" altLang="en-US" sz="1300" dirty="0"/>
              <a:t>）をご覧ください。なお、補正の方法は</a:t>
            </a:r>
            <a:r>
              <a:rPr lang="ja-JP" altLang="en-US" sz="1300" u="sng" dirty="0">
                <a:hlinkClick r:id="rId4"/>
              </a:rPr>
              <a:t>気象観測統計指針 第３章　品質と均質性</a:t>
            </a:r>
            <a:r>
              <a:rPr lang="ja-JP" altLang="en-US" sz="1300" dirty="0"/>
              <a:t>の「</a:t>
            </a:r>
            <a:r>
              <a:rPr lang="en-US" altLang="ja-JP" sz="1300" dirty="0"/>
              <a:t>3.3</a:t>
            </a:r>
            <a:r>
              <a:rPr lang="ja-JP" altLang="en-US" sz="1300" dirty="0"/>
              <a:t>　移転等により観測条件に変化があった場合の取扱い」（</a:t>
            </a:r>
            <a:r>
              <a:rPr lang="en-US" altLang="ja-JP" sz="1300" dirty="0"/>
              <a:t>https://www.jma.go.jp/jma/kishou/know/stats/shishin/shishin_all.pdf#chap3</a:t>
            </a:r>
            <a:r>
              <a:rPr lang="ja-JP" altLang="en-US" sz="1300" dirty="0"/>
              <a:t>）に準じています。</a:t>
            </a:r>
            <a:endParaRPr kumimoji="1" lang="ja-JP" altLang="en-US" dirty="0"/>
          </a:p>
        </p:txBody>
      </p:sp>
      <p:sp>
        <p:nvSpPr>
          <p:cNvPr id="4" name="スライド番号プレースホルダー 3"/>
          <p:cNvSpPr>
            <a:spLocks noGrp="1"/>
          </p:cNvSpPr>
          <p:nvPr>
            <p:ph type="sldNum" sz="quarter" idx="5"/>
          </p:nvPr>
        </p:nvSpPr>
        <p:spPr/>
        <p:txBody>
          <a:bodyPr/>
          <a:lstStyle/>
          <a:p>
            <a:fld id="{3617F24F-670C-40F7-AD9F-223EA85139BD}" type="slidenum">
              <a:rPr kumimoji="1" lang="ja-JP" altLang="en-US" smtClean="0"/>
              <a:t>23</a:t>
            </a:fld>
            <a:endParaRPr kumimoji="1" lang="ja-JP" altLang="en-US"/>
          </a:p>
        </p:txBody>
      </p:sp>
    </p:spTree>
    <p:extLst>
      <p:ext uri="{BB962C8B-B14F-4D97-AF65-F5344CB8AC3E}">
        <p14:creationId xmlns:p14="http://schemas.microsoft.com/office/powerpoint/2010/main" val="5317614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63563" y="635000"/>
            <a:ext cx="5976937" cy="4483100"/>
          </a:xfrm>
        </p:spPr>
      </p:sp>
      <p:sp>
        <p:nvSpPr>
          <p:cNvPr id="3" name="ノート プレースホルダー 2"/>
          <p:cNvSpPr>
            <a:spLocks noGrp="1"/>
          </p:cNvSpPr>
          <p:nvPr>
            <p:ph type="body" idx="1"/>
          </p:nvPr>
        </p:nvSpPr>
        <p:spPr/>
        <p:txBody>
          <a:bodyPr/>
          <a:lstStyle/>
          <a:p>
            <a:r>
              <a:rPr kumimoji="1" lang="ja-JP" altLang="en-US" dirty="0"/>
              <a:t>　「確率予測資料提供ページ」の説明にもありましたが、ダウンロードした</a:t>
            </a:r>
            <a:r>
              <a:rPr kumimoji="1" lang="en-US" altLang="ja-JP" dirty="0"/>
              <a:t>CSV</a:t>
            </a:r>
            <a:r>
              <a:rPr kumimoji="1" lang="ja-JP" altLang="en-US" dirty="0"/>
              <a:t>ファイルの内容を可視化するため、また、データ利用を開始する際のとっかかりとしての参考になるよう、</a:t>
            </a:r>
            <a:r>
              <a:rPr kumimoji="1" lang="en-US" altLang="ja-JP" dirty="0"/>
              <a:t>Excel</a:t>
            </a:r>
            <a:r>
              <a:rPr kumimoji="1" lang="ja-JP" altLang="en-US" dirty="0"/>
              <a:t>等の表計算ソフト用ワークブックを提供しています。</a:t>
            </a:r>
            <a:endParaRPr kumimoji="1" lang="en-US" altLang="ja-JP" dirty="0"/>
          </a:p>
          <a:p>
            <a:endParaRPr lang="en-US" altLang="ja-JP" dirty="0"/>
          </a:p>
          <a:p>
            <a:r>
              <a:rPr kumimoji="1" lang="ja-JP" altLang="en-US" dirty="0"/>
              <a:t>　データを確認したい地域・地点を選択し、取得ボタンをクリックするだけで利用することが可能です。サンプルファイルでは、アンサンブル平均時系列図など</a:t>
            </a:r>
            <a:r>
              <a:rPr kumimoji="1" lang="en-US" altLang="ja-JP" dirty="0"/>
              <a:t>CSV</a:t>
            </a:r>
            <a:r>
              <a:rPr kumimoji="1" lang="ja-JP" altLang="en-US" dirty="0"/>
              <a:t>ファイルから得られる情報を可視化していますが、例えば対象とする情報と気温予測データとの相関を見るため、数式やグラフを新たに追加し、独自にカスタマイズするといった利用方法も可能です。</a:t>
            </a:r>
          </a:p>
        </p:txBody>
      </p:sp>
      <p:sp>
        <p:nvSpPr>
          <p:cNvPr id="4" name="スライド番号プレースホルダー 3"/>
          <p:cNvSpPr>
            <a:spLocks noGrp="1"/>
          </p:cNvSpPr>
          <p:nvPr>
            <p:ph type="sldNum" sz="quarter" idx="5"/>
          </p:nvPr>
        </p:nvSpPr>
        <p:spPr/>
        <p:txBody>
          <a:bodyPr/>
          <a:lstStyle/>
          <a:p>
            <a:fld id="{3617F24F-670C-40F7-AD9F-223EA85139BD}" type="slidenum">
              <a:rPr kumimoji="1" lang="ja-JP" altLang="en-US" smtClean="0"/>
              <a:t>24</a:t>
            </a:fld>
            <a:endParaRPr kumimoji="1" lang="ja-JP" altLang="en-US"/>
          </a:p>
        </p:txBody>
      </p:sp>
    </p:spTree>
    <p:extLst>
      <p:ext uri="{BB962C8B-B14F-4D97-AF65-F5344CB8AC3E}">
        <p14:creationId xmlns:p14="http://schemas.microsoft.com/office/powerpoint/2010/main" val="68387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592AAA-7C0E-3C06-7961-28D4650326B7}"/>
              </a:ext>
            </a:extLst>
          </p:cNvPr>
          <p:cNvSpPr>
            <a:spLocks noGrp="1"/>
          </p:cNvSpPr>
          <p:nvPr>
            <p:ph type="ctrTitle"/>
          </p:nvPr>
        </p:nvSpPr>
        <p:spPr>
          <a:xfrm>
            <a:off x="1143000" y="1122363"/>
            <a:ext cx="6858000" cy="2387600"/>
          </a:xfrm>
        </p:spPr>
        <p:txBody>
          <a:bodyPr anchor="b"/>
          <a:lstStyle>
            <a:lvl1pPr algn="ctr">
              <a:defRPr sz="6000"/>
            </a:lvl1pPr>
          </a:lstStyle>
          <a:p>
            <a:r>
              <a:rPr kumimoji="1" lang="ja-JP" altLang="en-US" dirty="0"/>
              <a:t>マスター タイトルの書式設定</a:t>
            </a:r>
          </a:p>
        </p:txBody>
      </p:sp>
      <p:sp>
        <p:nvSpPr>
          <p:cNvPr id="3" name="字幕 2">
            <a:extLst>
              <a:ext uri="{FF2B5EF4-FFF2-40B4-BE49-F238E27FC236}">
                <a16:creationId xmlns:a16="http://schemas.microsoft.com/office/drawing/2014/main" id="{BD24EC51-FE82-323B-1213-5E40796C8815}"/>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00964CA-5AA6-F4F8-01AC-79327F690268}"/>
              </a:ext>
            </a:extLst>
          </p:cNvPr>
          <p:cNvSpPr>
            <a:spLocks noGrp="1"/>
          </p:cNvSpPr>
          <p:nvPr>
            <p:ph type="dt" sz="half" idx="10"/>
          </p:nvPr>
        </p:nvSpPr>
        <p:spPr/>
        <p:txBody>
          <a:bodyPr/>
          <a:lstStyle/>
          <a:p>
            <a:fld id="{3CBE0A60-A9D3-4355-8C32-1F3878DA00F6}" type="datetime1">
              <a:rPr kumimoji="1" lang="ja-JP" altLang="en-US" smtClean="0"/>
              <a:t>2026/3/30</a:t>
            </a:fld>
            <a:endParaRPr kumimoji="1" lang="ja-JP" altLang="en-US"/>
          </a:p>
        </p:txBody>
      </p:sp>
      <p:sp>
        <p:nvSpPr>
          <p:cNvPr id="5" name="フッター プレースホルダー 4">
            <a:extLst>
              <a:ext uri="{FF2B5EF4-FFF2-40B4-BE49-F238E27FC236}">
                <a16:creationId xmlns:a16="http://schemas.microsoft.com/office/drawing/2014/main" id="{20F56213-F650-07AA-03F1-B1BC6FF892A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4191768-FA3E-BCD3-CC80-89599E25FCE9}"/>
              </a:ext>
            </a:extLst>
          </p:cNvPr>
          <p:cNvSpPr>
            <a:spLocks noGrp="1"/>
          </p:cNvSpPr>
          <p:nvPr>
            <p:ph type="sldNum" sz="quarter" idx="12"/>
          </p:nvPr>
        </p:nvSpPr>
        <p:spPr/>
        <p:txBody>
          <a:body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5947136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C00B0C-7248-CCA9-D8F4-F99A4208AF95}"/>
              </a:ext>
            </a:extLst>
          </p:cNvPr>
          <p:cNvSpPr>
            <a:spLocks noGrp="1"/>
          </p:cNvSpPr>
          <p:nvPr>
            <p:ph type="title"/>
          </p:nvPr>
        </p:nvSpPr>
        <p:spPr>
          <a:xfrm>
            <a:off x="0" y="1"/>
            <a:ext cx="9144000" cy="620712"/>
          </a:xfrm>
          <a:noFill/>
        </p:spPr>
        <p:txBody>
          <a:bodyPr lIns="324000" tIns="144000">
            <a:noAutofit/>
          </a:bodyPr>
          <a:lstStyle>
            <a:lvl1pPr>
              <a:defRPr sz="2400">
                <a:solidFill>
                  <a:schemeClr val="tx1"/>
                </a:solidFill>
              </a:defRPr>
            </a:lvl1p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F4DF2DBC-48DF-4B28-E999-B6B8F52AED5C}"/>
              </a:ext>
            </a:extLst>
          </p:cNvPr>
          <p:cNvSpPr>
            <a:spLocks noGrp="1"/>
          </p:cNvSpPr>
          <p:nvPr>
            <p:ph idx="1"/>
          </p:nvPr>
        </p:nvSpPr>
        <p:spPr>
          <a:xfrm>
            <a:off x="250825" y="765180"/>
            <a:ext cx="8642350" cy="5903905"/>
          </a:xfrm>
        </p:spPr>
        <p:txBody>
          <a:bodyPr/>
          <a:lstStyle>
            <a:lvl1pPr marL="0" indent="0">
              <a:lnSpc>
                <a:spcPct val="120000"/>
              </a:lnSpc>
              <a:buNone/>
              <a:defRPr sz="2000" b="1">
                <a:solidFill>
                  <a:schemeClr val="tx2"/>
                </a:solidFill>
              </a:defRPr>
            </a:lvl1pPr>
          </a:lstStyle>
          <a:p>
            <a:pPr lvl="0"/>
            <a:r>
              <a:rPr kumimoji="1" lang="ja-JP" altLang="en-US" dirty="0"/>
              <a:t>マスター テキストの書式設定</a:t>
            </a:r>
          </a:p>
        </p:txBody>
      </p:sp>
      <p:cxnSp>
        <p:nvCxnSpPr>
          <p:cNvPr id="4" name="直線コネクタ 3">
            <a:extLst>
              <a:ext uri="{FF2B5EF4-FFF2-40B4-BE49-F238E27FC236}">
                <a16:creationId xmlns:a16="http://schemas.microsoft.com/office/drawing/2014/main" id="{743AFCFE-FD6C-8723-B926-EFDAF3026A5B}"/>
              </a:ext>
            </a:extLst>
          </p:cNvPr>
          <p:cNvCxnSpPr/>
          <p:nvPr userDrawn="1"/>
        </p:nvCxnSpPr>
        <p:spPr>
          <a:xfrm>
            <a:off x="0" y="631846"/>
            <a:ext cx="9144000" cy="0"/>
          </a:xfrm>
          <a:prstGeom prst="line">
            <a:avLst/>
          </a:prstGeom>
          <a:ln w="19050">
            <a:solidFill>
              <a:schemeClr val="tx2"/>
            </a:solidFill>
            <a:tailEnd type="none"/>
          </a:ln>
        </p:spPr>
        <p:style>
          <a:lnRef idx="1">
            <a:schemeClr val="accent1"/>
          </a:lnRef>
          <a:fillRef idx="0">
            <a:schemeClr val="accent1"/>
          </a:fillRef>
          <a:effectRef idx="0">
            <a:schemeClr val="accent1"/>
          </a:effectRef>
          <a:fontRef idx="minor">
            <a:schemeClr val="tx1"/>
          </a:fontRef>
        </p:style>
      </p:cxnSp>
      <p:pic>
        <p:nvPicPr>
          <p:cNvPr id="6" name="図 5">
            <a:extLst>
              <a:ext uri="{FF2B5EF4-FFF2-40B4-BE49-F238E27FC236}">
                <a16:creationId xmlns:a16="http://schemas.microsoft.com/office/drawing/2014/main" id="{7CBDE361-4C96-2080-8259-B1051DDED1A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520948" y="50240"/>
            <a:ext cx="1373505" cy="548640"/>
          </a:xfrm>
          <a:prstGeom prst="rect">
            <a:avLst/>
          </a:prstGeom>
          <a:noFill/>
          <a:ln>
            <a:noFill/>
          </a:ln>
        </p:spPr>
      </p:pic>
      <p:sp>
        <p:nvSpPr>
          <p:cNvPr id="5" name="スライド番号プレースホルダー 5">
            <a:extLst>
              <a:ext uri="{FF2B5EF4-FFF2-40B4-BE49-F238E27FC236}">
                <a16:creationId xmlns:a16="http://schemas.microsoft.com/office/drawing/2014/main" id="{8AE0EDB6-1079-B4B9-9980-96B3A9CDC5CA}"/>
              </a:ext>
            </a:extLst>
          </p:cNvPr>
          <p:cNvSpPr>
            <a:spLocks noGrp="1"/>
          </p:cNvSpPr>
          <p:nvPr>
            <p:ph type="sldNum" sz="quarter" idx="12"/>
          </p:nvPr>
        </p:nvSpPr>
        <p:spPr>
          <a:xfrm>
            <a:off x="7086600" y="6492875"/>
            <a:ext cx="2057400" cy="365125"/>
          </a:xfrm>
        </p:spPr>
        <p:txBody>
          <a:bodyPr anchor="b"/>
          <a:lstStyle/>
          <a:p>
            <a:fld id="{5F9F9204-6EDA-41A6-81B7-5E8491083ADF}" type="slidenum">
              <a:rPr kumimoji="1" lang="ja-JP" altLang="en-US" smtClean="0"/>
              <a:t>‹#›</a:t>
            </a:fld>
            <a:endParaRPr kumimoji="1" lang="ja-JP" altLang="en-US" dirty="0"/>
          </a:p>
        </p:txBody>
      </p:sp>
    </p:spTree>
    <p:extLst>
      <p:ext uri="{BB962C8B-B14F-4D97-AF65-F5344CB8AC3E}">
        <p14:creationId xmlns:p14="http://schemas.microsoft.com/office/powerpoint/2010/main" val="1162862844"/>
      </p:ext>
    </p:extLst>
  </p:cSld>
  <p:clrMapOvr>
    <a:masterClrMapping/>
  </p:clrMapOvr>
  <p:extLst>
    <p:ext uri="{DCECCB84-F9BA-43D5-87BE-67443E8EF086}">
      <p15:sldGuideLst xmlns:p15="http://schemas.microsoft.com/office/powerpoint/2012/main">
        <p15:guide id="1" pos="158" userDrawn="1">
          <p15:clr>
            <a:srgbClr val="FBAE40"/>
          </p15:clr>
        </p15:guide>
        <p15:guide id="2" pos="5602" userDrawn="1">
          <p15:clr>
            <a:srgbClr val="FBAE40"/>
          </p15:clr>
        </p15:guide>
        <p15:guide id="3" orient="horz" pos="482" userDrawn="1">
          <p15:clr>
            <a:srgbClr val="FBAE40"/>
          </p15:clr>
        </p15:guide>
        <p15:guide id="4" orient="horz" pos="4201" userDrawn="1">
          <p15:clr>
            <a:srgbClr val="FBAE40"/>
          </p15:clr>
        </p15:guide>
        <p15:guide id="5" orient="horz" pos="39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9F4B0E-F75A-26F4-5D7E-9B9CB795D7D2}"/>
              </a:ext>
            </a:extLst>
          </p:cNvPr>
          <p:cNvSpPr>
            <a:spLocks noGrp="1"/>
          </p:cNvSpPr>
          <p:nvPr>
            <p:ph type="title"/>
          </p:nvPr>
        </p:nvSpPr>
        <p:spPr>
          <a:xfrm>
            <a:off x="623888" y="1709740"/>
            <a:ext cx="7886700" cy="738186"/>
          </a:xfrm>
        </p:spPr>
        <p:txBody>
          <a:bodyPr anchor="t">
            <a:normAutofit/>
          </a:bodyPr>
          <a:lstStyle>
            <a:lvl1pPr>
              <a:defRPr sz="3200"/>
            </a:lvl1p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3ED5EFBD-C65F-3A0C-98CB-9348CC9D6E0E}"/>
              </a:ext>
            </a:extLst>
          </p:cNvPr>
          <p:cNvSpPr>
            <a:spLocks noGrp="1"/>
          </p:cNvSpPr>
          <p:nvPr>
            <p:ph type="body" idx="1"/>
          </p:nvPr>
        </p:nvSpPr>
        <p:spPr>
          <a:xfrm>
            <a:off x="623888" y="2447926"/>
            <a:ext cx="7886700" cy="3641725"/>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dirty="0"/>
              <a:t>マスター テキストの書式設定</a:t>
            </a:r>
          </a:p>
        </p:txBody>
      </p:sp>
      <p:sp>
        <p:nvSpPr>
          <p:cNvPr id="4" name="日付プレースホルダー 3">
            <a:extLst>
              <a:ext uri="{FF2B5EF4-FFF2-40B4-BE49-F238E27FC236}">
                <a16:creationId xmlns:a16="http://schemas.microsoft.com/office/drawing/2014/main" id="{A2D5DB0F-7E09-AFC8-894D-5F3226F2379E}"/>
              </a:ext>
            </a:extLst>
          </p:cNvPr>
          <p:cNvSpPr>
            <a:spLocks noGrp="1"/>
          </p:cNvSpPr>
          <p:nvPr>
            <p:ph type="dt" sz="half" idx="10"/>
          </p:nvPr>
        </p:nvSpPr>
        <p:spPr/>
        <p:txBody>
          <a:bodyPr/>
          <a:lstStyle/>
          <a:p>
            <a:fld id="{9C88781E-B37B-498C-B592-566193CD11D6}" type="datetime1">
              <a:rPr kumimoji="1" lang="ja-JP" altLang="en-US" smtClean="0"/>
              <a:t>2026/3/30</a:t>
            </a:fld>
            <a:endParaRPr kumimoji="1" lang="ja-JP" altLang="en-US"/>
          </a:p>
        </p:txBody>
      </p:sp>
      <p:sp>
        <p:nvSpPr>
          <p:cNvPr id="5" name="フッター プレースホルダー 4">
            <a:extLst>
              <a:ext uri="{FF2B5EF4-FFF2-40B4-BE49-F238E27FC236}">
                <a16:creationId xmlns:a16="http://schemas.microsoft.com/office/drawing/2014/main" id="{7A1FC6E2-2A6A-391C-5EA1-92489315663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A320124-5A62-5366-7C97-89ADD8358D3E}"/>
              </a:ext>
            </a:extLst>
          </p:cNvPr>
          <p:cNvSpPr>
            <a:spLocks noGrp="1"/>
          </p:cNvSpPr>
          <p:nvPr>
            <p:ph type="sldNum" sz="quarter" idx="12"/>
          </p:nvPr>
        </p:nvSpPr>
        <p:spPr/>
        <p:txBody>
          <a:body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3142532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065460-1844-8400-0DCA-EA3D433A88B6}"/>
              </a:ext>
            </a:extLst>
          </p:cNvPr>
          <p:cNvSpPr>
            <a:spLocks noGrp="1"/>
          </p:cNvSpPr>
          <p:nvPr>
            <p:ph type="title"/>
          </p:nvPr>
        </p:nvSpPr>
        <p:spPr/>
        <p:txBody>
          <a:body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D1E9BE08-6D8C-FCE6-742B-77855EB692F1}"/>
              </a:ext>
            </a:extLst>
          </p:cNvPr>
          <p:cNvSpPr>
            <a:spLocks noGrp="1"/>
          </p:cNvSpPr>
          <p:nvPr>
            <p:ph sz="half" idx="1"/>
          </p:nvPr>
        </p:nvSpPr>
        <p:spPr>
          <a:xfrm>
            <a:off x="628650" y="1825625"/>
            <a:ext cx="388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59471BB-A138-C0B8-80BB-F90940F71F21}"/>
              </a:ext>
            </a:extLst>
          </p:cNvPr>
          <p:cNvSpPr>
            <a:spLocks noGrp="1"/>
          </p:cNvSpPr>
          <p:nvPr>
            <p:ph sz="half" idx="2"/>
          </p:nvPr>
        </p:nvSpPr>
        <p:spPr>
          <a:xfrm>
            <a:off x="4629150" y="1825625"/>
            <a:ext cx="388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805E80AF-F188-5593-3DA8-518A442D1154}"/>
              </a:ext>
            </a:extLst>
          </p:cNvPr>
          <p:cNvSpPr>
            <a:spLocks noGrp="1"/>
          </p:cNvSpPr>
          <p:nvPr>
            <p:ph type="dt" sz="half" idx="10"/>
          </p:nvPr>
        </p:nvSpPr>
        <p:spPr/>
        <p:txBody>
          <a:bodyPr/>
          <a:lstStyle/>
          <a:p>
            <a:fld id="{D742A040-F578-4526-AED1-5D5A2E3C0B30}" type="datetime1">
              <a:rPr kumimoji="1" lang="ja-JP" altLang="en-US" smtClean="0"/>
              <a:t>2026/3/30</a:t>
            </a:fld>
            <a:endParaRPr kumimoji="1" lang="ja-JP" altLang="en-US"/>
          </a:p>
        </p:txBody>
      </p:sp>
      <p:sp>
        <p:nvSpPr>
          <p:cNvPr id="6" name="フッター プレースホルダー 5">
            <a:extLst>
              <a:ext uri="{FF2B5EF4-FFF2-40B4-BE49-F238E27FC236}">
                <a16:creationId xmlns:a16="http://schemas.microsoft.com/office/drawing/2014/main" id="{8DC541B1-B533-61E8-BE1A-5E804A69E8D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07F367F-4095-FFD5-4431-913201A66372}"/>
              </a:ext>
            </a:extLst>
          </p:cNvPr>
          <p:cNvSpPr>
            <a:spLocks noGrp="1"/>
          </p:cNvSpPr>
          <p:nvPr>
            <p:ph type="sldNum" sz="quarter" idx="12"/>
          </p:nvPr>
        </p:nvSpPr>
        <p:spPr/>
        <p:txBody>
          <a:body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3897473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F8677B-218E-9977-F04F-B61E81268184}"/>
              </a:ext>
            </a:extLst>
          </p:cNvPr>
          <p:cNvSpPr>
            <a:spLocks noGrp="1"/>
          </p:cNvSpPr>
          <p:nvPr>
            <p:ph type="title"/>
          </p:nvPr>
        </p:nvSpPr>
        <p:spPr>
          <a:xfrm>
            <a:off x="629841" y="365126"/>
            <a:ext cx="78867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AC6C7D5-53A6-ECBF-566C-94510AD312FE}"/>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40E679C-3054-9B1B-B1D5-96B3B188649E}"/>
              </a:ext>
            </a:extLst>
          </p:cNvPr>
          <p:cNvSpPr>
            <a:spLocks noGrp="1"/>
          </p:cNvSpPr>
          <p:nvPr>
            <p:ph sz="half" idx="2"/>
          </p:nvPr>
        </p:nvSpPr>
        <p:spPr>
          <a:xfrm>
            <a:off x="629842" y="2505075"/>
            <a:ext cx="3868340"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06F4938B-8958-ACEF-58A4-FCB01C221E21}"/>
              </a:ext>
            </a:extLst>
          </p:cNvPr>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59C4401-74B2-95B8-1619-753B2188C3B5}"/>
              </a:ext>
            </a:extLst>
          </p:cNvPr>
          <p:cNvSpPr>
            <a:spLocks noGrp="1"/>
          </p:cNvSpPr>
          <p:nvPr>
            <p:ph sz="quarter" idx="4"/>
          </p:nvPr>
        </p:nvSpPr>
        <p:spPr>
          <a:xfrm>
            <a:off x="4629150" y="2505075"/>
            <a:ext cx="3887391"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2FB0F07-E912-8F91-1438-52872AD90645}"/>
              </a:ext>
            </a:extLst>
          </p:cNvPr>
          <p:cNvSpPr>
            <a:spLocks noGrp="1"/>
          </p:cNvSpPr>
          <p:nvPr>
            <p:ph type="dt" sz="half" idx="10"/>
          </p:nvPr>
        </p:nvSpPr>
        <p:spPr/>
        <p:txBody>
          <a:bodyPr/>
          <a:lstStyle/>
          <a:p>
            <a:fld id="{4AC83889-E7A7-4307-A152-83416CF3B1FC}" type="datetime1">
              <a:rPr kumimoji="1" lang="ja-JP" altLang="en-US" smtClean="0"/>
              <a:t>2026/3/30</a:t>
            </a:fld>
            <a:endParaRPr kumimoji="1" lang="ja-JP" altLang="en-US"/>
          </a:p>
        </p:txBody>
      </p:sp>
      <p:sp>
        <p:nvSpPr>
          <p:cNvPr id="8" name="フッター プレースホルダー 7">
            <a:extLst>
              <a:ext uri="{FF2B5EF4-FFF2-40B4-BE49-F238E27FC236}">
                <a16:creationId xmlns:a16="http://schemas.microsoft.com/office/drawing/2014/main" id="{2B3D0825-9A1B-B60B-FEC9-50F581793A6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0FD43DC-89F4-7D4C-43A1-2180B02F8745}"/>
              </a:ext>
            </a:extLst>
          </p:cNvPr>
          <p:cNvSpPr>
            <a:spLocks noGrp="1"/>
          </p:cNvSpPr>
          <p:nvPr>
            <p:ph type="sldNum" sz="quarter" idx="12"/>
          </p:nvPr>
        </p:nvSpPr>
        <p:spPr/>
        <p:txBody>
          <a:body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15907384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E9B930-99D2-CA91-9E6C-C666560B1111}"/>
              </a:ext>
            </a:extLst>
          </p:cNvPr>
          <p:cNvSpPr>
            <a:spLocks noGrp="1"/>
          </p:cNvSpPr>
          <p:nvPr>
            <p:ph type="title"/>
          </p:nvPr>
        </p:nvSpPr>
        <p:spPr/>
        <p:txBody>
          <a:bodyPr/>
          <a:lstStyle/>
          <a:p>
            <a:r>
              <a:rPr kumimoji="1" lang="ja-JP" altLang="en-US" dirty="0"/>
              <a:t>マスター タイトルの書式設定</a:t>
            </a:r>
          </a:p>
        </p:txBody>
      </p:sp>
      <p:sp>
        <p:nvSpPr>
          <p:cNvPr id="3" name="日付プレースホルダー 2">
            <a:extLst>
              <a:ext uri="{FF2B5EF4-FFF2-40B4-BE49-F238E27FC236}">
                <a16:creationId xmlns:a16="http://schemas.microsoft.com/office/drawing/2014/main" id="{4E8F3825-AB50-E451-DD14-682D48F79374}"/>
              </a:ext>
            </a:extLst>
          </p:cNvPr>
          <p:cNvSpPr>
            <a:spLocks noGrp="1"/>
          </p:cNvSpPr>
          <p:nvPr>
            <p:ph type="dt" sz="half" idx="10"/>
          </p:nvPr>
        </p:nvSpPr>
        <p:spPr/>
        <p:txBody>
          <a:bodyPr/>
          <a:lstStyle/>
          <a:p>
            <a:fld id="{7C41F7A6-A2C3-4FFD-9A1D-D541035EF5B8}" type="datetime1">
              <a:rPr kumimoji="1" lang="ja-JP" altLang="en-US" smtClean="0"/>
              <a:t>2026/3/30</a:t>
            </a:fld>
            <a:endParaRPr kumimoji="1" lang="ja-JP" altLang="en-US"/>
          </a:p>
        </p:txBody>
      </p:sp>
      <p:sp>
        <p:nvSpPr>
          <p:cNvPr id="4" name="フッター プレースホルダー 3">
            <a:extLst>
              <a:ext uri="{FF2B5EF4-FFF2-40B4-BE49-F238E27FC236}">
                <a16:creationId xmlns:a16="http://schemas.microsoft.com/office/drawing/2014/main" id="{86B791D0-AC9A-3F38-E17D-86F416087F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603F691-38F4-BB35-71B2-28990EDAC9B5}"/>
              </a:ext>
            </a:extLst>
          </p:cNvPr>
          <p:cNvSpPr txBox="1">
            <a:spLocks/>
          </p:cNvSpPr>
          <p:nvPr userDrawn="1"/>
        </p:nvSpPr>
        <p:spPr>
          <a:xfrm>
            <a:off x="7086600" y="6492875"/>
            <a:ext cx="2057400" cy="365125"/>
          </a:xfrm>
          <a:prstGeom prst="rect">
            <a:avLst/>
          </a:prstGeom>
        </p:spPr>
        <p:txBody>
          <a:bodyPr vert="horz" lIns="91440" tIns="45720" rIns="91440" bIns="45720" rtlCol="0" anchor="b"/>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F9F9204-6EDA-41A6-81B7-5E8491083ADF}" type="slidenum">
              <a:rPr lang="ja-JP" altLang="en-US" smtClean="0"/>
              <a:pPr/>
              <a:t>‹#›</a:t>
            </a:fld>
            <a:endParaRPr lang="ja-JP" altLang="en-US" dirty="0"/>
          </a:p>
        </p:txBody>
      </p:sp>
    </p:spTree>
    <p:extLst>
      <p:ext uri="{BB962C8B-B14F-4D97-AF65-F5344CB8AC3E}">
        <p14:creationId xmlns:p14="http://schemas.microsoft.com/office/powerpoint/2010/main" val="3518903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D9CD4ED-CD91-5688-19D7-3EC2B33D50EB}"/>
              </a:ext>
            </a:extLst>
          </p:cNvPr>
          <p:cNvSpPr>
            <a:spLocks noGrp="1"/>
          </p:cNvSpPr>
          <p:nvPr>
            <p:ph type="dt" sz="half" idx="10"/>
          </p:nvPr>
        </p:nvSpPr>
        <p:spPr/>
        <p:txBody>
          <a:bodyPr/>
          <a:lstStyle/>
          <a:p>
            <a:fld id="{814D900F-93F4-4CC1-A65D-6D29E93D5D58}" type="datetime1">
              <a:rPr kumimoji="1" lang="ja-JP" altLang="en-US" smtClean="0"/>
              <a:t>2026/3/30</a:t>
            </a:fld>
            <a:endParaRPr kumimoji="1" lang="ja-JP" altLang="en-US"/>
          </a:p>
        </p:txBody>
      </p:sp>
      <p:sp>
        <p:nvSpPr>
          <p:cNvPr id="3" name="フッター プレースホルダー 2">
            <a:extLst>
              <a:ext uri="{FF2B5EF4-FFF2-40B4-BE49-F238E27FC236}">
                <a16:creationId xmlns:a16="http://schemas.microsoft.com/office/drawing/2014/main" id="{78D66ECB-CE7F-FE8C-78C8-77522DB6F52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A407F73-1D13-56BE-822A-14DE082E4840}"/>
              </a:ext>
            </a:extLst>
          </p:cNvPr>
          <p:cNvSpPr>
            <a:spLocks noGrp="1"/>
          </p:cNvSpPr>
          <p:nvPr>
            <p:ph type="sldNum" sz="quarter" idx="12"/>
          </p:nvPr>
        </p:nvSpPr>
        <p:spPr/>
        <p:txBody>
          <a:body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38481359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1B1B15-DB96-98BB-B585-7A3FFD41E4FA}"/>
              </a:ext>
            </a:extLst>
          </p:cNvPr>
          <p:cNvSpPr>
            <a:spLocks noGrp="1"/>
          </p:cNvSpPr>
          <p:nvPr>
            <p:ph type="title"/>
          </p:nvPr>
        </p:nvSpPr>
        <p:spPr>
          <a:xfrm>
            <a:off x="629841" y="457200"/>
            <a:ext cx="2949178"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4037D5-5397-7E5D-4EB3-3A83A500C946}"/>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CF9D286B-7285-E6B7-5AAE-DFF85404F583}"/>
              </a:ext>
            </a:extLst>
          </p:cNvPr>
          <p:cNvSpPr>
            <a:spLocks noGrp="1"/>
          </p:cNvSpPr>
          <p:nvPr>
            <p:ph type="body" sz="half" idx="2"/>
          </p:nvPr>
        </p:nvSpPr>
        <p:spPr>
          <a:xfrm>
            <a:off x="629841" y="2057400"/>
            <a:ext cx="2949178" cy="3811588"/>
          </a:xfrm>
        </p:spPr>
        <p:txBody>
          <a:bodyPr/>
          <a:lstStyle>
            <a:lvl1pPr marL="0" indent="0">
              <a:lnSpc>
                <a:spcPct val="12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dirty="0"/>
              <a:t>マスター テキストの書式設定</a:t>
            </a:r>
          </a:p>
        </p:txBody>
      </p:sp>
      <p:sp>
        <p:nvSpPr>
          <p:cNvPr id="5" name="日付プレースホルダー 4">
            <a:extLst>
              <a:ext uri="{FF2B5EF4-FFF2-40B4-BE49-F238E27FC236}">
                <a16:creationId xmlns:a16="http://schemas.microsoft.com/office/drawing/2014/main" id="{58661D00-07ED-6B08-749E-C1114D48C6AF}"/>
              </a:ext>
            </a:extLst>
          </p:cNvPr>
          <p:cNvSpPr>
            <a:spLocks noGrp="1"/>
          </p:cNvSpPr>
          <p:nvPr>
            <p:ph type="dt" sz="half" idx="10"/>
          </p:nvPr>
        </p:nvSpPr>
        <p:spPr/>
        <p:txBody>
          <a:bodyPr/>
          <a:lstStyle/>
          <a:p>
            <a:fld id="{F2107EB8-E1C0-4D07-B4E5-B90661F15E76}" type="datetime1">
              <a:rPr kumimoji="1" lang="ja-JP" altLang="en-US" smtClean="0"/>
              <a:t>2026/3/30</a:t>
            </a:fld>
            <a:endParaRPr kumimoji="1" lang="ja-JP" altLang="en-US"/>
          </a:p>
        </p:txBody>
      </p:sp>
      <p:sp>
        <p:nvSpPr>
          <p:cNvPr id="6" name="フッター プレースホルダー 5">
            <a:extLst>
              <a:ext uri="{FF2B5EF4-FFF2-40B4-BE49-F238E27FC236}">
                <a16:creationId xmlns:a16="http://schemas.microsoft.com/office/drawing/2014/main" id="{3D6FA251-CC6F-68D2-499C-F920EC00D57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EEA2BE4-4E92-E9B7-376C-4082F1221699}"/>
              </a:ext>
            </a:extLst>
          </p:cNvPr>
          <p:cNvSpPr>
            <a:spLocks noGrp="1"/>
          </p:cNvSpPr>
          <p:nvPr>
            <p:ph type="sldNum" sz="quarter" idx="12"/>
          </p:nvPr>
        </p:nvSpPr>
        <p:spPr/>
        <p:txBody>
          <a:body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1421752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73024F-1E83-EADC-1ADB-8CFD98E9ED6A}"/>
              </a:ext>
            </a:extLst>
          </p:cNvPr>
          <p:cNvSpPr>
            <a:spLocks noGrp="1"/>
          </p:cNvSpPr>
          <p:nvPr>
            <p:ph type="title"/>
          </p:nvPr>
        </p:nvSpPr>
        <p:spPr>
          <a:xfrm>
            <a:off x="629841" y="457200"/>
            <a:ext cx="2949178"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EF8B5B6-340B-9852-C9FE-9E1BBBF7042C}"/>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F7DAE28-EEBE-C6C2-1A08-99B1EAB924B2}"/>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625D6B1-9F5E-8BB7-650D-6B81194FEE32}"/>
              </a:ext>
            </a:extLst>
          </p:cNvPr>
          <p:cNvSpPr>
            <a:spLocks noGrp="1"/>
          </p:cNvSpPr>
          <p:nvPr>
            <p:ph type="dt" sz="half" idx="10"/>
          </p:nvPr>
        </p:nvSpPr>
        <p:spPr/>
        <p:txBody>
          <a:bodyPr/>
          <a:lstStyle/>
          <a:p>
            <a:fld id="{92F9EA05-A5E0-4913-81FE-4E6D0DEBCFEB}" type="datetime1">
              <a:rPr kumimoji="1" lang="ja-JP" altLang="en-US" smtClean="0"/>
              <a:t>2026/3/30</a:t>
            </a:fld>
            <a:endParaRPr kumimoji="1" lang="ja-JP" altLang="en-US"/>
          </a:p>
        </p:txBody>
      </p:sp>
      <p:sp>
        <p:nvSpPr>
          <p:cNvPr id="6" name="フッター プレースホルダー 5">
            <a:extLst>
              <a:ext uri="{FF2B5EF4-FFF2-40B4-BE49-F238E27FC236}">
                <a16:creationId xmlns:a16="http://schemas.microsoft.com/office/drawing/2014/main" id="{5E7C7862-F867-C23F-C952-D4EA85BE105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6E7B6A2-C404-A04C-E4DF-1E9ADA26BC09}"/>
              </a:ext>
            </a:extLst>
          </p:cNvPr>
          <p:cNvSpPr>
            <a:spLocks noGrp="1"/>
          </p:cNvSpPr>
          <p:nvPr>
            <p:ph type="sldNum" sz="quarter" idx="12"/>
          </p:nvPr>
        </p:nvSpPr>
        <p:spPr/>
        <p:txBody>
          <a:body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719901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EA5E9E-CE23-F13D-7487-093025F186D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F7F2E53-0EB3-E34D-89C7-C27D97181B6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95E7032-4FFF-B4FB-E34C-AA1517853F83}"/>
              </a:ext>
            </a:extLst>
          </p:cNvPr>
          <p:cNvSpPr>
            <a:spLocks noGrp="1"/>
          </p:cNvSpPr>
          <p:nvPr>
            <p:ph type="dt" sz="half" idx="10"/>
          </p:nvPr>
        </p:nvSpPr>
        <p:spPr/>
        <p:txBody>
          <a:bodyPr/>
          <a:lstStyle/>
          <a:p>
            <a:fld id="{9AADF8DB-01EA-4984-AD13-998812B79867}" type="datetime1">
              <a:rPr kumimoji="1" lang="ja-JP" altLang="en-US" smtClean="0"/>
              <a:t>2026/3/30</a:t>
            </a:fld>
            <a:endParaRPr kumimoji="1" lang="ja-JP" altLang="en-US"/>
          </a:p>
        </p:txBody>
      </p:sp>
      <p:sp>
        <p:nvSpPr>
          <p:cNvPr id="5" name="フッター プレースホルダー 4">
            <a:extLst>
              <a:ext uri="{FF2B5EF4-FFF2-40B4-BE49-F238E27FC236}">
                <a16:creationId xmlns:a16="http://schemas.microsoft.com/office/drawing/2014/main" id="{FE089649-4C21-10FC-47D6-EAEDB2E1603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54C6EDB-66FA-4368-2BA4-835B0933E33E}"/>
              </a:ext>
            </a:extLst>
          </p:cNvPr>
          <p:cNvSpPr>
            <a:spLocks noGrp="1"/>
          </p:cNvSpPr>
          <p:nvPr>
            <p:ph type="sldNum" sz="quarter" idx="12"/>
          </p:nvPr>
        </p:nvSpPr>
        <p:spPr/>
        <p:txBody>
          <a:body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2037952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1E0A5FB-2404-C379-9477-E90D8F300F39}"/>
              </a:ext>
            </a:extLst>
          </p:cNvPr>
          <p:cNvSpPr>
            <a:spLocks noGrp="1"/>
          </p:cNvSpPr>
          <p:nvPr>
            <p:ph type="title" orient="vert"/>
          </p:nvPr>
        </p:nvSpPr>
        <p:spPr>
          <a:xfrm>
            <a:off x="6543675" y="365125"/>
            <a:ext cx="1971675"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03F4AC3-377E-A987-F2FE-AB376C34A197}"/>
              </a:ext>
            </a:extLst>
          </p:cNvPr>
          <p:cNvSpPr>
            <a:spLocks noGrp="1"/>
          </p:cNvSpPr>
          <p:nvPr>
            <p:ph type="body" orient="vert" idx="1"/>
          </p:nvPr>
        </p:nvSpPr>
        <p:spPr>
          <a:xfrm>
            <a:off x="628650" y="365125"/>
            <a:ext cx="5800725"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F26D0B0-C10F-0EE2-A9B2-7C3C453CBB8A}"/>
              </a:ext>
            </a:extLst>
          </p:cNvPr>
          <p:cNvSpPr>
            <a:spLocks noGrp="1"/>
          </p:cNvSpPr>
          <p:nvPr>
            <p:ph type="dt" sz="half" idx="10"/>
          </p:nvPr>
        </p:nvSpPr>
        <p:spPr/>
        <p:txBody>
          <a:bodyPr/>
          <a:lstStyle/>
          <a:p>
            <a:fld id="{F69B53DD-7511-48D0-A9B9-CC2780212B4E}" type="datetime1">
              <a:rPr kumimoji="1" lang="ja-JP" altLang="en-US" smtClean="0"/>
              <a:t>2026/3/30</a:t>
            </a:fld>
            <a:endParaRPr kumimoji="1" lang="ja-JP" altLang="en-US"/>
          </a:p>
        </p:txBody>
      </p:sp>
      <p:sp>
        <p:nvSpPr>
          <p:cNvPr id="5" name="フッター プレースホルダー 4">
            <a:extLst>
              <a:ext uri="{FF2B5EF4-FFF2-40B4-BE49-F238E27FC236}">
                <a16:creationId xmlns:a16="http://schemas.microsoft.com/office/drawing/2014/main" id="{E9024A32-5F39-8155-CC1E-DB430122643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58E5E93-647C-E327-1F5A-5CFB306F6E4A}"/>
              </a:ext>
            </a:extLst>
          </p:cNvPr>
          <p:cNvSpPr>
            <a:spLocks noGrp="1"/>
          </p:cNvSpPr>
          <p:nvPr>
            <p:ph type="sldNum" sz="quarter" idx="12"/>
          </p:nvPr>
        </p:nvSpPr>
        <p:spPr/>
        <p:txBody>
          <a:body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351456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0ECF555-F676-BBF7-F201-1C41447D14CA}"/>
              </a:ext>
            </a:extLst>
          </p:cNvPr>
          <p:cNvSpPr>
            <a:spLocks noGrp="1"/>
          </p:cNvSpPr>
          <p:nvPr>
            <p:ph type="title"/>
          </p:nvPr>
        </p:nvSpPr>
        <p:spPr>
          <a:xfrm>
            <a:off x="254479" y="211304"/>
            <a:ext cx="8635042" cy="415924"/>
          </a:xfrm>
          <a:prstGeom prst="rect">
            <a:avLst/>
          </a:prstGeom>
        </p:spPr>
        <p:txBody>
          <a:bodyPr vert="horz" lIns="91440" tIns="10800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80E40EE3-B561-18B3-7BCA-7C15C427CC3A}"/>
              </a:ext>
            </a:extLst>
          </p:cNvPr>
          <p:cNvSpPr>
            <a:spLocks noGrp="1"/>
          </p:cNvSpPr>
          <p:nvPr>
            <p:ph type="body" idx="1"/>
          </p:nvPr>
        </p:nvSpPr>
        <p:spPr>
          <a:xfrm>
            <a:off x="254479" y="707366"/>
            <a:ext cx="8635042" cy="5469597"/>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CBD290FA-C9C5-97FD-9231-BD72B8D06757}"/>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0B0235-1A61-4659-B66F-45C638F78BA9}" type="datetime1">
              <a:rPr kumimoji="1" lang="ja-JP" altLang="en-US" smtClean="0"/>
              <a:t>2026/3/30</a:t>
            </a:fld>
            <a:endParaRPr kumimoji="1" lang="ja-JP" altLang="en-US"/>
          </a:p>
        </p:txBody>
      </p:sp>
      <p:sp>
        <p:nvSpPr>
          <p:cNvPr id="5" name="フッター プレースホルダー 4">
            <a:extLst>
              <a:ext uri="{FF2B5EF4-FFF2-40B4-BE49-F238E27FC236}">
                <a16:creationId xmlns:a16="http://schemas.microsoft.com/office/drawing/2014/main" id="{B8C3AB0E-819E-DF8B-F75F-179FDA45B43F}"/>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B32CE6B-02CE-2CEE-C834-500B34BFC7B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9F9204-6EDA-41A6-81B7-5E8491083ADF}" type="slidenum">
              <a:rPr kumimoji="1" lang="ja-JP" altLang="en-US" smtClean="0"/>
              <a:t>‹#›</a:t>
            </a:fld>
            <a:endParaRPr kumimoji="1" lang="ja-JP" altLang="en-US"/>
          </a:p>
        </p:txBody>
      </p:sp>
    </p:spTree>
    <p:extLst>
      <p:ext uri="{BB962C8B-B14F-4D97-AF65-F5344CB8AC3E}">
        <p14:creationId xmlns:p14="http://schemas.microsoft.com/office/powerpoint/2010/main" val="38188835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2800" b="1"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kumimoji="1" sz="20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15.xml"/><Relationship Id="rId18" Type="http://schemas.openxmlformats.org/officeDocument/2006/relationships/slide" Target="slide20.xml"/><Relationship Id="rId3" Type="http://schemas.openxmlformats.org/officeDocument/2006/relationships/slide" Target="slide3.xml"/><Relationship Id="rId21" Type="http://schemas.openxmlformats.org/officeDocument/2006/relationships/slide" Target="slide23.xml"/><Relationship Id="rId7" Type="http://schemas.openxmlformats.org/officeDocument/2006/relationships/slide" Target="slide8.xml"/><Relationship Id="rId12" Type="http://schemas.openxmlformats.org/officeDocument/2006/relationships/slide" Target="slide14.xml"/><Relationship Id="rId17" Type="http://schemas.openxmlformats.org/officeDocument/2006/relationships/slide" Target="slide19.xml"/><Relationship Id="rId2" Type="http://schemas.openxmlformats.org/officeDocument/2006/relationships/notesSlide" Target="../notesSlides/notesSlide2.xml"/><Relationship Id="rId16" Type="http://schemas.openxmlformats.org/officeDocument/2006/relationships/slide" Target="slide18.xml"/><Relationship Id="rId20" Type="http://schemas.openxmlformats.org/officeDocument/2006/relationships/slide" Target="slide22.xml"/><Relationship Id="rId1" Type="http://schemas.openxmlformats.org/officeDocument/2006/relationships/slideLayout" Target="../slideLayouts/slideLayout6.xml"/><Relationship Id="rId6" Type="http://schemas.openxmlformats.org/officeDocument/2006/relationships/slide" Target="slide7.xml"/><Relationship Id="rId11" Type="http://schemas.openxmlformats.org/officeDocument/2006/relationships/slide" Target="slide13.xml"/><Relationship Id="rId5" Type="http://schemas.openxmlformats.org/officeDocument/2006/relationships/slide" Target="slide5.xml"/><Relationship Id="rId15" Type="http://schemas.openxmlformats.org/officeDocument/2006/relationships/slide" Target="slide17.xml"/><Relationship Id="rId10" Type="http://schemas.openxmlformats.org/officeDocument/2006/relationships/slide" Target="slide11.xml"/><Relationship Id="rId19" Type="http://schemas.openxmlformats.org/officeDocument/2006/relationships/slide" Target="slide21.xml"/><Relationship Id="rId4" Type="http://schemas.openxmlformats.org/officeDocument/2006/relationships/slide" Target="slide4.xml"/><Relationship Id="rId9" Type="http://schemas.openxmlformats.org/officeDocument/2006/relationships/slide" Target="slide10.xml"/><Relationship Id="rId14" Type="http://schemas.openxmlformats.org/officeDocument/2006/relationships/slide" Target="slide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jpe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hyperlink" Target="https://www.naro.go.jp/publicity_report/publication/files/3f7c9bb6537fe89b7cb9de5122c7b59c_1.pdf"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jma.go.jp/jma/kishou/know/kisetsu_riyou/method/ensemble.html#ensemble"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hyperlink" Target="https://www.data.jma.go.jp/risk/probability/info/number.html"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hyperlink" Target="https://www.jma.go.jp/jma/kishou/know/kisetsu_riyou/method/ensemble.html#ensemble" TargetMode="External"/><Relationship Id="rId5" Type="http://schemas.openxmlformats.org/officeDocument/2006/relationships/hyperlink" Target="https://www.data.jma.go.jp/risk/probability/info/number.html" TargetMode="Externa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131558-221D-221E-EF46-0F1F11188203}"/>
              </a:ext>
            </a:extLst>
          </p:cNvPr>
          <p:cNvSpPr>
            <a:spLocks noGrp="1"/>
          </p:cNvSpPr>
          <p:nvPr>
            <p:ph type="ctrTitle"/>
          </p:nvPr>
        </p:nvSpPr>
        <p:spPr>
          <a:xfrm>
            <a:off x="472440" y="1469470"/>
            <a:ext cx="6858000" cy="2387600"/>
          </a:xfrm>
        </p:spPr>
        <p:txBody>
          <a:bodyPr anchor="ctr">
            <a:normAutofit/>
          </a:bodyPr>
          <a:lstStyle/>
          <a:p>
            <a:pPr algn="l"/>
            <a:r>
              <a:rPr kumimoji="1" lang="ja-JP" altLang="en-US" sz="4400" b="1" dirty="0"/>
              <a:t>農業に役立つ</a:t>
            </a:r>
            <a:r>
              <a:rPr kumimoji="1" lang="ja-JP" altLang="en-US" sz="4400" dirty="0"/>
              <a:t>気象情報</a:t>
            </a:r>
            <a:r>
              <a:rPr lang="ja-JP" altLang="en-US" sz="4400" dirty="0"/>
              <a:t>の</a:t>
            </a:r>
            <a:r>
              <a:rPr kumimoji="1" lang="ja-JP" altLang="en-US" sz="4400" dirty="0"/>
              <a:t>利用の手引き　</a:t>
            </a:r>
          </a:p>
        </p:txBody>
      </p:sp>
      <p:sp>
        <p:nvSpPr>
          <p:cNvPr id="5" name="テキスト ボックス 4">
            <a:extLst>
              <a:ext uri="{FF2B5EF4-FFF2-40B4-BE49-F238E27FC236}">
                <a16:creationId xmlns:a16="http://schemas.microsoft.com/office/drawing/2014/main" id="{A3F8B02D-2CE0-1A83-3466-CA9E72F0C658}"/>
              </a:ext>
            </a:extLst>
          </p:cNvPr>
          <p:cNvSpPr txBox="1"/>
          <p:nvPr/>
        </p:nvSpPr>
        <p:spPr>
          <a:xfrm>
            <a:off x="519142" y="3663305"/>
            <a:ext cx="7650480" cy="523220"/>
          </a:xfrm>
          <a:prstGeom prst="rect">
            <a:avLst/>
          </a:prstGeom>
          <a:noFill/>
        </p:spPr>
        <p:txBody>
          <a:bodyPr wrap="square" rtlCol="0">
            <a:spAutoFit/>
          </a:bodyPr>
          <a:lstStyle/>
          <a:p>
            <a:r>
              <a:rPr kumimoji="1" lang="ja-JP" altLang="en-US" sz="2800" b="1" dirty="0"/>
              <a:t>気象データを活用するために</a:t>
            </a:r>
            <a:endParaRPr kumimoji="1" lang="en-US" altLang="ja-JP" sz="2800" b="1" dirty="0"/>
          </a:p>
        </p:txBody>
      </p:sp>
      <p:sp>
        <p:nvSpPr>
          <p:cNvPr id="8" name="楕円 7">
            <a:extLst>
              <a:ext uri="{FF2B5EF4-FFF2-40B4-BE49-F238E27FC236}">
                <a16:creationId xmlns:a16="http://schemas.microsoft.com/office/drawing/2014/main" id="{775122C0-6947-627E-DD43-109822DC0FB1}"/>
              </a:ext>
            </a:extLst>
          </p:cNvPr>
          <p:cNvSpPr>
            <a:spLocks noChangeAspect="1"/>
          </p:cNvSpPr>
          <p:nvPr/>
        </p:nvSpPr>
        <p:spPr>
          <a:xfrm>
            <a:off x="6981622" y="2046001"/>
            <a:ext cx="1188000" cy="1188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9" name="テキスト ボックス 8">
            <a:extLst>
              <a:ext uri="{FF2B5EF4-FFF2-40B4-BE49-F238E27FC236}">
                <a16:creationId xmlns:a16="http://schemas.microsoft.com/office/drawing/2014/main" id="{E7E80244-C407-B70A-B5B5-807ABC45C975}"/>
              </a:ext>
            </a:extLst>
          </p:cNvPr>
          <p:cNvSpPr txBox="1"/>
          <p:nvPr/>
        </p:nvSpPr>
        <p:spPr>
          <a:xfrm>
            <a:off x="6981622" y="2420979"/>
            <a:ext cx="1188720" cy="584775"/>
          </a:xfrm>
          <a:prstGeom prst="rect">
            <a:avLst/>
          </a:prstGeom>
          <a:noFill/>
        </p:spPr>
        <p:txBody>
          <a:bodyPr wrap="square" rtlCol="0">
            <a:spAutoFit/>
          </a:bodyPr>
          <a:lstStyle/>
          <a:p>
            <a:pPr algn="ctr"/>
            <a:r>
              <a:rPr lang="ja-JP" altLang="en-US" sz="3200" b="1" dirty="0">
                <a:solidFill>
                  <a:schemeClr val="bg1"/>
                </a:solidFill>
              </a:rPr>
              <a:t>別冊</a:t>
            </a:r>
            <a:endParaRPr kumimoji="1" lang="ja-JP" altLang="en-US" sz="3200" b="1" dirty="0">
              <a:solidFill>
                <a:schemeClr val="bg1"/>
              </a:solidFill>
            </a:endParaRPr>
          </a:p>
        </p:txBody>
      </p:sp>
      <p:sp>
        <p:nvSpPr>
          <p:cNvPr id="10" name="字幕 2">
            <a:extLst>
              <a:ext uri="{FF2B5EF4-FFF2-40B4-BE49-F238E27FC236}">
                <a16:creationId xmlns:a16="http://schemas.microsoft.com/office/drawing/2014/main" id="{E47707B5-F931-6781-4B97-0E071F4E83A4}"/>
              </a:ext>
            </a:extLst>
          </p:cNvPr>
          <p:cNvSpPr>
            <a:spLocks noGrp="1"/>
          </p:cNvSpPr>
          <p:nvPr>
            <p:ph type="subTitle" idx="1"/>
          </p:nvPr>
        </p:nvSpPr>
        <p:spPr>
          <a:xfrm>
            <a:off x="519142" y="4238126"/>
            <a:ext cx="6858000" cy="1655762"/>
          </a:xfrm>
        </p:spPr>
        <p:txBody>
          <a:bodyPr anchor="b"/>
          <a:lstStyle/>
          <a:p>
            <a:pPr algn="l"/>
            <a:r>
              <a:rPr kumimoji="1" lang="ja-JP" altLang="en-US" sz="2000" dirty="0"/>
              <a:t>作成：令和</a:t>
            </a:r>
            <a:r>
              <a:rPr lang="en-US" altLang="ja-JP" sz="2000" dirty="0"/>
              <a:t>5</a:t>
            </a:r>
            <a:r>
              <a:rPr kumimoji="1" lang="ja-JP" altLang="en-US" sz="2000" dirty="0"/>
              <a:t>年</a:t>
            </a:r>
            <a:r>
              <a:rPr kumimoji="1" lang="en-US" altLang="ja-JP" sz="2000" dirty="0"/>
              <a:t>3</a:t>
            </a:r>
            <a:r>
              <a:rPr kumimoji="1" lang="ja-JP" altLang="en-US" sz="2000" dirty="0"/>
              <a:t>月</a:t>
            </a:r>
            <a:r>
              <a:rPr kumimoji="1" lang="en-US" altLang="ja-JP" sz="2000" dirty="0"/>
              <a:t>23</a:t>
            </a:r>
            <a:r>
              <a:rPr kumimoji="1" lang="ja-JP" altLang="en-US" sz="2000" dirty="0"/>
              <a:t>日　</a:t>
            </a:r>
            <a:endParaRPr kumimoji="1" lang="en-US" altLang="ja-JP" sz="2000" dirty="0"/>
          </a:p>
          <a:p>
            <a:pPr algn="l"/>
            <a:r>
              <a:rPr kumimoji="1" lang="ja-JP" altLang="en-US" sz="2000" dirty="0"/>
              <a:t>改訂：令和</a:t>
            </a:r>
            <a:r>
              <a:rPr lang="en-US" altLang="ja-JP" sz="2000" dirty="0"/>
              <a:t>8</a:t>
            </a:r>
            <a:r>
              <a:rPr kumimoji="1" lang="ja-JP" altLang="en-US" sz="2000" dirty="0"/>
              <a:t>年</a:t>
            </a:r>
            <a:r>
              <a:rPr kumimoji="1" lang="en-US" altLang="ja-JP" sz="2000" dirty="0"/>
              <a:t>3</a:t>
            </a:r>
            <a:r>
              <a:rPr kumimoji="1" lang="ja-JP" altLang="en-US" sz="2000" dirty="0"/>
              <a:t>月</a:t>
            </a:r>
            <a:r>
              <a:rPr lang="en-US" altLang="ja-JP" sz="2000" dirty="0"/>
              <a:t>30</a:t>
            </a:r>
            <a:r>
              <a:rPr kumimoji="1" lang="ja-JP" altLang="en-US" sz="2000" dirty="0"/>
              <a:t>日</a:t>
            </a:r>
            <a:endParaRPr kumimoji="1" lang="en-US" altLang="ja-JP" sz="2000" dirty="0"/>
          </a:p>
          <a:p>
            <a:pPr algn="l"/>
            <a:endParaRPr kumimoji="1" lang="en-US" altLang="ja-JP" sz="1000" dirty="0"/>
          </a:p>
          <a:p>
            <a:pPr algn="l"/>
            <a:r>
              <a:rPr kumimoji="1" lang="ja-JP" altLang="en-US" dirty="0"/>
              <a:t>気象庁</a:t>
            </a:r>
          </a:p>
        </p:txBody>
      </p:sp>
      <p:cxnSp>
        <p:nvCxnSpPr>
          <p:cNvPr id="12" name="直線コネクタ 11">
            <a:extLst>
              <a:ext uri="{FF2B5EF4-FFF2-40B4-BE49-F238E27FC236}">
                <a16:creationId xmlns:a16="http://schemas.microsoft.com/office/drawing/2014/main" id="{C9AB24CE-1147-EE56-645F-9D48F5385132}"/>
              </a:ext>
            </a:extLst>
          </p:cNvPr>
          <p:cNvCxnSpPr/>
          <p:nvPr/>
        </p:nvCxnSpPr>
        <p:spPr>
          <a:xfrm>
            <a:off x="290542" y="3444240"/>
            <a:ext cx="8604000" cy="0"/>
          </a:xfrm>
          <a:prstGeom prst="line">
            <a:avLst/>
          </a:prstGeom>
          <a:ln w="25400">
            <a:solidFill>
              <a:schemeClr val="tx2"/>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7246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8D6F45-8F3E-F513-18D1-956184520AA7}"/>
              </a:ext>
            </a:extLst>
          </p:cNvPr>
          <p:cNvSpPr>
            <a:spLocks noGrp="1"/>
          </p:cNvSpPr>
          <p:nvPr>
            <p:ph type="title"/>
          </p:nvPr>
        </p:nvSpPr>
        <p:spPr>
          <a:xfrm>
            <a:off x="254479" y="477200"/>
            <a:ext cx="8635042" cy="415924"/>
          </a:xfrm>
        </p:spPr>
        <p:txBody>
          <a:bodyPr>
            <a:normAutofit fontScale="90000"/>
          </a:bodyPr>
          <a:lstStyle/>
          <a:p>
            <a:pPr algn="ctr"/>
            <a:r>
              <a:rPr kumimoji="1" lang="ja-JP" altLang="en-US" sz="3600" dirty="0"/>
              <a:t>目次</a:t>
            </a:r>
            <a:endParaRPr kumimoji="1" lang="ja-JP" altLang="en-US" sz="4000" dirty="0"/>
          </a:p>
        </p:txBody>
      </p:sp>
      <p:sp>
        <p:nvSpPr>
          <p:cNvPr id="6" name="テキスト ボックス 5">
            <a:extLst>
              <a:ext uri="{FF2B5EF4-FFF2-40B4-BE49-F238E27FC236}">
                <a16:creationId xmlns:a16="http://schemas.microsoft.com/office/drawing/2014/main" id="{3F23EB68-9B6C-7096-FABD-E91C263A05A5}"/>
              </a:ext>
            </a:extLst>
          </p:cNvPr>
          <p:cNvSpPr txBox="1"/>
          <p:nvPr/>
        </p:nvSpPr>
        <p:spPr>
          <a:xfrm>
            <a:off x="251432" y="1285400"/>
            <a:ext cx="4320568" cy="3625608"/>
          </a:xfrm>
          <a:prstGeom prst="rect">
            <a:avLst/>
          </a:prstGeom>
          <a:noFill/>
        </p:spPr>
        <p:txBody>
          <a:bodyPr wrap="square">
            <a:spAutoFit/>
          </a:bodyPr>
          <a:lstStyle/>
          <a:p>
            <a:pPr defTabSz="449263">
              <a:lnSpc>
                <a:spcPct val="140000"/>
              </a:lnSpc>
            </a:pPr>
            <a:r>
              <a:rPr lang="en-US" altLang="ja-JP" sz="1200" b="1" dirty="0"/>
              <a:t>2</a:t>
            </a:r>
            <a:r>
              <a:rPr lang="en-US" altLang="ja-JP" sz="1600" b="1" dirty="0"/>
              <a:t>	</a:t>
            </a:r>
            <a:r>
              <a:rPr lang="ja-JP" altLang="en-US" sz="2000" b="1" dirty="0">
                <a:solidFill>
                  <a:schemeClr val="tx2"/>
                </a:solidFill>
                <a:hlinkClick r:id="rId3" action="ppaction://hlinksldjump">
                  <a:extLst>
                    <a:ext uri="{A12FA001-AC4F-418D-AE19-62706E023703}">
                      <ahyp:hlinkClr xmlns:ahyp="http://schemas.microsoft.com/office/drawing/2018/hyperlinkcolor" val="tx"/>
                    </a:ext>
                  </a:extLst>
                </a:hlinkClick>
              </a:rPr>
              <a:t>気象データの活用事例</a:t>
            </a:r>
            <a:endParaRPr lang="ja-JP" altLang="en-US" sz="2000" b="1" dirty="0">
              <a:solidFill>
                <a:schemeClr val="tx2"/>
              </a:solidFill>
            </a:endParaRPr>
          </a:p>
          <a:p>
            <a:pPr defTabSz="449263">
              <a:lnSpc>
                <a:spcPct val="140000"/>
              </a:lnSpc>
            </a:pPr>
            <a:r>
              <a:rPr lang="en-US" altLang="ja-JP" sz="1200" b="1" dirty="0"/>
              <a:t>3</a:t>
            </a:r>
            <a:r>
              <a:rPr lang="en-US" altLang="ja-JP" sz="1200" dirty="0"/>
              <a:t>	</a:t>
            </a:r>
            <a:r>
              <a:rPr lang="ja-JP" altLang="en-US" sz="1200" dirty="0">
                <a:hlinkClick r:id="rId4" action="ppaction://hlinksldjump"/>
              </a:rPr>
              <a:t>気象データを活用してみませんか？</a:t>
            </a:r>
            <a:endParaRPr lang="ja-JP" altLang="en-US" sz="1200" dirty="0"/>
          </a:p>
          <a:p>
            <a:pPr defTabSz="449263">
              <a:lnSpc>
                <a:spcPct val="140000"/>
              </a:lnSpc>
            </a:pPr>
            <a:r>
              <a:rPr lang="en-US" altLang="ja-JP" sz="1200" b="1" dirty="0"/>
              <a:t>4</a:t>
            </a:r>
            <a:r>
              <a:rPr lang="en-US" altLang="ja-JP" sz="1200" dirty="0"/>
              <a:t>	</a:t>
            </a:r>
            <a:r>
              <a:rPr lang="ja-JP" altLang="en-US" sz="1200" dirty="0">
                <a:hlinkClick r:id="rId5" action="ppaction://hlinksldjump"/>
              </a:rPr>
              <a:t>気象データの活用イメージ</a:t>
            </a:r>
            <a:endParaRPr lang="en-US" altLang="ja-JP" sz="1200" dirty="0"/>
          </a:p>
          <a:p>
            <a:pPr defTabSz="449263">
              <a:lnSpc>
                <a:spcPct val="140000"/>
              </a:lnSpc>
            </a:pPr>
            <a:r>
              <a:rPr lang="en-US" altLang="ja-JP" sz="1200" b="1" dirty="0"/>
              <a:t>6</a:t>
            </a:r>
            <a:r>
              <a:rPr lang="en-US" altLang="ja-JP" sz="1200" dirty="0"/>
              <a:t>	</a:t>
            </a:r>
            <a:r>
              <a:rPr lang="ja-JP" altLang="en-US" sz="1200" dirty="0">
                <a:hlinkClick r:id="rId6" action="ppaction://hlinksldjump"/>
              </a:rPr>
              <a:t>農業における気温予測データの活用事例</a:t>
            </a:r>
            <a:endParaRPr lang="en-US" altLang="ja-JP" sz="1200" dirty="0"/>
          </a:p>
          <a:p>
            <a:pPr defTabSz="449263">
              <a:lnSpc>
                <a:spcPct val="140000"/>
              </a:lnSpc>
            </a:pPr>
            <a:r>
              <a:rPr lang="en-US" altLang="ja-JP" sz="1200" b="1" dirty="0"/>
              <a:t>7</a:t>
            </a:r>
            <a:r>
              <a:rPr lang="en-US" altLang="ja-JP" sz="1200" dirty="0"/>
              <a:t>	</a:t>
            </a:r>
            <a:r>
              <a:rPr lang="ja-JP" altLang="en-US" sz="1200" dirty="0">
                <a:hlinkClick r:id="rId7" action="ppaction://hlinksldjump"/>
              </a:rPr>
              <a:t>活用事例１｜水稲生育予測システム（千葉県）</a:t>
            </a:r>
            <a:endParaRPr lang="en-US" altLang="ja-JP" sz="1200" dirty="0"/>
          </a:p>
          <a:p>
            <a:pPr defTabSz="449263">
              <a:lnSpc>
                <a:spcPct val="150000"/>
              </a:lnSpc>
            </a:pPr>
            <a:r>
              <a:rPr lang="en-US" altLang="ja-JP" sz="1200" b="1" dirty="0"/>
              <a:t>8</a:t>
            </a:r>
            <a:r>
              <a:rPr lang="en-US" altLang="ja-JP" sz="1200" dirty="0"/>
              <a:t>	</a:t>
            </a:r>
            <a:r>
              <a:rPr lang="ja-JP" altLang="en-US" sz="1200" dirty="0">
                <a:hlinkClick r:id="rId8" action="ppaction://hlinksldjump"/>
              </a:rPr>
              <a:t>活用事例２｜おきたま米づくり情報（山形県）</a:t>
            </a:r>
            <a:endParaRPr lang="en-US" altLang="ja-JP" sz="1200" dirty="0"/>
          </a:p>
          <a:p>
            <a:pPr defTabSz="449263">
              <a:lnSpc>
                <a:spcPct val="140000"/>
              </a:lnSpc>
            </a:pPr>
            <a:r>
              <a:rPr lang="en-US" altLang="ja-JP" sz="1200" b="1" dirty="0"/>
              <a:t>9</a:t>
            </a:r>
            <a:r>
              <a:rPr lang="en-US" altLang="ja-JP" sz="1200" dirty="0"/>
              <a:t>	</a:t>
            </a:r>
            <a:r>
              <a:rPr lang="ja-JP" altLang="en-US" sz="1200" dirty="0">
                <a:hlinkClick r:id="rId9" action="ppaction://hlinksldjump"/>
              </a:rPr>
              <a:t>活用事例３｜</a:t>
            </a:r>
            <a:r>
              <a:rPr lang="zh-TW" altLang="en-US" sz="1200" dirty="0">
                <a:hlinkClick r:id="rId9" action="ppaction://hlinksldjump"/>
              </a:rPr>
              <a:t>稲作技術情報（新潟県）</a:t>
            </a:r>
            <a:endParaRPr lang="en-US" altLang="zh-TW" sz="1200" dirty="0"/>
          </a:p>
          <a:p>
            <a:pPr defTabSz="449263">
              <a:lnSpc>
                <a:spcPct val="140000"/>
              </a:lnSpc>
            </a:pPr>
            <a:r>
              <a:rPr lang="en-US" altLang="ja-JP" sz="1200" b="1" dirty="0"/>
              <a:t>10</a:t>
            </a:r>
            <a:r>
              <a:rPr lang="en-US" altLang="ja-JP" sz="1200" dirty="0"/>
              <a:t>	</a:t>
            </a:r>
            <a:r>
              <a:rPr lang="ja-JP" altLang="en-US" sz="1200" dirty="0">
                <a:hlinkClick r:id="rId10" action="ppaction://hlinksldjump"/>
              </a:rPr>
              <a:t>活用事例４｜「おいでまい」通信（香川県）</a:t>
            </a:r>
            <a:endParaRPr lang="en-US" altLang="ja-JP" sz="1200" dirty="0"/>
          </a:p>
          <a:p>
            <a:pPr defTabSz="449263">
              <a:lnSpc>
                <a:spcPct val="140000"/>
              </a:lnSpc>
            </a:pPr>
            <a:r>
              <a:rPr lang="en-US" altLang="ja-JP" sz="1200" b="1" dirty="0"/>
              <a:t>11</a:t>
            </a:r>
            <a:r>
              <a:rPr lang="en-US" altLang="ja-JP" sz="1200" dirty="0"/>
              <a:t>	</a:t>
            </a:r>
            <a:r>
              <a:rPr lang="ja-JP" altLang="en-US" sz="1200" dirty="0">
                <a:hlinkClick r:id="rId6" action="ppaction://hlinksldjump"/>
              </a:rPr>
              <a:t>活用事例５｜ナシ開花予測システ</a:t>
            </a:r>
            <a:r>
              <a:rPr lang="ja-JP" altLang="en-US" sz="1200" u="sng" dirty="0">
                <a:hlinkClick r:id="rId6" action="ppaction://hlinksldjump"/>
              </a:rPr>
              <a:t>ム</a:t>
            </a:r>
            <a:r>
              <a:rPr lang="ja-JP" altLang="en-US" sz="1200" u="sng" dirty="0"/>
              <a:t>（千葉県）</a:t>
            </a:r>
          </a:p>
          <a:p>
            <a:pPr defTabSz="449263">
              <a:lnSpc>
                <a:spcPct val="140000"/>
              </a:lnSpc>
            </a:pPr>
            <a:r>
              <a:rPr lang="en-US" altLang="ja-JP" sz="1200" b="1" dirty="0"/>
              <a:t>12</a:t>
            </a:r>
            <a:r>
              <a:rPr lang="en-US" altLang="ja-JP" sz="1200" dirty="0"/>
              <a:t>	</a:t>
            </a:r>
            <a:r>
              <a:rPr lang="ja-JP" altLang="en-US" sz="1200" dirty="0">
                <a:hlinkClick r:id="rId11" action="ppaction://hlinksldjump"/>
              </a:rPr>
              <a:t>活用事例６｜モモの開花日予測（山梨県）</a:t>
            </a:r>
            <a:endParaRPr lang="en-US" altLang="ja-JP" sz="1200" dirty="0"/>
          </a:p>
          <a:p>
            <a:pPr defTabSz="449263">
              <a:lnSpc>
                <a:spcPct val="140000"/>
              </a:lnSpc>
            </a:pPr>
            <a:r>
              <a:rPr lang="en-US" altLang="ja-JP" sz="1200" b="1" dirty="0"/>
              <a:t>13</a:t>
            </a:r>
            <a:r>
              <a:rPr lang="en-US" altLang="ja-JP" sz="1200" dirty="0"/>
              <a:t>	</a:t>
            </a:r>
            <a:r>
              <a:rPr lang="ja-JP" altLang="en-US" sz="1200" dirty="0">
                <a:hlinkClick r:id="rId12" action="ppaction://hlinksldjump"/>
              </a:rPr>
              <a:t>活用事例７｜病害虫の防除的期予測（沖縄県）</a:t>
            </a:r>
            <a:endParaRPr lang="en-US" altLang="ja-JP" sz="1200" b="1" dirty="0"/>
          </a:p>
          <a:p>
            <a:pPr defTabSz="449263">
              <a:lnSpc>
                <a:spcPct val="140000"/>
              </a:lnSpc>
            </a:pPr>
            <a:r>
              <a:rPr lang="en-US" altLang="ja-JP" sz="1200" b="1" dirty="0"/>
              <a:t>14</a:t>
            </a:r>
            <a:r>
              <a:rPr lang="en-US" altLang="ja-JP" sz="1200" dirty="0"/>
              <a:t>	</a:t>
            </a:r>
            <a:r>
              <a:rPr lang="ja-JP" altLang="en-US" sz="1200" dirty="0">
                <a:hlinkClick r:id="rId13" action="ppaction://hlinksldjump"/>
              </a:rPr>
              <a:t>活用事例８｜病害虫の防除適期予測（栃木県）</a:t>
            </a:r>
            <a:endParaRPr lang="en-US" altLang="ja-JP" sz="1200" dirty="0"/>
          </a:p>
          <a:p>
            <a:pPr defTabSz="449263">
              <a:lnSpc>
                <a:spcPct val="140000"/>
              </a:lnSpc>
            </a:pPr>
            <a:r>
              <a:rPr lang="en-US" altLang="ja-JP" sz="1200" b="1" dirty="0"/>
              <a:t>15</a:t>
            </a:r>
            <a:r>
              <a:rPr lang="en-US" altLang="ja-JP" sz="1200" dirty="0"/>
              <a:t>	</a:t>
            </a:r>
            <a:r>
              <a:rPr lang="ja-JP" altLang="en-US" sz="1200" dirty="0">
                <a:hlinkClick r:id="rId14" action="ppaction://hlinksldjump"/>
              </a:rPr>
              <a:t>活用事例９｜メッシュ農業気象データ（農研機構）</a:t>
            </a:r>
            <a:endParaRPr lang="en-US" altLang="zh-TW" sz="1200" dirty="0"/>
          </a:p>
        </p:txBody>
      </p:sp>
      <p:sp>
        <p:nvSpPr>
          <p:cNvPr id="8" name="テキスト ボックス 7">
            <a:extLst>
              <a:ext uri="{FF2B5EF4-FFF2-40B4-BE49-F238E27FC236}">
                <a16:creationId xmlns:a16="http://schemas.microsoft.com/office/drawing/2014/main" id="{E3B0B8AA-524D-EE42-6195-6EC5F1CAEE47}"/>
              </a:ext>
            </a:extLst>
          </p:cNvPr>
          <p:cNvSpPr txBox="1"/>
          <p:nvPr/>
        </p:nvSpPr>
        <p:spPr>
          <a:xfrm>
            <a:off x="4883730" y="1285400"/>
            <a:ext cx="3600000" cy="2215991"/>
          </a:xfrm>
          <a:prstGeom prst="rect">
            <a:avLst/>
          </a:prstGeom>
          <a:noFill/>
        </p:spPr>
        <p:txBody>
          <a:bodyPr wrap="square">
            <a:spAutoFit/>
          </a:bodyPr>
          <a:lstStyle/>
          <a:p>
            <a:pPr defTabSz="449263">
              <a:lnSpc>
                <a:spcPct val="150000"/>
              </a:lnSpc>
            </a:pPr>
            <a:r>
              <a:rPr lang="en-US" altLang="ja-JP" sz="1200" b="1" dirty="0"/>
              <a:t>16</a:t>
            </a:r>
            <a:r>
              <a:rPr lang="en-US" altLang="ja-JP" sz="1600" b="1" dirty="0"/>
              <a:t>	</a:t>
            </a:r>
            <a:r>
              <a:rPr lang="ja-JP" altLang="en-US" sz="2000" b="1" dirty="0">
                <a:solidFill>
                  <a:schemeClr val="tx2"/>
                </a:solidFill>
                <a:hlinkClick r:id="rId15" action="ppaction://hlinksldjump">
                  <a:extLst>
                    <a:ext uri="{A12FA001-AC4F-418D-AE19-62706E023703}">
                      <ahyp:hlinkClr xmlns:ahyp="http://schemas.microsoft.com/office/drawing/2018/hyperlinkcolor" val="tx"/>
                    </a:ext>
                  </a:extLst>
                </a:hlinkClick>
              </a:rPr>
              <a:t>気象データの取得方法</a:t>
            </a:r>
            <a:endParaRPr lang="ja-JP" altLang="en-US" sz="1600" b="1" dirty="0">
              <a:solidFill>
                <a:schemeClr val="tx2"/>
              </a:solidFill>
            </a:endParaRPr>
          </a:p>
          <a:p>
            <a:pPr defTabSz="449263">
              <a:lnSpc>
                <a:spcPct val="150000"/>
              </a:lnSpc>
            </a:pPr>
            <a:r>
              <a:rPr lang="en-US" altLang="ja-JP" sz="1200" b="1" dirty="0"/>
              <a:t>17</a:t>
            </a:r>
            <a:r>
              <a:rPr lang="en-US" altLang="ja-JP" sz="1200" dirty="0"/>
              <a:t>	</a:t>
            </a:r>
            <a:r>
              <a:rPr lang="ja-JP" altLang="en-US" sz="1200" dirty="0">
                <a:hlinkClick r:id="rId16" action="ppaction://hlinksldjump"/>
              </a:rPr>
              <a:t>気候リスク管理のポータルサイト</a:t>
            </a:r>
            <a:endParaRPr lang="en-US" altLang="ja-JP" sz="1200" dirty="0"/>
          </a:p>
          <a:p>
            <a:pPr defTabSz="449263">
              <a:lnSpc>
                <a:spcPct val="150000"/>
              </a:lnSpc>
            </a:pPr>
            <a:r>
              <a:rPr lang="en-US" altLang="ja-JP" sz="1200" b="1" dirty="0"/>
              <a:t>18</a:t>
            </a:r>
            <a:r>
              <a:rPr lang="en-US" altLang="ja-JP" sz="1200" dirty="0"/>
              <a:t>	</a:t>
            </a:r>
            <a:r>
              <a:rPr lang="ja-JP" altLang="en-US" sz="1200" dirty="0">
                <a:hlinkClick r:id="rId17" action="ppaction://hlinksldjump"/>
              </a:rPr>
              <a:t>過去の気象データ・ダウンロード</a:t>
            </a:r>
            <a:endParaRPr lang="en-US" altLang="ja-JP" sz="1200" dirty="0"/>
          </a:p>
          <a:p>
            <a:pPr defTabSz="449263">
              <a:lnSpc>
                <a:spcPct val="150000"/>
              </a:lnSpc>
            </a:pPr>
            <a:r>
              <a:rPr lang="en-US" altLang="ja-JP" sz="1200" b="1" dirty="0"/>
              <a:t>19</a:t>
            </a:r>
            <a:r>
              <a:rPr lang="en-US" altLang="ja-JP" sz="1200" dirty="0"/>
              <a:t>	</a:t>
            </a:r>
            <a:r>
              <a:rPr lang="ja-JP" altLang="en-US" sz="1200" dirty="0">
                <a:hlinkClick r:id="rId18" action="ppaction://hlinksldjump"/>
              </a:rPr>
              <a:t>向こう２週間・１か月の予測資料</a:t>
            </a:r>
            <a:endParaRPr lang="en-US" altLang="ja-JP" sz="1200" dirty="0"/>
          </a:p>
          <a:p>
            <a:pPr defTabSz="449263">
              <a:lnSpc>
                <a:spcPct val="150000"/>
              </a:lnSpc>
            </a:pPr>
            <a:r>
              <a:rPr lang="en-US" altLang="ja-JP" sz="1200" b="1" dirty="0"/>
              <a:t>20</a:t>
            </a:r>
            <a:r>
              <a:rPr lang="en-US" altLang="ja-JP" sz="1200" dirty="0"/>
              <a:t>	</a:t>
            </a:r>
            <a:r>
              <a:rPr lang="ja-JP" altLang="en-US" sz="1200" dirty="0">
                <a:hlinkClick r:id="rId19" action="ppaction://hlinksldjump"/>
              </a:rPr>
              <a:t>確率予測資料とは？</a:t>
            </a:r>
            <a:endParaRPr lang="en-US" altLang="ja-JP" sz="1200" dirty="0"/>
          </a:p>
          <a:p>
            <a:pPr defTabSz="449263">
              <a:lnSpc>
                <a:spcPct val="150000"/>
              </a:lnSpc>
            </a:pPr>
            <a:r>
              <a:rPr lang="en-US" altLang="ja-JP" sz="1200" b="1" dirty="0"/>
              <a:t>21</a:t>
            </a:r>
            <a:r>
              <a:rPr lang="en-US" altLang="ja-JP" sz="1200" dirty="0"/>
              <a:t>	</a:t>
            </a:r>
            <a:r>
              <a:rPr lang="ja-JP" altLang="en-US" sz="1200" dirty="0">
                <a:hlinkClick r:id="rId20" action="ppaction://hlinksldjump"/>
              </a:rPr>
              <a:t>確率予測資料提供ページ</a:t>
            </a:r>
            <a:endParaRPr lang="en-US" altLang="ja-JP" sz="1200" dirty="0"/>
          </a:p>
          <a:p>
            <a:pPr defTabSz="449263">
              <a:lnSpc>
                <a:spcPct val="150000"/>
              </a:lnSpc>
            </a:pPr>
            <a:r>
              <a:rPr lang="en-US" altLang="ja-JP" sz="1200" b="1" dirty="0"/>
              <a:t>22</a:t>
            </a:r>
            <a:r>
              <a:rPr lang="en-US" altLang="ja-JP" sz="1200" dirty="0"/>
              <a:t>	</a:t>
            </a:r>
            <a:r>
              <a:rPr lang="ja-JP" altLang="en-US" sz="1200" dirty="0">
                <a:hlinkClick r:id="rId21" action="ppaction://hlinksldjump"/>
              </a:rPr>
              <a:t>確率予測資料</a:t>
            </a:r>
            <a:r>
              <a:rPr lang="en-US" altLang="ja-JP" sz="1200" dirty="0">
                <a:hlinkClick r:id="rId21" action="ppaction://hlinksldjump"/>
              </a:rPr>
              <a:t>CSV</a:t>
            </a:r>
            <a:r>
              <a:rPr lang="ja-JP" altLang="en-US" sz="1200" dirty="0">
                <a:hlinkClick r:id="rId21" action="ppaction://hlinksldjump"/>
              </a:rPr>
              <a:t>ファイル形式等</a:t>
            </a:r>
            <a:endParaRPr lang="en-US" altLang="ja-JP" sz="1200" dirty="0"/>
          </a:p>
        </p:txBody>
      </p:sp>
      <p:cxnSp>
        <p:nvCxnSpPr>
          <p:cNvPr id="5" name="直線コネクタ 4">
            <a:extLst>
              <a:ext uri="{FF2B5EF4-FFF2-40B4-BE49-F238E27FC236}">
                <a16:creationId xmlns:a16="http://schemas.microsoft.com/office/drawing/2014/main" id="{8B2E1874-EE47-4D6C-9EE8-772AE03BADF1}"/>
              </a:ext>
            </a:extLst>
          </p:cNvPr>
          <p:cNvCxnSpPr/>
          <p:nvPr/>
        </p:nvCxnSpPr>
        <p:spPr>
          <a:xfrm>
            <a:off x="4883730" y="3693573"/>
            <a:ext cx="360000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83FB3F91-9EF5-FC8B-F7E4-DB6CE1ED53DD}"/>
              </a:ext>
            </a:extLst>
          </p:cNvPr>
          <p:cNvSpPr txBox="1"/>
          <p:nvPr/>
        </p:nvSpPr>
        <p:spPr>
          <a:xfrm>
            <a:off x="4883731" y="3821430"/>
            <a:ext cx="4038599" cy="338554"/>
          </a:xfrm>
          <a:prstGeom prst="rect">
            <a:avLst/>
          </a:prstGeom>
          <a:noFill/>
        </p:spPr>
        <p:txBody>
          <a:bodyPr wrap="square" rtlCol="0">
            <a:spAutoFit/>
          </a:bodyPr>
          <a:lstStyle/>
          <a:p>
            <a:r>
              <a:rPr kumimoji="1" lang="ja-JP" altLang="en-US" sz="1600" b="1" dirty="0"/>
              <a:t>本編（農業気象災害を軽減するために）</a:t>
            </a:r>
          </a:p>
        </p:txBody>
      </p:sp>
      <p:sp>
        <p:nvSpPr>
          <p:cNvPr id="3" name="楕円 2">
            <a:extLst>
              <a:ext uri="{FF2B5EF4-FFF2-40B4-BE49-F238E27FC236}">
                <a16:creationId xmlns:a16="http://schemas.microsoft.com/office/drawing/2014/main" id="{B5D0D0E5-44D3-6AD6-C4FC-1854FBEE1CB0}"/>
              </a:ext>
            </a:extLst>
          </p:cNvPr>
          <p:cNvSpPr>
            <a:spLocks noChangeAspect="1"/>
          </p:cNvSpPr>
          <p:nvPr/>
        </p:nvSpPr>
        <p:spPr>
          <a:xfrm>
            <a:off x="3090582" y="246462"/>
            <a:ext cx="792000" cy="792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p>
        </p:txBody>
      </p:sp>
      <p:sp>
        <p:nvSpPr>
          <p:cNvPr id="4" name="テキスト ボックス 3">
            <a:extLst>
              <a:ext uri="{FF2B5EF4-FFF2-40B4-BE49-F238E27FC236}">
                <a16:creationId xmlns:a16="http://schemas.microsoft.com/office/drawing/2014/main" id="{A0CC8008-90F3-6D5D-091B-384E55ADA04E}"/>
              </a:ext>
            </a:extLst>
          </p:cNvPr>
          <p:cNvSpPr txBox="1"/>
          <p:nvPr/>
        </p:nvSpPr>
        <p:spPr>
          <a:xfrm>
            <a:off x="2892222" y="453100"/>
            <a:ext cx="1188720" cy="430887"/>
          </a:xfrm>
          <a:prstGeom prst="rect">
            <a:avLst/>
          </a:prstGeom>
          <a:noFill/>
        </p:spPr>
        <p:txBody>
          <a:bodyPr wrap="square" rtlCol="0">
            <a:spAutoFit/>
          </a:bodyPr>
          <a:lstStyle/>
          <a:p>
            <a:pPr algn="ctr"/>
            <a:r>
              <a:rPr kumimoji="1" lang="ja-JP" altLang="en-US" sz="2200" b="1" dirty="0">
                <a:solidFill>
                  <a:schemeClr val="bg1"/>
                </a:solidFill>
              </a:rPr>
              <a:t>別冊</a:t>
            </a:r>
          </a:p>
        </p:txBody>
      </p:sp>
    </p:spTree>
    <p:extLst>
      <p:ext uri="{BB962C8B-B14F-4D97-AF65-F5344CB8AC3E}">
        <p14:creationId xmlns:p14="http://schemas.microsoft.com/office/powerpoint/2010/main" val="2866215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2BC1E51C-32E7-451A-9A4C-F042D8D7764D}"/>
              </a:ext>
            </a:extLst>
          </p:cNvPr>
          <p:cNvSpPr>
            <a:spLocks noGrp="1"/>
          </p:cNvSpPr>
          <p:nvPr>
            <p:ph type="title"/>
          </p:nvPr>
        </p:nvSpPr>
        <p:spPr>
          <a:xfrm>
            <a:off x="1091762" y="3125308"/>
            <a:ext cx="8635042" cy="607384"/>
          </a:xfrm>
        </p:spPr>
        <p:txBody>
          <a:bodyPr>
            <a:noAutofit/>
          </a:bodyPr>
          <a:lstStyle/>
          <a:p>
            <a:pPr>
              <a:lnSpc>
                <a:spcPct val="120000"/>
              </a:lnSpc>
            </a:pPr>
            <a:r>
              <a:rPr kumimoji="1" lang="ja-JP" altLang="en-US" sz="4000" dirty="0">
                <a:solidFill>
                  <a:schemeClr val="tx2"/>
                </a:solidFill>
              </a:rPr>
              <a:t>気象データの活用事例</a:t>
            </a:r>
            <a:endParaRPr lang="ja-JP" altLang="en-US" sz="4800" dirty="0"/>
          </a:p>
        </p:txBody>
      </p:sp>
      <p:sp>
        <p:nvSpPr>
          <p:cNvPr id="3" name="テキスト ボックス 2">
            <a:extLst>
              <a:ext uri="{FF2B5EF4-FFF2-40B4-BE49-F238E27FC236}">
                <a16:creationId xmlns:a16="http://schemas.microsoft.com/office/drawing/2014/main" id="{147FB2AA-D6CE-32D6-4050-465174A77A66}"/>
              </a:ext>
            </a:extLst>
          </p:cNvPr>
          <p:cNvSpPr txBox="1"/>
          <p:nvPr/>
        </p:nvSpPr>
        <p:spPr>
          <a:xfrm>
            <a:off x="1091762" y="2663643"/>
            <a:ext cx="4559738" cy="461665"/>
          </a:xfrm>
          <a:prstGeom prst="rect">
            <a:avLst/>
          </a:prstGeom>
          <a:noFill/>
        </p:spPr>
        <p:txBody>
          <a:bodyPr wrap="square">
            <a:spAutoFit/>
          </a:bodyPr>
          <a:lstStyle/>
          <a:p>
            <a:r>
              <a:rPr lang="ja-JP" altLang="en-US" sz="2400" b="1" dirty="0">
                <a:solidFill>
                  <a:schemeClr val="tx2"/>
                </a:solidFill>
              </a:rPr>
              <a:t>気象</a:t>
            </a:r>
            <a:r>
              <a:rPr kumimoji="1" lang="ja-JP" altLang="en-US" sz="2400" b="1" dirty="0">
                <a:solidFill>
                  <a:schemeClr val="tx2"/>
                </a:solidFill>
              </a:rPr>
              <a:t>データを活用するために</a:t>
            </a:r>
            <a:endParaRPr lang="ja-JP" altLang="en-US" sz="2400" b="1" dirty="0"/>
          </a:p>
        </p:txBody>
      </p:sp>
    </p:spTree>
    <p:extLst>
      <p:ext uri="{BB962C8B-B14F-4D97-AF65-F5344CB8AC3E}">
        <p14:creationId xmlns:p14="http://schemas.microsoft.com/office/powerpoint/2010/main" val="1029033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5845BF-DED3-BAD0-08FA-56162EA153A8}"/>
              </a:ext>
            </a:extLst>
          </p:cNvPr>
          <p:cNvSpPr>
            <a:spLocks noGrp="1"/>
          </p:cNvSpPr>
          <p:nvPr>
            <p:ph type="title"/>
          </p:nvPr>
        </p:nvSpPr>
        <p:spPr/>
        <p:txBody>
          <a:bodyPr/>
          <a:lstStyle/>
          <a:p>
            <a:r>
              <a:rPr kumimoji="1" lang="ja-JP" altLang="en-US" dirty="0"/>
              <a:t>気象データを活用してみませんか？</a:t>
            </a:r>
          </a:p>
        </p:txBody>
      </p:sp>
      <p:sp>
        <p:nvSpPr>
          <p:cNvPr id="3" name="コンテンツ プレースホルダー 2">
            <a:extLst>
              <a:ext uri="{FF2B5EF4-FFF2-40B4-BE49-F238E27FC236}">
                <a16:creationId xmlns:a16="http://schemas.microsoft.com/office/drawing/2014/main" id="{E03B1FB3-5965-4164-C2B2-DBE496A81E2E}"/>
              </a:ext>
            </a:extLst>
          </p:cNvPr>
          <p:cNvSpPr>
            <a:spLocks noGrp="1"/>
          </p:cNvSpPr>
          <p:nvPr>
            <p:ph idx="1"/>
          </p:nvPr>
        </p:nvSpPr>
        <p:spPr/>
        <p:txBody>
          <a:bodyPr/>
          <a:lstStyle/>
          <a:p>
            <a:r>
              <a:rPr lang="ja-JP" altLang="en-US" dirty="0"/>
              <a:t>気象データ</a:t>
            </a:r>
            <a:r>
              <a:rPr kumimoji="1" lang="ja-JP" altLang="en-US" dirty="0"/>
              <a:t>をつかって気候の影響を軽減・利用してみませんか？</a:t>
            </a:r>
            <a:endParaRPr kumimoji="1" lang="en-US" altLang="ja-JP" dirty="0"/>
          </a:p>
          <a:p>
            <a:endParaRPr lang="en-US" altLang="ja-JP" dirty="0"/>
          </a:p>
          <a:p>
            <a:endParaRPr kumimoji="1" lang="ja-JP" altLang="en-US" dirty="0"/>
          </a:p>
        </p:txBody>
      </p:sp>
      <p:sp>
        <p:nvSpPr>
          <p:cNvPr id="6" name="テキスト ボックス 5">
            <a:extLst>
              <a:ext uri="{FF2B5EF4-FFF2-40B4-BE49-F238E27FC236}">
                <a16:creationId xmlns:a16="http://schemas.microsoft.com/office/drawing/2014/main" id="{8D7D99A0-C1FC-1F37-DF36-EF9D1A1397F6}"/>
              </a:ext>
            </a:extLst>
          </p:cNvPr>
          <p:cNvSpPr txBox="1"/>
          <p:nvPr/>
        </p:nvSpPr>
        <p:spPr>
          <a:xfrm>
            <a:off x="614149" y="1272226"/>
            <a:ext cx="7942997" cy="5064463"/>
          </a:xfrm>
          <a:prstGeom prst="rect">
            <a:avLst/>
          </a:prstGeom>
          <a:noFill/>
        </p:spPr>
        <p:txBody>
          <a:bodyPr wrap="square" rtlCol="0">
            <a:spAutoFit/>
          </a:bodyPr>
          <a:lstStyle/>
          <a:p>
            <a:pPr>
              <a:lnSpc>
                <a:spcPct val="120000"/>
              </a:lnSpc>
            </a:pPr>
            <a:r>
              <a:rPr lang="ja-JP" altLang="en-US" dirty="0">
                <a:latin typeface="+mn-ea"/>
              </a:rPr>
              <a:t>昨今の極端な高温などの気候は農業に影響を及ぼしています。</a:t>
            </a:r>
            <a:endParaRPr lang="en-US" altLang="ja-JP" dirty="0">
              <a:latin typeface="+mn-ea"/>
            </a:endParaRPr>
          </a:p>
          <a:p>
            <a:pPr marL="342900" indent="-342900">
              <a:lnSpc>
                <a:spcPct val="120000"/>
              </a:lnSpc>
              <a:buFont typeface="+mj-lt"/>
              <a:buAutoNum type="arabicPeriod"/>
            </a:pPr>
            <a:r>
              <a:rPr lang="ja-JP" altLang="en-US" dirty="0">
                <a:latin typeface="+mn-ea"/>
              </a:rPr>
              <a:t>気候リスクを</a:t>
            </a:r>
            <a:r>
              <a:rPr lang="ja-JP" altLang="en-US" b="1" dirty="0">
                <a:solidFill>
                  <a:schemeClr val="accent2"/>
                </a:solidFill>
                <a:latin typeface="+mn-ea"/>
              </a:rPr>
              <a:t>認識</a:t>
            </a:r>
            <a:r>
              <a:rPr lang="ja-JP" altLang="en-US" dirty="0">
                <a:latin typeface="+mn-ea"/>
              </a:rPr>
              <a:t>し、</a:t>
            </a:r>
            <a:endParaRPr lang="en-US" altLang="ja-JP" dirty="0">
              <a:latin typeface="+mn-ea"/>
            </a:endParaRPr>
          </a:p>
          <a:p>
            <a:pPr marL="342900" indent="-342900">
              <a:lnSpc>
                <a:spcPct val="120000"/>
              </a:lnSpc>
              <a:buFont typeface="+mj-lt"/>
              <a:buAutoNum type="arabicPeriod"/>
            </a:pPr>
            <a:r>
              <a:rPr lang="ja-JP" altLang="en-US" dirty="0">
                <a:latin typeface="+mn-ea"/>
              </a:rPr>
              <a:t>気候の影響を過去の気象データなどを用いて定量的に</a:t>
            </a:r>
            <a:r>
              <a:rPr lang="ja-JP" altLang="en-US" b="1" dirty="0">
                <a:solidFill>
                  <a:schemeClr val="accent2"/>
                </a:solidFill>
                <a:latin typeface="+mn-ea"/>
              </a:rPr>
              <a:t>評価</a:t>
            </a:r>
            <a:r>
              <a:rPr lang="ja-JP" altLang="en-US" dirty="0">
                <a:latin typeface="+mn-ea"/>
              </a:rPr>
              <a:t>し、</a:t>
            </a:r>
            <a:endParaRPr lang="en-US" altLang="ja-JP" dirty="0">
              <a:latin typeface="+mn-ea"/>
            </a:endParaRPr>
          </a:p>
          <a:p>
            <a:pPr marL="342900" indent="-342900">
              <a:lnSpc>
                <a:spcPct val="120000"/>
              </a:lnSpc>
              <a:buFont typeface="+mj-lt"/>
              <a:buAutoNum type="arabicPeriod"/>
            </a:pPr>
            <a:r>
              <a:rPr lang="en-US" altLang="ja-JP" dirty="0">
                <a:latin typeface="+mn-ea"/>
              </a:rPr>
              <a:t>2</a:t>
            </a:r>
            <a:r>
              <a:rPr lang="ja-JP" altLang="en-US" dirty="0">
                <a:latin typeface="+mn-ea"/>
              </a:rPr>
              <a:t>週間気温予報データなどの気象情報を用いて適切に</a:t>
            </a:r>
            <a:r>
              <a:rPr lang="ja-JP" altLang="en-US" b="1" dirty="0">
                <a:solidFill>
                  <a:schemeClr val="accent2"/>
                </a:solidFill>
                <a:latin typeface="+mn-ea"/>
              </a:rPr>
              <a:t>対応</a:t>
            </a:r>
            <a:r>
              <a:rPr lang="ja-JP" altLang="en-US" dirty="0">
                <a:latin typeface="+mn-ea"/>
              </a:rPr>
              <a:t>することで、気候の悪い影響を軽減し、良い影響を利用すること（気候リスク管理）ができます。</a:t>
            </a:r>
            <a:endParaRPr lang="en-US" altLang="ja-JP" dirty="0">
              <a:latin typeface="+mn-ea"/>
            </a:endParaRPr>
          </a:p>
          <a:p>
            <a:pPr marL="342900" indent="-342900">
              <a:lnSpc>
                <a:spcPct val="120000"/>
              </a:lnSpc>
              <a:buFont typeface="+mj-lt"/>
              <a:buAutoNum type="arabicPeriod"/>
            </a:pPr>
            <a:endParaRPr lang="en-US" altLang="ja-JP" dirty="0">
              <a:latin typeface="+mn-ea"/>
            </a:endParaRPr>
          </a:p>
          <a:p>
            <a:pPr marL="342900" indent="-342900">
              <a:lnSpc>
                <a:spcPct val="120000"/>
              </a:lnSpc>
              <a:buFont typeface="+mj-lt"/>
              <a:buAutoNum type="arabicPeriod"/>
            </a:pPr>
            <a:endParaRPr lang="en-US" altLang="ja-JP" dirty="0">
              <a:latin typeface="+mn-ea"/>
            </a:endParaRPr>
          </a:p>
          <a:p>
            <a:pPr marL="342900" indent="-342900">
              <a:lnSpc>
                <a:spcPct val="120000"/>
              </a:lnSpc>
              <a:buFont typeface="+mj-lt"/>
              <a:buAutoNum type="arabicPeriod"/>
            </a:pPr>
            <a:endParaRPr lang="en-US" altLang="ja-JP" dirty="0">
              <a:latin typeface="+mn-ea"/>
            </a:endParaRPr>
          </a:p>
          <a:p>
            <a:pPr marL="342900" indent="-342900">
              <a:lnSpc>
                <a:spcPct val="120000"/>
              </a:lnSpc>
              <a:buFont typeface="+mj-lt"/>
              <a:buAutoNum type="arabicPeriod"/>
            </a:pPr>
            <a:endParaRPr lang="en-US" altLang="ja-JP" dirty="0">
              <a:latin typeface="+mn-ea"/>
            </a:endParaRPr>
          </a:p>
          <a:p>
            <a:pPr marL="342900" indent="-342900">
              <a:lnSpc>
                <a:spcPct val="120000"/>
              </a:lnSpc>
              <a:buFont typeface="+mj-lt"/>
              <a:buAutoNum type="arabicPeriod"/>
            </a:pPr>
            <a:endParaRPr lang="en-US" altLang="ja-JP" dirty="0">
              <a:latin typeface="+mn-ea"/>
            </a:endParaRPr>
          </a:p>
          <a:p>
            <a:pPr>
              <a:lnSpc>
                <a:spcPct val="120000"/>
              </a:lnSpc>
            </a:pPr>
            <a:endParaRPr lang="en-US" altLang="ja-JP" dirty="0">
              <a:latin typeface="+mn-ea"/>
            </a:endParaRPr>
          </a:p>
          <a:p>
            <a:pPr>
              <a:lnSpc>
                <a:spcPct val="120000"/>
              </a:lnSpc>
            </a:pPr>
            <a:r>
              <a:rPr lang="ja-JP" altLang="en-US" dirty="0">
                <a:latin typeface="+mn-ea"/>
              </a:rPr>
              <a:t>気象データの活用に取り組む際に参考にしていただけるよう、農業分野における気温予測データの活用事例や気温データの取得方法を紹介します。</a:t>
            </a:r>
            <a:endParaRPr lang="en-US" altLang="ja-JP" dirty="0">
              <a:latin typeface="+mn-ea"/>
            </a:endParaRPr>
          </a:p>
          <a:p>
            <a:pPr>
              <a:lnSpc>
                <a:spcPct val="120000"/>
              </a:lnSpc>
            </a:pPr>
            <a:endParaRPr lang="en-US" altLang="ja-JP" dirty="0">
              <a:latin typeface="+mn-ea"/>
            </a:endParaRPr>
          </a:p>
        </p:txBody>
      </p:sp>
      <p:pic>
        <p:nvPicPr>
          <p:cNvPr id="8" name="図 7">
            <a:extLst>
              <a:ext uri="{FF2B5EF4-FFF2-40B4-BE49-F238E27FC236}">
                <a16:creationId xmlns:a16="http://schemas.microsoft.com/office/drawing/2014/main" id="{6E449154-5496-BAC2-9973-C58B047D910F}"/>
              </a:ext>
            </a:extLst>
          </p:cNvPr>
          <p:cNvPicPr>
            <a:picLocks noChangeAspect="1"/>
          </p:cNvPicPr>
          <p:nvPr/>
        </p:nvPicPr>
        <p:blipFill>
          <a:blip r:embed="rId3"/>
          <a:stretch>
            <a:fillRect/>
          </a:stretch>
        </p:blipFill>
        <p:spPr>
          <a:xfrm>
            <a:off x="1737191" y="3429000"/>
            <a:ext cx="5669618" cy="1688910"/>
          </a:xfrm>
          <a:prstGeom prst="rect">
            <a:avLst/>
          </a:prstGeom>
        </p:spPr>
      </p:pic>
      <p:sp>
        <p:nvSpPr>
          <p:cNvPr id="4" name="スライド番号プレースホルダー 3">
            <a:extLst>
              <a:ext uri="{FF2B5EF4-FFF2-40B4-BE49-F238E27FC236}">
                <a16:creationId xmlns:a16="http://schemas.microsoft.com/office/drawing/2014/main" id="{0A42BBD0-952D-65AB-AE8E-018F51EF89C3}"/>
              </a:ext>
            </a:extLst>
          </p:cNvPr>
          <p:cNvSpPr>
            <a:spLocks noGrp="1"/>
          </p:cNvSpPr>
          <p:nvPr>
            <p:ph type="sldNum" sz="quarter" idx="12"/>
          </p:nvPr>
        </p:nvSpPr>
        <p:spPr/>
        <p:txBody>
          <a:bodyPr/>
          <a:lstStyle/>
          <a:p>
            <a:fld id="{5F9F9204-6EDA-41A6-81B7-5E8491083ADF}" type="slidenum">
              <a:rPr kumimoji="1" lang="ja-JP" altLang="en-US" smtClean="0"/>
              <a:t>3</a:t>
            </a:fld>
            <a:endParaRPr kumimoji="1" lang="ja-JP" altLang="en-US" dirty="0"/>
          </a:p>
        </p:txBody>
      </p:sp>
    </p:spTree>
    <p:extLst>
      <p:ext uri="{BB962C8B-B14F-4D97-AF65-F5344CB8AC3E}">
        <p14:creationId xmlns:p14="http://schemas.microsoft.com/office/powerpoint/2010/main" val="2277314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B60B2B7D-5E84-5EED-7AB6-1B444024834A}"/>
              </a:ext>
            </a:extLst>
          </p:cNvPr>
          <p:cNvSpPr/>
          <p:nvPr/>
        </p:nvSpPr>
        <p:spPr>
          <a:xfrm>
            <a:off x="1074341" y="1615784"/>
            <a:ext cx="2942519" cy="3384000"/>
          </a:xfrm>
          <a:prstGeom prst="roundRect">
            <a:avLst>
              <a:gd name="adj" fmla="val 6039"/>
            </a:avLst>
          </a:prstGeom>
          <a:noFill/>
          <a:ln w="158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D0ABC9D6-8CDC-AA39-1305-842C9EBE61AD}"/>
              </a:ext>
            </a:extLst>
          </p:cNvPr>
          <p:cNvSpPr/>
          <p:nvPr/>
        </p:nvSpPr>
        <p:spPr>
          <a:xfrm>
            <a:off x="4910346" y="1577464"/>
            <a:ext cx="3157729" cy="3384000"/>
          </a:xfrm>
          <a:prstGeom prst="roundRect">
            <a:avLst>
              <a:gd name="adj" fmla="val 6039"/>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993D9027-B367-CE31-9F86-A148A741D20A}"/>
              </a:ext>
            </a:extLst>
          </p:cNvPr>
          <p:cNvSpPr>
            <a:spLocks noGrp="1"/>
          </p:cNvSpPr>
          <p:nvPr>
            <p:ph type="title"/>
          </p:nvPr>
        </p:nvSpPr>
        <p:spPr/>
        <p:txBody>
          <a:bodyPr/>
          <a:lstStyle/>
          <a:p>
            <a:r>
              <a:rPr lang="ja-JP" altLang="en-US" dirty="0"/>
              <a:t>気象</a:t>
            </a:r>
            <a:r>
              <a:rPr kumimoji="1" lang="ja-JP" altLang="en-US" dirty="0"/>
              <a:t>データの活用イメージ：影響の評価と対応</a:t>
            </a:r>
          </a:p>
        </p:txBody>
      </p:sp>
      <p:sp>
        <p:nvSpPr>
          <p:cNvPr id="4" name="スライド番号プレースホルダー 3">
            <a:extLst>
              <a:ext uri="{FF2B5EF4-FFF2-40B4-BE49-F238E27FC236}">
                <a16:creationId xmlns:a16="http://schemas.microsoft.com/office/drawing/2014/main" id="{FD6E391D-7B35-42DF-5646-08DFFC98D907}"/>
              </a:ext>
            </a:extLst>
          </p:cNvPr>
          <p:cNvSpPr>
            <a:spLocks noGrp="1"/>
          </p:cNvSpPr>
          <p:nvPr>
            <p:ph type="sldNum" sz="quarter" idx="12"/>
          </p:nvPr>
        </p:nvSpPr>
        <p:spPr/>
        <p:txBody>
          <a:bodyPr/>
          <a:lstStyle/>
          <a:p>
            <a:fld id="{5F9F9204-6EDA-41A6-81B7-5E8491083ADF}" type="slidenum">
              <a:rPr kumimoji="1" lang="ja-JP" altLang="en-US" smtClean="0"/>
              <a:t>4</a:t>
            </a:fld>
            <a:endParaRPr kumimoji="1" lang="ja-JP" altLang="en-US" dirty="0"/>
          </a:p>
        </p:txBody>
      </p:sp>
      <p:sp>
        <p:nvSpPr>
          <p:cNvPr id="15" name="矢印: 五方向 14">
            <a:extLst>
              <a:ext uri="{FF2B5EF4-FFF2-40B4-BE49-F238E27FC236}">
                <a16:creationId xmlns:a16="http://schemas.microsoft.com/office/drawing/2014/main" id="{916CC011-0B04-AF3B-EC58-6DB56E5BD93F}"/>
              </a:ext>
            </a:extLst>
          </p:cNvPr>
          <p:cNvSpPr/>
          <p:nvPr/>
        </p:nvSpPr>
        <p:spPr>
          <a:xfrm>
            <a:off x="346680" y="814759"/>
            <a:ext cx="2078886" cy="396000"/>
          </a:xfrm>
          <a:prstGeom prst="homePlate">
            <a:avLst>
              <a:gd name="adj" fmla="val 39752"/>
            </a:avLst>
          </a:prstGeom>
          <a:solidFill>
            <a:schemeClr val="tx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ja-JP" altLang="en-US" sz="1600" dirty="0"/>
              <a:t>気候リスクの評価</a:t>
            </a:r>
            <a:endParaRPr kumimoji="1" lang="ja-JP" altLang="en-US" sz="1600" dirty="0"/>
          </a:p>
        </p:txBody>
      </p:sp>
      <p:sp>
        <p:nvSpPr>
          <p:cNvPr id="16" name="矢印: 五方向 15">
            <a:extLst>
              <a:ext uri="{FF2B5EF4-FFF2-40B4-BE49-F238E27FC236}">
                <a16:creationId xmlns:a16="http://schemas.microsoft.com/office/drawing/2014/main" id="{5798EB86-C2E4-7967-A0E2-064A1C209ADC}"/>
              </a:ext>
            </a:extLst>
          </p:cNvPr>
          <p:cNvSpPr/>
          <p:nvPr/>
        </p:nvSpPr>
        <p:spPr>
          <a:xfrm>
            <a:off x="346680" y="5324563"/>
            <a:ext cx="2176997" cy="396001"/>
          </a:xfrm>
          <a:prstGeom prst="homePlate">
            <a:avLst>
              <a:gd name="adj" fmla="val 39752"/>
            </a:avLst>
          </a:prstGeom>
          <a:solidFill>
            <a:schemeClr val="tx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ja-JP" altLang="en-US" sz="1600" dirty="0"/>
              <a:t>気候リスクへの対応</a:t>
            </a:r>
          </a:p>
        </p:txBody>
      </p:sp>
      <p:sp>
        <p:nvSpPr>
          <p:cNvPr id="19" name="テキスト ボックス 18">
            <a:extLst>
              <a:ext uri="{FF2B5EF4-FFF2-40B4-BE49-F238E27FC236}">
                <a16:creationId xmlns:a16="http://schemas.microsoft.com/office/drawing/2014/main" id="{0F43ACC5-D047-AE73-BB5D-76D99F17AF8D}"/>
              </a:ext>
            </a:extLst>
          </p:cNvPr>
          <p:cNvSpPr txBox="1"/>
          <p:nvPr/>
        </p:nvSpPr>
        <p:spPr>
          <a:xfrm>
            <a:off x="488502" y="5873292"/>
            <a:ext cx="8166996" cy="683264"/>
          </a:xfrm>
          <a:prstGeom prst="rect">
            <a:avLst/>
          </a:prstGeom>
          <a:noFill/>
        </p:spPr>
        <p:txBody>
          <a:bodyPr wrap="square" rtlCol="0">
            <a:spAutoFit/>
          </a:bodyPr>
          <a:lstStyle/>
          <a:p>
            <a:pPr>
              <a:lnSpc>
                <a:spcPct val="120000"/>
              </a:lnSpc>
            </a:pPr>
            <a:r>
              <a:rPr lang="ja-JP" altLang="en-US" sz="1600" dirty="0">
                <a:latin typeface="+mn-ea"/>
              </a:rPr>
              <a:t>（例）データによる分析で明らかになった高温が、１か月予報や</a:t>
            </a:r>
            <a:r>
              <a:rPr lang="en-US" altLang="ja-JP" sz="1600" dirty="0">
                <a:latin typeface="+mn-ea"/>
              </a:rPr>
              <a:t>2</a:t>
            </a:r>
            <a:r>
              <a:rPr lang="ja-JP" altLang="en-US" sz="1600" dirty="0">
                <a:latin typeface="+mn-ea"/>
              </a:rPr>
              <a:t>週間気温予報で予想される場合は、水管理等の事前準備を行う</a:t>
            </a:r>
            <a:endParaRPr kumimoji="1" lang="ja-JP" altLang="en-US" sz="1600" dirty="0">
              <a:latin typeface="+mn-ea"/>
            </a:endParaRPr>
          </a:p>
        </p:txBody>
      </p:sp>
      <p:sp>
        <p:nvSpPr>
          <p:cNvPr id="8" name="テキスト ボックス 7">
            <a:extLst>
              <a:ext uri="{FF2B5EF4-FFF2-40B4-BE49-F238E27FC236}">
                <a16:creationId xmlns:a16="http://schemas.microsoft.com/office/drawing/2014/main" id="{B34C7841-A17F-60F2-3E34-B21E4A701984}"/>
              </a:ext>
            </a:extLst>
          </p:cNvPr>
          <p:cNvSpPr txBox="1"/>
          <p:nvPr/>
        </p:nvSpPr>
        <p:spPr>
          <a:xfrm>
            <a:off x="1266827" y="3243345"/>
            <a:ext cx="2339422" cy="369332"/>
          </a:xfrm>
          <a:prstGeom prst="rect">
            <a:avLst/>
          </a:prstGeom>
          <a:noFill/>
        </p:spPr>
        <p:txBody>
          <a:bodyPr wrap="square" rtlCol="0">
            <a:spAutoFit/>
          </a:bodyPr>
          <a:lstStyle/>
          <a:p>
            <a:pPr algn="ctr"/>
            <a:r>
              <a:rPr kumimoji="1" lang="ja-JP" altLang="en-US" b="1" dirty="0"/>
              <a:t>経験と勘</a:t>
            </a:r>
          </a:p>
        </p:txBody>
      </p:sp>
      <p:sp>
        <p:nvSpPr>
          <p:cNvPr id="10" name="テキスト ボックス 9">
            <a:extLst>
              <a:ext uri="{FF2B5EF4-FFF2-40B4-BE49-F238E27FC236}">
                <a16:creationId xmlns:a16="http://schemas.microsoft.com/office/drawing/2014/main" id="{0864758E-AD9D-A5BB-D353-61356BD89EC4}"/>
              </a:ext>
            </a:extLst>
          </p:cNvPr>
          <p:cNvSpPr txBox="1"/>
          <p:nvPr/>
        </p:nvSpPr>
        <p:spPr>
          <a:xfrm>
            <a:off x="5393720" y="3242566"/>
            <a:ext cx="2339422" cy="369332"/>
          </a:xfrm>
          <a:prstGeom prst="rect">
            <a:avLst/>
          </a:prstGeom>
          <a:noFill/>
        </p:spPr>
        <p:txBody>
          <a:bodyPr wrap="square" rtlCol="0">
            <a:spAutoFit/>
          </a:bodyPr>
          <a:lstStyle/>
          <a:p>
            <a:pPr algn="ctr"/>
            <a:r>
              <a:rPr lang="ja-JP" altLang="en-US" b="1" dirty="0">
                <a:solidFill>
                  <a:schemeClr val="tx2"/>
                </a:solidFill>
              </a:rPr>
              <a:t>データによる分析</a:t>
            </a:r>
            <a:endParaRPr kumimoji="1" lang="ja-JP" altLang="en-US" b="1" dirty="0">
              <a:solidFill>
                <a:schemeClr val="tx2"/>
              </a:solidFill>
            </a:endParaRPr>
          </a:p>
        </p:txBody>
      </p:sp>
      <p:sp>
        <p:nvSpPr>
          <p:cNvPr id="11" name="テキスト ボックス 10">
            <a:extLst>
              <a:ext uri="{FF2B5EF4-FFF2-40B4-BE49-F238E27FC236}">
                <a16:creationId xmlns:a16="http://schemas.microsoft.com/office/drawing/2014/main" id="{DB329656-F758-4FE0-00D5-D49ACEEDEF80}"/>
              </a:ext>
            </a:extLst>
          </p:cNvPr>
          <p:cNvSpPr txBox="1"/>
          <p:nvPr/>
        </p:nvSpPr>
        <p:spPr>
          <a:xfrm>
            <a:off x="1333049" y="3849160"/>
            <a:ext cx="2503449" cy="857158"/>
          </a:xfrm>
          <a:prstGeom prst="rect">
            <a:avLst/>
          </a:prstGeom>
          <a:noFill/>
        </p:spPr>
        <p:txBody>
          <a:bodyPr wrap="square" rtlCol="0">
            <a:spAutoFit/>
          </a:bodyPr>
          <a:lstStyle/>
          <a:p>
            <a:pPr marL="285750" indent="-285750">
              <a:lnSpc>
                <a:spcPct val="120000"/>
              </a:lnSpc>
              <a:buFont typeface="Wingdings" panose="05000000000000000000" pitchFamily="2" charset="2"/>
              <a:buChar char="l"/>
            </a:pPr>
            <a:r>
              <a:rPr kumimoji="1" lang="ja-JP" altLang="en-US" sz="1400" dirty="0"/>
              <a:t>暑い日が</a:t>
            </a:r>
            <a:endParaRPr kumimoji="1" lang="en-US" altLang="ja-JP" sz="1400" dirty="0"/>
          </a:p>
          <a:p>
            <a:pPr marL="285750" indent="-285750">
              <a:lnSpc>
                <a:spcPct val="120000"/>
              </a:lnSpc>
              <a:buFont typeface="Wingdings" panose="05000000000000000000" pitchFamily="2" charset="2"/>
              <a:buChar char="l"/>
            </a:pPr>
            <a:r>
              <a:rPr lang="ja-JP" altLang="en-US" sz="1400" dirty="0"/>
              <a:t>しばらく続くと</a:t>
            </a:r>
            <a:endParaRPr lang="en-US" altLang="ja-JP" sz="1400" dirty="0"/>
          </a:p>
          <a:p>
            <a:pPr marL="285750" indent="-285750">
              <a:lnSpc>
                <a:spcPct val="120000"/>
              </a:lnSpc>
              <a:buFont typeface="Wingdings" panose="05000000000000000000" pitchFamily="2" charset="2"/>
              <a:buChar char="l"/>
            </a:pPr>
            <a:r>
              <a:rPr lang="ja-JP" altLang="en-US" sz="1400" dirty="0"/>
              <a:t>イネに悪い影響がある</a:t>
            </a:r>
            <a:endParaRPr kumimoji="1" lang="ja-JP" altLang="en-US" sz="1400" dirty="0"/>
          </a:p>
        </p:txBody>
      </p:sp>
      <p:sp>
        <p:nvSpPr>
          <p:cNvPr id="12" name="テキスト ボックス 11">
            <a:extLst>
              <a:ext uri="{FF2B5EF4-FFF2-40B4-BE49-F238E27FC236}">
                <a16:creationId xmlns:a16="http://schemas.microsoft.com/office/drawing/2014/main" id="{4AF341E2-621F-5C3F-E7B1-F22BBA25031B}"/>
              </a:ext>
            </a:extLst>
          </p:cNvPr>
          <p:cNvSpPr txBox="1"/>
          <p:nvPr/>
        </p:nvSpPr>
        <p:spPr>
          <a:xfrm>
            <a:off x="5054349" y="3779788"/>
            <a:ext cx="2869722" cy="1115690"/>
          </a:xfrm>
          <a:prstGeom prst="rect">
            <a:avLst/>
          </a:prstGeom>
          <a:noFill/>
        </p:spPr>
        <p:txBody>
          <a:bodyPr wrap="square" rtlCol="0">
            <a:spAutoFit/>
          </a:bodyPr>
          <a:lstStyle/>
          <a:p>
            <a:pPr marL="285750" indent="-285750">
              <a:lnSpc>
                <a:spcPct val="120000"/>
              </a:lnSpc>
              <a:buFont typeface="Wingdings" panose="05000000000000000000" pitchFamily="2" charset="2"/>
              <a:buChar char="l"/>
            </a:pPr>
            <a:r>
              <a:rPr kumimoji="1" lang="ja-JP" altLang="en-US" sz="1400" dirty="0"/>
              <a:t>日平均気温が</a:t>
            </a:r>
            <a:r>
              <a:rPr kumimoji="1" lang="en-US" altLang="ja-JP" sz="1400" dirty="0"/>
              <a:t>27</a:t>
            </a:r>
            <a:r>
              <a:rPr kumimoji="1" lang="ja-JP" altLang="en-US" sz="1400" dirty="0"/>
              <a:t>℃以上の日が</a:t>
            </a:r>
            <a:endParaRPr kumimoji="1" lang="en-US" altLang="ja-JP" sz="1400" dirty="0"/>
          </a:p>
          <a:p>
            <a:pPr marL="285750" indent="-285750">
              <a:lnSpc>
                <a:spcPct val="120000"/>
              </a:lnSpc>
              <a:buFont typeface="Wingdings" panose="05000000000000000000" pitchFamily="2" charset="2"/>
              <a:buChar char="l"/>
            </a:pPr>
            <a:r>
              <a:rPr lang="en-US" altLang="ja-JP" sz="1400" dirty="0"/>
              <a:t>10</a:t>
            </a:r>
            <a:r>
              <a:rPr lang="ja-JP" altLang="en-US" sz="1400" dirty="0"/>
              <a:t>日ほど続くと</a:t>
            </a:r>
            <a:endParaRPr lang="en-US" altLang="ja-JP" sz="1400" dirty="0"/>
          </a:p>
          <a:p>
            <a:pPr marL="285750" indent="-285750">
              <a:lnSpc>
                <a:spcPct val="120000"/>
              </a:lnSpc>
              <a:buFont typeface="Wingdings" panose="05000000000000000000" pitchFamily="2" charset="2"/>
              <a:buChar char="l"/>
            </a:pPr>
            <a:r>
              <a:rPr lang="ja-JP" altLang="en-US" sz="1400" dirty="0"/>
              <a:t>イネに高温障害が起こる可能性が高まる</a:t>
            </a:r>
            <a:endParaRPr kumimoji="1" lang="ja-JP" altLang="en-US" sz="1400" dirty="0"/>
          </a:p>
        </p:txBody>
      </p:sp>
      <p:sp>
        <p:nvSpPr>
          <p:cNvPr id="13" name="二等辺三角形 12">
            <a:extLst>
              <a:ext uri="{FF2B5EF4-FFF2-40B4-BE49-F238E27FC236}">
                <a16:creationId xmlns:a16="http://schemas.microsoft.com/office/drawing/2014/main" id="{9D204E82-CCED-27B0-EDAC-4ED3A8869CAA}"/>
              </a:ext>
            </a:extLst>
          </p:cNvPr>
          <p:cNvSpPr/>
          <p:nvPr/>
        </p:nvSpPr>
        <p:spPr>
          <a:xfrm rot="5400000">
            <a:off x="4165619" y="3040154"/>
            <a:ext cx="728508" cy="491103"/>
          </a:xfrm>
          <a:prstGeom prst="triangle">
            <a:avLst>
              <a:gd name="adj" fmla="val 50000"/>
            </a:avLst>
          </a:prstGeom>
          <a:solidFill>
            <a:schemeClr val="bg1">
              <a:lumMod val="6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pic>
        <p:nvPicPr>
          <p:cNvPr id="20" name="グラフィックス 19" descr="棒グラフ (上昇)">
            <a:extLst>
              <a:ext uri="{FF2B5EF4-FFF2-40B4-BE49-F238E27FC236}">
                <a16:creationId xmlns:a16="http://schemas.microsoft.com/office/drawing/2014/main" id="{24774168-ABC6-436C-E615-A281FA4943E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07922" y="1879800"/>
            <a:ext cx="1310326" cy="1310326"/>
          </a:xfrm>
          <a:prstGeom prst="rect">
            <a:avLst/>
          </a:prstGeom>
        </p:spPr>
      </p:pic>
      <p:pic>
        <p:nvPicPr>
          <p:cNvPr id="24" name="グラフィックス 23" descr="歯車付きの頭">
            <a:extLst>
              <a:ext uri="{FF2B5EF4-FFF2-40B4-BE49-F238E27FC236}">
                <a16:creationId xmlns:a16="http://schemas.microsoft.com/office/drawing/2014/main" id="{E64CC2EF-8D7A-E313-6465-B997865D1AF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48019" y="1894287"/>
            <a:ext cx="1297082" cy="1297082"/>
          </a:xfrm>
          <a:prstGeom prst="rect">
            <a:avLst/>
          </a:prstGeom>
        </p:spPr>
      </p:pic>
      <p:sp>
        <p:nvSpPr>
          <p:cNvPr id="43" name="吹き出し: 角を丸めた四角形 42">
            <a:extLst>
              <a:ext uri="{FF2B5EF4-FFF2-40B4-BE49-F238E27FC236}">
                <a16:creationId xmlns:a16="http://schemas.microsoft.com/office/drawing/2014/main" id="{0A0FDE4A-7BE7-08D2-74D8-89EE90F92A91}"/>
              </a:ext>
            </a:extLst>
          </p:cNvPr>
          <p:cNvSpPr/>
          <p:nvPr/>
        </p:nvSpPr>
        <p:spPr>
          <a:xfrm>
            <a:off x="7027576" y="1470635"/>
            <a:ext cx="1769744" cy="1268323"/>
          </a:xfrm>
          <a:prstGeom prst="wedgeRoundRectCallout">
            <a:avLst>
              <a:gd name="adj1" fmla="val -59923"/>
              <a:gd name="adj2" fmla="val 43299"/>
              <a:gd name="adj3" fmla="val 16667"/>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グラフィックス 16" descr="太陽">
            <a:extLst>
              <a:ext uri="{FF2B5EF4-FFF2-40B4-BE49-F238E27FC236}">
                <a16:creationId xmlns:a16="http://schemas.microsoft.com/office/drawing/2014/main" id="{9EE9D5AE-9FE4-9AA3-CCE7-DBEE956A34AF}"/>
              </a:ext>
            </a:extLst>
          </p:cNvPr>
          <p:cNvPicPr>
            <a:picLocks noChangeAspect="1"/>
          </p:cNvPicPr>
          <p:nvPr/>
        </p:nvPicPr>
        <p:blipFill>
          <a:blip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6209" y="1566508"/>
            <a:ext cx="725596" cy="725596"/>
          </a:xfrm>
          <a:prstGeom prst="rect">
            <a:avLst/>
          </a:prstGeom>
        </p:spPr>
      </p:pic>
      <p:grpSp>
        <p:nvGrpSpPr>
          <p:cNvPr id="30" name="グラフィックス 25" descr="温度計">
            <a:extLst>
              <a:ext uri="{FF2B5EF4-FFF2-40B4-BE49-F238E27FC236}">
                <a16:creationId xmlns:a16="http://schemas.microsoft.com/office/drawing/2014/main" id="{F343CAD0-0448-F3B0-862D-0461668FFA80}"/>
              </a:ext>
            </a:extLst>
          </p:cNvPr>
          <p:cNvGrpSpPr>
            <a:grpSpLocks noChangeAspect="1"/>
          </p:cNvGrpSpPr>
          <p:nvPr/>
        </p:nvGrpSpPr>
        <p:grpSpPr>
          <a:xfrm>
            <a:off x="7701978" y="1843391"/>
            <a:ext cx="219069" cy="484854"/>
            <a:chOff x="4242380" y="4284385"/>
            <a:chExt cx="313383" cy="693595"/>
          </a:xfrm>
          <a:solidFill>
            <a:srgbClr val="000000"/>
          </a:solidFill>
        </p:grpSpPr>
        <p:sp>
          <p:nvSpPr>
            <p:cNvPr id="31" name="フリーフォーム: 図形 30">
              <a:extLst>
                <a:ext uri="{FF2B5EF4-FFF2-40B4-BE49-F238E27FC236}">
                  <a16:creationId xmlns:a16="http://schemas.microsoft.com/office/drawing/2014/main" id="{6DA17B91-5A00-8CAF-C45F-269CBFC273B7}"/>
                </a:ext>
              </a:extLst>
            </p:cNvPr>
            <p:cNvSpPr/>
            <p:nvPr/>
          </p:nvSpPr>
          <p:spPr>
            <a:xfrm>
              <a:off x="4242380" y="4284385"/>
              <a:ext cx="313383" cy="693595"/>
            </a:xfrm>
            <a:custGeom>
              <a:avLst/>
              <a:gdLst>
                <a:gd name="connsiteX0" fmla="*/ 156692 w 313383"/>
                <a:gd name="connsiteY0" fmla="*/ 646626 h 693595"/>
                <a:gd name="connsiteX1" fmla="*/ 50226 w 313383"/>
                <a:gd name="connsiteY1" fmla="*/ 561296 h 693595"/>
                <a:gd name="connsiteX2" fmla="*/ 109721 w 313383"/>
                <a:gd name="connsiteY2" fmla="*/ 438390 h 693595"/>
                <a:gd name="connsiteX3" fmla="*/ 109721 w 313383"/>
                <a:gd name="connsiteY3" fmla="*/ 93941 h 693595"/>
                <a:gd name="connsiteX4" fmla="*/ 156692 w 313383"/>
                <a:gd name="connsiteY4" fmla="*/ 46970 h 693595"/>
                <a:gd name="connsiteX5" fmla="*/ 203662 w 313383"/>
                <a:gd name="connsiteY5" fmla="*/ 93941 h 693595"/>
                <a:gd name="connsiteX6" fmla="*/ 203662 w 313383"/>
                <a:gd name="connsiteY6" fmla="*/ 438390 h 693595"/>
                <a:gd name="connsiteX7" fmla="*/ 263158 w 313383"/>
                <a:gd name="connsiteY7" fmla="*/ 561296 h 693595"/>
                <a:gd name="connsiteX8" fmla="*/ 156692 w 313383"/>
                <a:gd name="connsiteY8" fmla="*/ 646626 h 693595"/>
                <a:gd name="connsiteX9" fmla="*/ 156692 w 313383"/>
                <a:gd name="connsiteY9" fmla="*/ 646626 h 693595"/>
                <a:gd name="connsiteX10" fmla="*/ 250633 w 313383"/>
                <a:gd name="connsiteY10" fmla="*/ 411774 h 693595"/>
                <a:gd name="connsiteX11" fmla="*/ 250633 w 313383"/>
                <a:gd name="connsiteY11" fmla="*/ 93941 h 693595"/>
                <a:gd name="connsiteX12" fmla="*/ 156692 w 313383"/>
                <a:gd name="connsiteY12" fmla="*/ 0 h 693595"/>
                <a:gd name="connsiteX13" fmla="*/ 62751 w 313383"/>
                <a:gd name="connsiteY13" fmla="*/ 93941 h 693595"/>
                <a:gd name="connsiteX14" fmla="*/ 62751 w 313383"/>
                <a:gd name="connsiteY14" fmla="*/ 411774 h 693595"/>
                <a:gd name="connsiteX15" fmla="*/ 7952 w 313383"/>
                <a:gd name="connsiteY15" fmla="*/ 586347 h 693595"/>
                <a:gd name="connsiteX16" fmla="*/ 156692 w 313383"/>
                <a:gd name="connsiteY16" fmla="*/ 693596 h 693595"/>
                <a:gd name="connsiteX17" fmla="*/ 305431 w 313383"/>
                <a:gd name="connsiteY17" fmla="*/ 586347 h 693595"/>
                <a:gd name="connsiteX18" fmla="*/ 250633 w 313383"/>
                <a:gd name="connsiteY18" fmla="*/ 411774 h 69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3383" h="693595">
                  <a:moveTo>
                    <a:pt x="156692" y="646626"/>
                  </a:moveTo>
                  <a:cubicBezTo>
                    <a:pt x="105807" y="646626"/>
                    <a:pt x="61185" y="610615"/>
                    <a:pt x="50226" y="561296"/>
                  </a:cubicBezTo>
                  <a:cubicBezTo>
                    <a:pt x="38483" y="511194"/>
                    <a:pt x="63534" y="460310"/>
                    <a:pt x="109721" y="438390"/>
                  </a:cubicBezTo>
                  <a:lnTo>
                    <a:pt x="109721" y="93941"/>
                  </a:lnTo>
                  <a:cubicBezTo>
                    <a:pt x="109721" y="68107"/>
                    <a:pt x="130858" y="46970"/>
                    <a:pt x="156692" y="46970"/>
                  </a:cubicBezTo>
                  <a:cubicBezTo>
                    <a:pt x="182526" y="46970"/>
                    <a:pt x="203662" y="68107"/>
                    <a:pt x="203662" y="93941"/>
                  </a:cubicBezTo>
                  <a:lnTo>
                    <a:pt x="203662" y="438390"/>
                  </a:lnTo>
                  <a:cubicBezTo>
                    <a:pt x="249850" y="460310"/>
                    <a:pt x="274118" y="511194"/>
                    <a:pt x="263158" y="561296"/>
                  </a:cubicBezTo>
                  <a:cubicBezTo>
                    <a:pt x="251415" y="610615"/>
                    <a:pt x="207576" y="645843"/>
                    <a:pt x="156692" y="646626"/>
                  </a:cubicBezTo>
                  <a:lnTo>
                    <a:pt x="156692" y="646626"/>
                  </a:lnTo>
                  <a:close/>
                  <a:moveTo>
                    <a:pt x="250633" y="411774"/>
                  </a:moveTo>
                  <a:lnTo>
                    <a:pt x="250633" y="93941"/>
                  </a:lnTo>
                  <a:cubicBezTo>
                    <a:pt x="250633" y="42273"/>
                    <a:pt x="208359" y="0"/>
                    <a:pt x="156692" y="0"/>
                  </a:cubicBezTo>
                  <a:cubicBezTo>
                    <a:pt x="105024" y="0"/>
                    <a:pt x="62751" y="41490"/>
                    <a:pt x="62751" y="93941"/>
                  </a:cubicBezTo>
                  <a:lnTo>
                    <a:pt x="62751" y="411774"/>
                  </a:lnTo>
                  <a:cubicBezTo>
                    <a:pt x="8735" y="452481"/>
                    <a:pt x="-13184" y="522937"/>
                    <a:pt x="7952" y="586347"/>
                  </a:cubicBezTo>
                  <a:cubicBezTo>
                    <a:pt x="29089" y="650540"/>
                    <a:pt x="89368" y="693596"/>
                    <a:pt x="156692" y="693596"/>
                  </a:cubicBezTo>
                  <a:cubicBezTo>
                    <a:pt x="224016" y="693596"/>
                    <a:pt x="284295" y="650540"/>
                    <a:pt x="305431" y="586347"/>
                  </a:cubicBezTo>
                  <a:cubicBezTo>
                    <a:pt x="326568" y="522937"/>
                    <a:pt x="304649" y="452481"/>
                    <a:pt x="250633" y="411774"/>
                  </a:cubicBezTo>
                  <a:close/>
                </a:path>
              </a:pathLst>
            </a:custGeom>
            <a:solidFill>
              <a:srgbClr val="000000"/>
            </a:solidFill>
            <a:ln w="7739" cap="flat">
              <a:noFill/>
              <a:prstDash val="solid"/>
              <a:miter/>
            </a:ln>
          </p:spPr>
          <p:txBody>
            <a:bodyPr rtlCol="0" anchor="ctr"/>
            <a:lstStyle/>
            <a:p>
              <a:endParaRPr lang="ja-JP" altLang="en-US"/>
            </a:p>
          </p:txBody>
        </p:sp>
        <p:sp>
          <p:nvSpPr>
            <p:cNvPr id="32" name="フリーフォーム: 図形 31">
              <a:extLst>
                <a:ext uri="{FF2B5EF4-FFF2-40B4-BE49-F238E27FC236}">
                  <a16:creationId xmlns:a16="http://schemas.microsoft.com/office/drawing/2014/main" id="{0E255103-701A-01A0-10C4-22DCC2CD17CF}"/>
                </a:ext>
              </a:extLst>
            </p:cNvPr>
            <p:cNvSpPr/>
            <p:nvPr/>
          </p:nvSpPr>
          <p:spPr>
            <a:xfrm>
              <a:off x="4321047" y="4555247"/>
              <a:ext cx="156049" cy="344449"/>
            </a:xfrm>
            <a:custGeom>
              <a:avLst/>
              <a:gdLst>
                <a:gd name="connsiteX0" fmla="*/ 93682 w 156049"/>
                <a:gd name="connsiteY0" fmla="*/ 189447 h 344449"/>
                <a:gd name="connsiteX1" fmla="*/ 93682 w 156049"/>
                <a:gd name="connsiteY1" fmla="*/ 0 h 344449"/>
                <a:gd name="connsiteX2" fmla="*/ 62368 w 156049"/>
                <a:gd name="connsiteY2" fmla="*/ 0 h 344449"/>
                <a:gd name="connsiteX3" fmla="*/ 62368 w 156049"/>
                <a:gd name="connsiteY3" fmla="*/ 189447 h 344449"/>
                <a:gd name="connsiteX4" fmla="*/ 524 w 156049"/>
                <a:gd name="connsiteY4" fmla="*/ 273994 h 344449"/>
                <a:gd name="connsiteX5" fmla="*/ 78025 w 156049"/>
                <a:gd name="connsiteY5" fmla="*/ 344449 h 344449"/>
                <a:gd name="connsiteX6" fmla="*/ 155526 w 156049"/>
                <a:gd name="connsiteY6" fmla="*/ 273994 h 344449"/>
                <a:gd name="connsiteX7" fmla="*/ 93682 w 156049"/>
                <a:gd name="connsiteY7" fmla="*/ 189447 h 344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049" h="344449">
                  <a:moveTo>
                    <a:pt x="93682" y="189447"/>
                  </a:moveTo>
                  <a:lnTo>
                    <a:pt x="93682" y="0"/>
                  </a:lnTo>
                  <a:lnTo>
                    <a:pt x="62368" y="0"/>
                  </a:lnTo>
                  <a:lnTo>
                    <a:pt x="62368" y="189447"/>
                  </a:lnTo>
                  <a:cubicBezTo>
                    <a:pt x="23226" y="197276"/>
                    <a:pt x="-4173" y="234069"/>
                    <a:pt x="524" y="273994"/>
                  </a:cubicBezTo>
                  <a:cubicBezTo>
                    <a:pt x="4438" y="313919"/>
                    <a:pt x="38100" y="344449"/>
                    <a:pt x="78025" y="344449"/>
                  </a:cubicBezTo>
                  <a:cubicBezTo>
                    <a:pt x="117950" y="344449"/>
                    <a:pt x="151612" y="313919"/>
                    <a:pt x="155526" y="273994"/>
                  </a:cubicBezTo>
                  <a:cubicBezTo>
                    <a:pt x="160223" y="234069"/>
                    <a:pt x="132824" y="197276"/>
                    <a:pt x="93682" y="189447"/>
                  </a:cubicBezTo>
                  <a:close/>
                </a:path>
              </a:pathLst>
            </a:custGeom>
            <a:solidFill>
              <a:schemeClr val="accent2"/>
            </a:solidFill>
            <a:ln w="7739" cap="flat">
              <a:noFill/>
              <a:prstDash val="solid"/>
              <a:miter/>
            </a:ln>
          </p:spPr>
          <p:txBody>
            <a:bodyPr rtlCol="0" anchor="ctr"/>
            <a:lstStyle/>
            <a:p>
              <a:endParaRPr lang="ja-JP" altLang="en-US" dirty="0"/>
            </a:p>
          </p:txBody>
        </p:sp>
      </p:grpSp>
      <p:sp>
        <p:nvSpPr>
          <p:cNvPr id="34" name="テキスト ボックス 33">
            <a:extLst>
              <a:ext uri="{FF2B5EF4-FFF2-40B4-BE49-F238E27FC236}">
                <a16:creationId xmlns:a16="http://schemas.microsoft.com/office/drawing/2014/main" id="{0A3783CF-1734-9924-71D7-549F140D91C0}"/>
              </a:ext>
            </a:extLst>
          </p:cNvPr>
          <p:cNvSpPr txBox="1"/>
          <p:nvPr/>
        </p:nvSpPr>
        <p:spPr>
          <a:xfrm>
            <a:off x="7027576" y="2391434"/>
            <a:ext cx="1865599" cy="261610"/>
          </a:xfrm>
          <a:prstGeom prst="rect">
            <a:avLst/>
          </a:prstGeom>
          <a:noFill/>
        </p:spPr>
        <p:txBody>
          <a:bodyPr wrap="square" rtlCol="0">
            <a:spAutoFit/>
          </a:bodyPr>
          <a:lstStyle/>
          <a:p>
            <a:pPr algn="ctr"/>
            <a:r>
              <a:rPr kumimoji="1" lang="ja-JP" altLang="en-US" sz="1100" dirty="0"/>
              <a:t>農業データ</a:t>
            </a:r>
            <a:r>
              <a:rPr lang="ja-JP" altLang="en-US" sz="1100" dirty="0"/>
              <a:t>・</a:t>
            </a:r>
            <a:r>
              <a:rPr kumimoji="1" lang="ja-JP" altLang="en-US" sz="1100" dirty="0"/>
              <a:t>気象データ</a:t>
            </a:r>
          </a:p>
        </p:txBody>
      </p:sp>
      <p:pic>
        <p:nvPicPr>
          <p:cNvPr id="42" name="グラフィックス 41" descr="葉">
            <a:extLst>
              <a:ext uri="{FF2B5EF4-FFF2-40B4-BE49-F238E27FC236}">
                <a16:creationId xmlns:a16="http://schemas.microsoft.com/office/drawing/2014/main" id="{1BC8FB11-11A9-C44A-44FC-0643C6F42016}"/>
              </a:ext>
            </a:extLst>
          </p:cNvPr>
          <p:cNvPicPr>
            <a:picLocks noChangeAspect="1"/>
          </p:cNvPicPr>
          <p:nvPr/>
        </p:nvPicPr>
        <p:blipFill>
          <a:blip r:embed="rId9" cstate="hq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062136" y="1836654"/>
            <a:ext cx="639842" cy="639842"/>
          </a:xfrm>
          <a:prstGeom prst="rect">
            <a:avLst/>
          </a:prstGeom>
        </p:spPr>
      </p:pic>
      <p:sp>
        <p:nvSpPr>
          <p:cNvPr id="5" name="テキスト ボックス 4">
            <a:extLst>
              <a:ext uri="{FF2B5EF4-FFF2-40B4-BE49-F238E27FC236}">
                <a16:creationId xmlns:a16="http://schemas.microsoft.com/office/drawing/2014/main" id="{64CF75C3-9FEF-426E-989B-7CC25142918B}"/>
              </a:ext>
            </a:extLst>
          </p:cNvPr>
          <p:cNvSpPr txBox="1"/>
          <p:nvPr/>
        </p:nvSpPr>
        <p:spPr>
          <a:xfrm>
            <a:off x="2425566" y="843895"/>
            <a:ext cx="6504672" cy="338554"/>
          </a:xfrm>
          <a:prstGeom prst="rect">
            <a:avLst/>
          </a:prstGeom>
          <a:noFill/>
        </p:spPr>
        <p:txBody>
          <a:bodyPr wrap="square">
            <a:spAutoFit/>
          </a:bodyPr>
          <a:lstStyle/>
          <a:p>
            <a:r>
              <a:rPr kumimoji="1" lang="ja-JP" altLang="en-US" sz="1600" dirty="0"/>
              <a:t>どのような気候のときにどのような影響があるかを見積もる</a:t>
            </a:r>
          </a:p>
        </p:txBody>
      </p:sp>
      <p:sp>
        <p:nvSpPr>
          <p:cNvPr id="14" name="テキスト ボックス 13">
            <a:extLst>
              <a:ext uri="{FF2B5EF4-FFF2-40B4-BE49-F238E27FC236}">
                <a16:creationId xmlns:a16="http://schemas.microsoft.com/office/drawing/2014/main" id="{7A6D7334-B5ED-0C97-B9F9-0C4E878CFF86}"/>
              </a:ext>
            </a:extLst>
          </p:cNvPr>
          <p:cNvSpPr txBox="1"/>
          <p:nvPr/>
        </p:nvSpPr>
        <p:spPr>
          <a:xfrm>
            <a:off x="2564635" y="5375381"/>
            <a:ext cx="6351739" cy="338554"/>
          </a:xfrm>
          <a:prstGeom prst="rect">
            <a:avLst/>
          </a:prstGeom>
          <a:noFill/>
        </p:spPr>
        <p:txBody>
          <a:bodyPr wrap="square">
            <a:spAutoFit/>
          </a:bodyPr>
          <a:lstStyle/>
          <a:p>
            <a:r>
              <a:rPr lang="ja-JP" altLang="en-US" sz="1600" dirty="0"/>
              <a:t>将来の気候の見通しをたてて気候リスクの軽減を目指す</a:t>
            </a:r>
          </a:p>
        </p:txBody>
      </p:sp>
    </p:spTree>
    <p:extLst>
      <p:ext uri="{BB962C8B-B14F-4D97-AF65-F5344CB8AC3E}">
        <p14:creationId xmlns:p14="http://schemas.microsoft.com/office/powerpoint/2010/main" val="1369090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直線コネクタ 37">
            <a:extLst>
              <a:ext uri="{FF2B5EF4-FFF2-40B4-BE49-F238E27FC236}">
                <a16:creationId xmlns:a16="http://schemas.microsoft.com/office/drawing/2014/main" id="{5E5E0E39-A41A-5C3D-7223-9E29FEFF7844}"/>
              </a:ext>
            </a:extLst>
          </p:cNvPr>
          <p:cNvCxnSpPr>
            <a:cxnSpLocks/>
          </p:cNvCxnSpPr>
          <p:nvPr/>
        </p:nvCxnSpPr>
        <p:spPr>
          <a:xfrm>
            <a:off x="7050785" y="4497156"/>
            <a:ext cx="0" cy="1669605"/>
          </a:xfrm>
          <a:prstGeom prst="line">
            <a:avLst/>
          </a:prstGeom>
          <a:ln w="19050">
            <a:solidFill>
              <a:schemeClr val="bg1">
                <a:lumMod val="65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 name="タイトル 1">
            <a:extLst>
              <a:ext uri="{FF2B5EF4-FFF2-40B4-BE49-F238E27FC236}">
                <a16:creationId xmlns:a16="http://schemas.microsoft.com/office/drawing/2014/main" id="{DA13BE21-99D6-F2DF-2D34-6A7BB3EDB70C}"/>
              </a:ext>
            </a:extLst>
          </p:cNvPr>
          <p:cNvSpPr>
            <a:spLocks noGrp="1"/>
          </p:cNvSpPr>
          <p:nvPr>
            <p:ph type="title"/>
          </p:nvPr>
        </p:nvSpPr>
        <p:spPr/>
        <p:txBody>
          <a:bodyPr/>
          <a:lstStyle/>
          <a:p>
            <a:r>
              <a:rPr kumimoji="1" lang="ja-JP" altLang="en-US" dirty="0"/>
              <a:t>気象データの活用イメージ：高度利用</a:t>
            </a:r>
          </a:p>
        </p:txBody>
      </p:sp>
      <p:sp>
        <p:nvSpPr>
          <p:cNvPr id="48" name="コンテンツ プレースホルダー 47">
            <a:extLst>
              <a:ext uri="{FF2B5EF4-FFF2-40B4-BE49-F238E27FC236}">
                <a16:creationId xmlns:a16="http://schemas.microsoft.com/office/drawing/2014/main" id="{6C3FED60-D46C-888C-0675-DF7BDBC886C2}"/>
              </a:ext>
            </a:extLst>
          </p:cNvPr>
          <p:cNvSpPr>
            <a:spLocks noGrp="1"/>
          </p:cNvSpPr>
          <p:nvPr>
            <p:ph idx="1"/>
          </p:nvPr>
        </p:nvSpPr>
        <p:spPr/>
        <p:txBody>
          <a:bodyPr/>
          <a:lstStyle/>
          <a:p>
            <a:r>
              <a:rPr lang="ja-JP" altLang="en-US" dirty="0"/>
              <a:t>生育の進度がどの程度平年から隔たりそうか、客観的に評価</a:t>
            </a:r>
          </a:p>
        </p:txBody>
      </p:sp>
      <p:sp>
        <p:nvSpPr>
          <p:cNvPr id="4" name="スライド番号プレースホルダー 3">
            <a:extLst>
              <a:ext uri="{FF2B5EF4-FFF2-40B4-BE49-F238E27FC236}">
                <a16:creationId xmlns:a16="http://schemas.microsoft.com/office/drawing/2014/main" id="{06EA584D-5ED1-9E2C-DF1F-5B962FC05460}"/>
              </a:ext>
            </a:extLst>
          </p:cNvPr>
          <p:cNvSpPr>
            <a:spLocks noGrp="1"/>
          </p:cNvSpPr>
          <p:nvPr>
            <p:ph type="sldNum" sz="quarter" idx="12"/>
          </p:nvPr>
        </p:nvSpPr>
        <p:spPr/>
        <p:txBody>
          <a:bodyPr/>
          <a:lstStyle/>
          <a:p>
            <a:fld id="{5F9F9204-6EDA-41A6-81B7-5E8491083ADF}" type="slidenum">
              <a:rPr kumimoji="1" lang="ja-JP" altLang="en-US" smtClean="0"/>
              <a:t>5</a:t>
            </a:fld>
            <a:endParaRPr kumimoji="1" lang="ja-JP" altLang="en-US" dirty="0"/>
          </a:p>
        </p:txBody>
      </p:sp>
      <p:sp>
        <p:nvSpPr>
          <p:cNvPr id="6" name="矢印: 右 5">
            <a:extLst>
              <a:ext uri="{FF2B5EF4-FFF2-40B4-BE49-F238E27FC236}">
                <a16:creationId xmlns:a16="http://schemas.microsoft.com/office/drawing/2014/main" id="{6083EB44-AA9B-E33B-7E6B-82A16DCE3C0E}"/>
              </a:ext>
            </a:extLst>
          </p:cNvPr>
          <p:cNvSpPr/>
          <p:nvPr/>
        </p:nvSpPr>
        <p:spPr>
          <a:xfrm>
            <a:off x="2418019" y="2137443"/>
            <a:ext cx="4824000" cy="137917"/>
          </a:xfrm>
          <a:prstGeom prst="rightArrow">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p>
        </p:txBody>
      </p:sp>
      <p:cxnSp>
        <p:nvCxnSpPr>
          <p:cNvPr id="7" name="直線コネクタ 6">
            <a:extLst>
              <a:ext uri="{FF2B5EF4-FFF2-40B4-BE49-F238E27FC236}">
                <a16:creationId xmlns:a16="http://schemas.microsoft.com/office/drawing/2014/main" id="{9B62B2B8-F754-7932-4E23-9B28B5524E49}"/>
              </a:ext>
            </a:extLst>
          </p:cNvPr>
          <p:cNvCxnSpPr>
            <a:cxnSpLocks/>
          </p:cNvCxnSpPr>
          <p:nvPr/>
        </p:nvCxnSpPr>
        <p:spPr>
          <a:xfrm flipH="1" flipV="1">
            <a:off x="770894" y="2678860"/>
            <a:ext cx="7560000" cy="0"/>
          </a:xfrm>
          <a:prstGeom prst="line">
            <a:avLst/>
          </a:prstGeom>
          <a:ln w="19050">
            <a:solidFill>
              <a:schemeClr val="bg1">
                <a:lumMod val="65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8FAC73C0-5765-6276-B64C-DC01B647722F}"/>
              </a:ext>
            </a:extLst>
          </p:cNvPr>
          <p:cNvSpPr txBox="1"/>
          <p:nvPr/>
        </p:nvSpPr>
        <p:spPr>
          <a:xfrm>
            <a:off x="563628" y="2022540"/>
            <a:ext cx="1358821" cy="523220"/>
          </a:xfrm>
          <a:prstGeom prst="rect">
            <a:avLst/>
          </a:prstGeom>
          <a:noFill/>
        </p:spPr>
        <p:txBody>
          <a:bodyPr wrap="square" rtlCol="0">
            <a:spAutoFit/>
          </a:bodyPr>
          <a:lstStyle/>
          <a:p>
            <a:pPr algn="ctr"/>
            <a:r>
              <a:rPr lang="ja-JP" altLang="en-US" sz="1600" b="1" dirty="0">
                <a:solidFill>
                  <a:schemeClr val="accent2"/>
                </a:solidFill>
              </a:rPr>
              <a:t>予測値</a:t>
            </a:r>
            <a:endParaRPr lang="en-US" altLang="ja-JP" sz="1600" b="1" dirty="0">
              <a:solidFill>
                <a:schemeClr val="accent2"/>
              </a:solidFill>
            </a:endParaRPr>
          </a:p>
          <a:p>
            <a:pPr algn="ctr"/>
            <a:r>
              <a:rPr lang="ja-JP" altLang="en-US" sz="1200" dirty="0"/>
              <a:t>を用いた手法</a:t>
            </a:r>
          </a:p>
        </p:txBody>
      </p:sp>
      <p:sp>
        <p:nvSpPr>
          <p:cNvPr id="10" name="矢印: 右 9">
            <a:extLst>
              <a:ext uri="{FF2B5EF4-FFF2-40B4-BE49-F238E27FC236}">
                <a16:creationId xmlns:a16="http://schemas.microsoft.com/office/drawing/2014/main" id="{EAA2D93A-C12D-7665-D51B-6152669A231E}"/>
              </a:ext>
            </a:extLst>
          </p:cNvPr>
          <p:cNvSpPr/>
          <p:nvPr/>
        </p:nvSpPr>
        <p:spPr>
          <a:xfrm>
            <a:off x="2450594" y="3065227"/>
            <a:ext cx="5364000" cy="137917"/>
          </a:xfrm>
          <a:prstGeom prst="rightArrow">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1" name="四角形: 角を丸くする 10">
            <a:extLst>
              <a:ext uri="{FF2B5EF4-FFF2-40B4-BE49-F238E27FC236}">
                <a16:creationId xmlns:a16="http://schemas.microsoft.com/office/drawing/2014/main" id="{3392162A-F3EE-DA01-1326-B57C94D81519}"/>
              </a:ext>
            </a:extLst>
          </p:cNvPr>
          <p:cNvSpPr/>
          <p:nvPr/>
        </p:nvSpPr>
        <p:spPr>
          <a:xfrm>
            <a:off x="3860525" y="1859995"/>
            <a:ext cx="396000" cy="1620000"/>
          </a:xfrm>
          <a:prstGeom prst="roundRect">
            <a:avLst>
              <a:gd name="adj" fmla="val 50000"/>
            </a:avLst>
          </a:prstGeom>
          <a:solidFill>
            <a:schemeClr val="bg1"/>
          </a:solid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ja-JP" altLang="en-US" sz="1400" dirty="0">
                <a:solidFill>
                  <a:schemeClr val="tx1"/>
                </a:solidFill>
              </a:rPr>
              <a:t>予     測     日</a:t>
            </a:r>
          </a:p>
        </p:txBody>
      </p:sp>
      <p:sp>
        <p:nvSpPr>
          <p:cNvPr id="12" name="四角形: 角を丸くする 11">
            <a:extLst>
              <a:ext uri="{FF2B5EF4-FFF2-40B4-BE49-F238E27FC236}">
                <a16:creationId xmlns:a16="http://schemas.microsoft.com/office/drawing/2014/main" id="{07FEBB3A-6903-576C-EE7A-73867270ECC3}"/>
              </a:ext>
            </a:extLst>
          </p:cNvPr>
          <p:cNvSpPr/>
          <p:nvPr/>
        </p:nvSpPr>
        <p:spPr>
          <a:xfrm>
            <a:off x="2644083" y="2019339"/>
            <a:ext cx="1063888" cy="360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dirty="0"/>
              <a:t>実測値</a:t>
            </a:r>
          </a:p>
        </p:txBody>
      </p:sp>
      <p:sp>
        <p:nvSpPr>
          <p:cNvPr id="13" name="四角形: 角を丸くする 12">
            <a:extLst>
              <a:ext uri="{FF2B5EF4-FFF2-40B4-BE49-F238E27FC236}">
                <a16:creationId xmlns:a16="http://schemas.microsoft.com/office/drawing/2014/main" id="{E8517684-C667-018A-D6DB-88DE4B9B5E71}"/>
              </a:ext>
            </a:extLst>
          </p:cNvPr>
          <p:cNvSpPr/>
          <p:nvPr/>
        </p:nvSpPr>
        <p:spPr>
          <a:xfrm>
            <a:off x="2649981" y="2944349"/>
            <a:ext cx="1063888" cy="36000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dirty="0"/>
              <a:t>実測値</a:t>
            </a:r>
          </a:p>
        </p:txBody>
      </p:sp>
      <p:sp>
        <p:nvSpPr>
          <p:cNvPr id="14" name="四角形: 角を丸くする 13">
            <a:extLst>
              <a:ext uri="{FF2B5EF4-FFF2-40B4-BE49-F238E27FC236}">
                <a16:creationId xmlns:a16="http://schemas.microsoft.com/office/drawing/2014/main" id="{6CA28D42-D735-4E84-177B-3AF81DCFFD19}"/>
              </a:ext>
            </a:extLst>
          </p:cNvPr>
          <p:cNvSpPr/>
          <p:nvPr/>
        </p:nvSpPr>
        <p:spPr>
          <a:xfrm>
            <a:off x="4390232" y="2011004"/>
            <a:ext cx="1484724" cy="360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dirty="0"/>
              <a:t>気温予測値</a:t>
            </a:r>
          </a:p>
        </p:txBody>
      </p:sp>
      <p:sp>
        <p:nvSpPr>
          <p:cNvPr id="15" name="四角形: 角を丸くする 14">
            <a:extLst>
              <a:ext uri="{FF2B5EF4-FFF2-40B4-BE49-F238E27FC236}">
                <a16:creationId xmlns:a16="http://schemas.microsoft.com/office/drawing/2014/main" id="{2AA3F8F5-8A0C-085B-18C3-285AF34DBC87}"/>
              </a:ext>
            </a:extLst>
          </p:cNvPr>
          <p:cNvSpPr/>
          <p:nvPr/>
        </p:nvSpPr>
        <p:spPr>
          <a:xfrm>
            <a:off x="5959634" y="1998909"/>
            <a:ext cx="1080000" cy="3600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dirty="0"/>
              <a:t>平年値</a:t>
            </a:r>
          </a:p>
        </p:txBody>
      </p:sp>
      <p:sp>
        <p:nvSpPr>
          <p:cNvPr id="16" name="四角形: 角を丸くする 15">
            <a:extLst>
              <a:ext uri="{FF2B5EF4-FFF2-40B4-BE49-F238E27FC236}">
                <a16:creationId xmlns:a16="http://schemas.microsoft.com/office/drawing/2014/main" id="{1A85E2F3-1CD2-2AFD-8053-18E472D5E8E7}"/>
              </a:ext>
            </a:extLst>
          </p:cNvPr>
          <p:cNvSpPr/>
          <p:nvPr/>
        </p:nvSpPr>
        <p:spPr>
          <a:xfrm>
            <a:off x="4689771" y="2933730"/>
            <a:ext cx="2302871" cy="360000"/>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400" dirty="0"/>
              <a:t>平　年　値</a:t>
            </a:r>
          </a:p>
        </p:txBody>
      </p:sp>
      <p:sp>
        <p:nvSpPr>
          <p:cNvPr id="17" name="四角形: 角を丸くする 16">
            <a:extLst>
              <a:ext uri="{FF2B5EF4-FFF2-40B4-BE49-F238E27FC236}">
                <a16:creationId xmlns:a16="http://schemas.microsoft.com/office/drawing/2014/main" id="{183A9E17-A9C5-0786-A031-2B46642E91CF}"/>
              </a:ext>
            </a:extLst>
          </p:cNvPr>
          <p:cNvSpPr/>
          <p:nvPr/>
        </p:nvSpPr>
        <p:spPr>
          <a:xfrm>
            <a:off x="2093485" y="1855340"/>
            <a:ext cx="409664" cy="1620000"/>
          </a:xfrm>
          <a:prstGeom prst="roundRect">
            <a:avLst>
              <a:gd name="adj" fmla="val 50000"/>
            </a:avLst>
          </a:prstGeom>
          <a:solidFill>
            <a:schemeClr val="bg1"/>
          </a:solid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ja-JP" altLang="en-US" sz="1400" dirty="0">
                <a:solidFill>
                  <a:schemeClr val="tx1"/>
                </a:solidFill>
              </a:rPr>
              <a:t>起　算　日</a:t>
            </a:r>
          </a:p>
        </p:txBody>
      </p:sp>
      <p:sp>
        <p:nvSpPr>
          <p:cNvPr id="18" name="四角形: 角を丸くする 17">
            <a:extLst>
              <a:ext uri="{FF2B5EF4-FFF2-40B4-BE49-F238E27FC236}">
                <a16:creationId xmlns:a16="http://schemas.microsoft.com/office/drawing/2014/main" id="{0F158C3E-DB5A-668D-BE48-B9D886F7E702}"/>
              </a:ext>
            </a:extLst>
          </p:cNvPr>
          <p:cNvSpPr/>
          <p:nvPr/>
        </p:nvSpPr>
        <p:spPr>
          <a:xfrm>
            <a:off x="7836175" y="2772568"/>
            <a:ext cx="396000" cy="720000"/>
          </a:xfrm>
          <a:prstGeom prst="roundRect">
            <a:avLst>
              <a:gd name="adj" fmla="val 50000"/>
            </a:avLst>
          </a:prstGeom>
          <a:solidFill>
            <a:schemeClr val="bg1"/>
          </a:solid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ja-JP" altLang="en-US" sz="1400" dirty="0">
                <a:solidFill>
                  <a:schemeClr val="tx1"/>
                </a:solidFill>
              </a:rPr>
              <a:t>適 期</a:t>
            </a:r>
          </a:p>
        </p:txBody>
      </p:sp>
      <p:sp>
        <p:nvSpPr>
          <p:cNvPr id="19" name="四角形: 角を丸くする 18">
            <a:extLst>
              <a:ext uri="{FF2B5EF4-FFF2-40B4-BE49-F238E27FC236}">
                <a16:creationId xmlns:a16="http://schemas.microsoft.com/office/drawing/2014/main" id="{468DE985-DA8F-F164-40AB-39EC45FCD33D}"/>
              </a:ext>
            </a:extLst>
          </p:cNvPr>
          <p:cNvSpPr/>
          <p:nvPr/>
        </p:nvSpPr>
        <p:spPr>
          <a:xfrm>
            <a:off x="7266199" y="1835165"/>
            <a:ext cx="396000" cy="720000"/>
          </a:xfrm>
          <a:prstGeom prst="roundRect">
            <a:avLst>
              <a:gd name="adj" fmla="val 50000"/>
            </a:avLst>
          </a:prstGeom>
          <a:solidFill>
            <a:schemeClr val="bg1"/>
          </a:solid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ja-JP" altLang="en-US" sz="1400" dirty="0">
                <a:solidFill>
                  <a:schemeClr val="tx1"/>
                </a:solidFill>
              </a:rPr>
              <a:t>適 期</a:t>
            </a:r>
          </a:p>
        </p:txBody>
      </p:sp>
      <p:sp>
        <p:nvSpPr>
          <p:cNvPr id="20" name="四角形: 角を丸くする 19">
            <a:extLst>
              <a:ext uri="{FF2B5EF4-FFF2-40B4-BE49-F238E27FC236}">
                <a16:creationId xmlns:a16="http://schemas.microsoft.com/office/drawing/2014/main" id="{80D2C718-42EE-7981-0075-EF64CDC648EB}"/>
              </a:ext>
            </a:extLst>
          </p:cNvPr>
          <p:cNvSpPr/>
          <p:nvPr/>
        </p:nvSpPr>
        <p:spPr>
          <a:xfrm>
            <a:off x="7774541" y="1957584"/>
            <a:ext cx="579829" cy="47914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50" dirty="0"/>
              <a:t>適期改善</a:t>
            </a:r>
          </a:p>
        </p:txBody>
      </p:sp>
      <p:sp>
        <p:nvSpPr>
          <p:cNvPr id="21" name="二等辺三角形 20">
            <a:extLst>
              <a:ext uri="{FF2B5EF4-FFF2-40B4-BE49-F238E27FC236}">
                <a16:creationId xmlns:a16="http://schemas.microsoft.com/office/drawing/2014/main" id="{EB94BCFF-7874-6EFF-2170-FB66C4E44A5C}"/>
              </a:ext>
            </a:extLst>
          </p:cNvPr>
          <p:cNvSpPr/>
          <p:nvPr/>
        </p:nvSpPr>
        <p:spPr>
          <a:xfrm rot="13069857">
            <a:off x="7819959" y="2341971"/>
            <a:ext cx="128361" cy="285712"/>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2" name="矢印: 左 21">
            <a:extLst>
              <a:ext uri="{FF2B5EF4-FFF2-40B4-BE49-F238E27FC236}">
                <a16:creationId xmlns:a16="http://schemas.microsoft.com/office/drawing/2014/main" id="{09ECDEC8-B763-7795-17FB-6CFC7E79E10D}"/>
              </a:ext>
            </a:extLst>
          </p:cNvPr>
          <p:cNvSpPr/>
          <p:nvPr/>
        </p:nvSpPr>
        <p:spPr>
          <a:xfrm>
            <a:off x="7436668" y="2602112"/>
            <a:ext cx="554148" cy="147356"/>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p>
        </p:txBody>
      </p:sp>
      <p:cxnSp>
        <p:nvCxnSpPr>
          <p:cNvPr id="43" name="コネクタ: カギ線 42">
            <a:extLst>
              <a:ext uri="{FF2B5EF4-FFF2-40B4-BE49-F238E27FC236}">
                <a16:creationId xmlns:a16="http://schemas.microsoft.com/office/drawing/2014/main" id="{A8D6F86D-C0BD-94F0-87A2-A0A67D5533D2}"/>
              </a:ext>
            </a:extLst>
          </p:cNvPr>
          <p:cNvCxnSpPr/>
          <p:nvPr/>
        </p:nvCxnSpPr>
        <p:spPr>
          <a:xfrm>
            <a:off x="3577192" y="4289306"/>
            <a:ext cx="4824000" cy="1836000"/>
          </a:xfrm>
          <a:prstGeom prst="bentConnector3">
            <a:avLst>
              <a:gd name="adj1" fmla="val 327"/>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6" name="直線矢印コネクタ 65">
            <a:extLst>
              <a:ext uri="{FF2B5EF4-FFF2-40B4-BE49-F238E27FC236}">
                <a16:creationId xmlns:a16="http://schemas.microsoft.com/office/drawing/2014/main" id="{1397E2C1-5861-E651-EDD5-A645251E8D47}"/>
              </a:ext>
            </a:extLst>
          </p:cNvPr>
          <p:cNvCxnSpPr>
            <a:cxnSpLocks/>
          </p:cNvCxnSpPr>
          <p:nvPr/>
        </p:nvCxnSpPr>
        <p:spPr>
          <a:xfrm flipV="1">
            <a:off x="4656502" y="4924387"/>
            <a:ext cx="1575961" cy="815144"/>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矢印コネクタ 68">
            <a:extLst>
              <a:ext uri="{FF2B5EF4-FFF2-40B4-BE49-F238E27FC236}">
                <a16:creationId xmlns:a16="http://schemas.microsoft.com/office/drawing/2014/main" id="{01CC25CB-797A-FC1C-696F-39D59BFB975E}"/>
              </a:ext>
            </a:extLst>
          </p:cNvPr>
          <p:cNvCxnSpPr>
            <a:cxnSpLocks/>
          </p:cNvCxnSpPr>
          <p:nvPr/>
        </p:nvCxnSpPr>
        <p:spPr>
          <a:xfrm flipV="1">
            <a:off x="6251381" y="4510275"/>
            <a:ext cx="773766" cy="422674"/>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矢印コネクタ 70">
            <a:extLst>
              <a:ext uri="{FF2B5EF4-FFF2-40B4-BE49-F238E27FC236}">
                <a16:creationId xmlns:a16="http://schemas.microsoft.com/office/drawing/2014/main" id="{32A5B59A-4A80-7285-B5CB-BD7BC7C354A3}"/>
              </a:ext>
            </a:extLst>
          </p:cNvPr>
          <p:cNvCxnSpPr>
            <a:cxnSpLocks/>
          </p:cNvCxnSpPr>
          <p:nvPr/>
        </p:nvCxnSpPr>
        <p:spPr>
          <a:xfrm flipV="1">
            <a:off x="4664998" y="4500332"/>
            <a:ext cx="3219789" cy="1241733"/>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コネクタ 74">
            <a:extLst>
              <a:ext uri="{FF2B5EF4-FFF2-40B4-BE49-F238E27FC236}">
                <a16:creationId xmlns:a16="http://schemas.microsoft.com/office/drawing/2014/main" id="{3ADC1598-4016-C82A-4495-07AEE277AE4E}"/>
              </a:ext>
            </a:extLst>
          </p:cNvPr>
          <p:cNvCxnSpPr>
            <a:cxnSpLocks/>
          </p:cNvCxnSpPr>
          <p:nvPr/>
        </p:nvCxnSpPr>
        <p:spPr>
          <a:xfrm flipV="1">
            <a:off x="3596242" y="4458749"/>
            <a:ext cx="4543419" cy="21655"/>
          </a:xfrm>
          <a:prstGeom prst="line">
            <a:avLst/>
          </a:prstGeom>
          <a:ln w="19050">
            <a:solidFill>
              <a:schemeClr val="bg1">
                <a:lumMod val="65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88" name="テキスト ボックス 87">
            <a:extLst>
              <a:ext uri="{FF2B5EF4-FFF2-40B4-BE49-F238E27FC236}">
                <a16:creationId xmlns:a16="http://schemas.microsoft.com/office/drawing/2014/main" id="{42BD212B-E636-ED18-4BE9-2BF65E5558E0}"/>
              </a:ext>
            </a:extLst>
          </p:cNvPr>
          <p:cNvSpPr txBox="1"/>
          <p:nvPr/>
        </p:nvSpPr>
        <p:spPr>
          <a:xfrm>
            <a:off x="3151048" y="4695642"/>
            <a:ext cx="400110" cy="1116747"/>
          </a:xfrm>
          <a:prstGeom prst="rect">
            <a:avLst/>
          </a:prstGeom>
          <a:noFill/>
        </p:spPr>
        <p:txBody>
          <a:bodyPr vert="eaVert" wrap="square" rtlCol="0">
            <a:spAutoFit/>
          </a:bodyPr>
          <a:lstStyle/>
          <a:p>
            <a:pPr algn="ctr"/>
            <a:r>
              <a:rPr kumimoji="1" lang="ja-JP" altLang="en-US" sz="1400" dirty="0"/>
              <a:t>積算気温</a:t>
            </a:r>
          </a:p>
        </p:txBody>
      </p:sp>
      <p:sp>
        <p:nvSpPr>
          <p:cNvPr id="89" name="テキスト ボックス 88">
            <a:extLst>
              <a:ext uri="{FF2B5EF4-FFF2-40B4-BE49-F238E27FC236}">
                <a16:creationId xmlns:a16="http://schemas.microsoft.com/office/drawing/2014/main" id="{CC993E41-1EA8-9D71-8FD9-057F59870C52}"/>
              </a:ext>
            </a:extLst>
          </p:cNvPr>
          <p:cNvSpPr txBox="1"/>
          <p:nvPr/>
        </p:nvSpPr>
        <p:spPr>
          <a:xfrm>
            <a:off x="3106285" y="6196156"/>
            <a:ext cx="999685" cy="276999"/>
          </a:xfrm>
          <a:prstGeom prst="rect">
            <a:avLst/>
          </a:prstGeom>
          <a:noFill/>
        </p:spPr>
        <p:txBody>
          <a:bodyPr wrap="square" rtlCol="0">
            <a:spAutoFit/>
          </a:bodyPr>
          <a:lstStyle/>
          <a:p>
            <a:pPr algn="ctr"/>
            <a:r>
              <a:rPr kumimoji="1" lang="ja-JP" altLang="en-US" sz="1200" b="1" dirty="0"/>
              <a:t>起算日</a:t>
            </a:r>
          </a:p>
        </p:txBody>
      </p:sp>
      <p:cxnSp>
        <p:nvCxnSpPr>
          <p:cNvPr id="91" name="直線コネクタ 90">
            <a:extLst>
              <a:ext uri="{FF2B5EF4-FFF2-40B4-BE49-F238E27FC236}">
                <a16:creationId xmlns:a16="http://schemas.microsoft.com/office/drawing/2014/main" id="{5FC2F65E-AEBF-B470-6E7F-372411698824}"/>
              </a:ext>
            </a:extLst>
          </p:cNvPr>
          <p:cNvCxnSpPr>
            <a:cxnSpLocks/>
          </p:cNvCxnSpPr>
          <p:nvPr/>
        </p:nvCxnSpPr>
        <p:spPr>
          <a:xfrm>
            <a:off x="4678201" y="4469576"/>
            <a:ext cx="0" cy="1669605"/>
          </a:xfrm>
          <a:prstGeom prst="line">
            <a:avLst/>
          </a:prstGeom>
          <a:ln w="19050">
            <a:solidFill>
              <a:schemeClr val="bg1">
                <a:lumMod val="65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95" name="四角形: 角を丸くする 94">
            <a:extLst>
              <a:ext uri="{FF2B5EF4-FFF2-40B4-BE49-F238E27FC236}">
                <a16:creationId xmlns:a16="http://schemas.microsoft.com/office/drawing/2014/main" id="{69BBE275-3C08-D96C-8171-4D7998289FCC}"/>
              </a:ext>
            </a:extLst>
          </p:cNvPr>
          <p:cNvSpPr/>
          <p:nvPr/>
        </p:nvSpPr>
        <p:spPr>
          <a:xfrm>
            <a:off x="7082957" y="3989747"/>
            <a:ext cx="1089386" cy="33834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400" dirty="0"/>
              <a:t>適期改善</a:t>
            </a:r>
          </a:p>
        </p:txBody>
      </p:sp>
      <p:sp>
        <p:nvSpPr>
          <p:cNvPr id="97" name="二等辺三角形 96">
            <a:extLst>
              <a:ext uri="{FF2B5EF4-FFF2-40B4-BE49-F238E27FC236}">
                <a16:creationId xmlns:a16="http://schemas.microsoft.com/office/drawing/2014/main" id="{1DB9C383-CD80-5F68-5BAC-1BDFBF6C4E65}"/>
              </a:ext>
            </a:extLst>
          </p:cNvPr>
          <p:cNvSpPr/>
          <p:nvPr/>
        </p:nvSpPr>
        <p:spPr>
          <a:xfrm rot="13069857">
            <a:off x="7459790" y="4195789"/>
            <a:ext cx="89664" cy="285712"/>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98" name="テキスト ボックス 97">
            <a:extLst>
              <a:ext uri="{FF2B5EF4-FFF2-40B4-BE49-F238E27FC236}">
                <a16:creationId xmlns:a16="http://schemas.microsoft.com/office/drawing/2014/main" id="{862B757F-935B-36A1-E8A4-193F704D1C14}"/>
              </a:ext>
            </a:extLst>
          </p:cNvPr>
          <p:cNvSpPr txBox="1"/>
          <p:nvPr/>
        </p:nvSpPr>
        <p:spPr>
          <a:xfrm>
            <a:off x="7447323" y="6173847"/>
            <a:ext cx="1089386" cy="430887"/>
          </a:xfrm>
          <a:prstGeom prst="rect">
            <a:avLst/>
          </a:prstGeom>
          <a:noFill/>
        </p:spPr>
        <p:txBody>
          <a:bodyPr wrap="square" rtlCol="0">
            <a:spAutoFit/>
          </a:bodyPr>
          <a:lstStyle/>
          <a:p>
            <a:pPr algn="ctr"/>
            <a:r>
              <a:rPr kumimoji="1" lang="ja-JP" altLang="en-US" sz="1050" b="1" dirty="0">
                <a:solidFill>
                  <a:schemeClr val="tx2"/>
                </a:solidFill>
              </a:rPr>
              <a:t>平年値による適期予測</a:t>
            </a:r>
          </a:p>
        </p:txBody>
      </p:sp>
      <p:sp>
        <p:nvSpPr>
          <p:cNvPr id="99" name="テキスト ボックス 98">
            <a:extLst>
              <a:ext uri="{FF2B5EF4-FFF2-40B4-BE49-F238E27FC236}">
                <a16:creationId xmlns:a16="http://schemas.microsoft.com/office/drawing/2014/main" id="{ABC68166-7EBB-97E1-1451-7F9BD443973A}"/>
              </a:ext>
            </a:extLst>
          </p:cNvPr>
          <p:cNvSpPr txBox="1"/>
          <p:nvPr/>
        </p:nvSpPr>
        <p:spPr>
          <a:xfrm>
            <a:off x="6514836" y="6155177"/>
            <a:ext cx="1089386" cy="415498"/>
          </a:xfrm>
          <a:prstGeom prst="rect">
            <a:avLst/>
          </a:prstGeom>
          <a:noFill/>
        </p:spPr>
        <p:txBody>
          <a:bodyPr wrap="square" rtlCol="0">
            <a:spAutoFit/>
          </a:bodyPr>
          <a:lstStyle/>
          <a:p>
            <a:pPr algn="ctr"/>
            <a:r>
              <a:rPr kumimoji="1" lang="ja-JP" altLang="en-US" sz="1050" b="1" dirty="0">
                <a:solidFill>
                  <a:schemeClr val="accent2"/>
                </a:solidFill>
              </a:rPr>
              <a:t>気温予測値による適期予測</a:t>
            </a:r>
          </a:p>
        </p:txBody>
      </p:sp>
      <p:sp>
        <p:nvSpPr>
          <p:cNvPr id="100" name="吹き出し: 線 99">
            <a:extLst>
              <a:ext uri="{FF2B5EF4-FFF2-40B4-BE49-F238E27FC236}">
                <a16:creationId xmlns:a16="http://schemas.microsoft.com/office/drawing/2014/main" id="{DC3C2898-33FA-E13E-133B-1B2409DFC84A}"/>
              </a:ext>
            </a:extLst>
          </p:cNvPr>
          <p:cNvSpPr/>
          <p:nvPr/>
        </p:nvSpPr>
        <p:spPr>
          <a:xfrm>
            <a:off x="3895006" y="5065465"/>
            <a:ext cx="921936" cy="495001"/>
          </a:xfrm>
          <a:prstGeom prst="borderCallout1">
            <a:avLst>
              <a:gd name="adj1" fmla="val 99584"/>
              <a:gd name="adj2" fmla="val 51605"/>
              <a:gd name="adj3" fmla="val 150079"/>
              <a:gd name="adj4" fmla="val 63170"/>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ctr"/>
          <a:lstStyle/>
          <a:p>
            <a:pPr algn="ctr"/>
            <a:r>
              <a:rPr lang="ja-JP" altLang="en-US" sz="1600" b="1" dirty="0">
                <a:solidFill>
                  <a:schemeClr val="tx1"/>
                </a:solidFill>
              </a:rPr>
              <a:t>実測値</a:t>
            </a:r>
            <a:endParaRPr lang="en-US" altLang="ja-JP" sz="1600" b="1" dirty="0">
              <a:solidFill>
                <a:schemeClr val="tx1"/>
              </a:solidFill>
            </a:endParaRPr>
          </a:p>
          <a:p>
            <a:pPr algn="ctr"/>
            <a:r>
              <a:rPr lang="ja-JP" altLang="en-US" sz="1200" dirty="0">
                <a:solidFill>
                  <a:schemeClr val="tx1"/>
                </a:solidFill>
              </a:rPr>
              <a:t>で積算</a:t>
            </a:r>
            <a:endParaRPr kumimoji="1" lang="ja-JP" altLang="en-US" sz="1600" dirty="0">
              <a:solidFill>
                <a:schemeClr val="tx1"/>
              </a:solidFill>
            </a:endParaRPr>
          </a:p>
        </p:txBody>
      </p:sp>
      <p:sp>
        <p:nvSpPr>
          <p:cNvPr id="62" name="円弧 61">
            <a:extLst>
              <a:ext uri="{FF2B5EF4-FFF2-40B4-BE49-F238E27FC236}">
                <a16:creationId xmlns:a16="http://schemas.microsoft.com/office/drawing/2014/main" id="{A1DBEB35-A332-0B81-A635-71630B559AAD}"/>
              </a:ext>
            </a:extLst>
          </p:cNvPr>
          <p:cNvSpPr/>
          <p:nvPr/>
        </p:nvSpPr>
        <p:spPr>
          <a:xfrm rot="9332566">
            <a:off x="1560822" y="3651673"/>
            <a:ext cx="5092079" cy="2230519"/>
          </a:xfrm>
          <a:prstGeom prst="arc">
            <a:avLst>
              <a:gd name="adj1" fmla="val 11794547"/>
              <a:gd name="adj2" fmla="val 18899891"/>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cxnSp>
        <p:nvCxnSpPr>
          <p:cNvPr id="34" name="直線コネクタ 33">
            <a:extLst>
              <a:ext uri="{FF2B5EF4-FFF2-40B4-BE49-F238E27FC236}">
                <a16:creationId xmlns:a16="http://schemas.microsoft.com/office/drawing/2014/main" id="{FFADA299-A43F-FFB7-B4E9-2C817894C204}"/>
              </a:ext>
            </a:extLst>
          </p:cNvPr>
          <p:cNvCxnSpPr>
            <a:cxnSpLocks/>
          </p:cNvCxnSpPr>
          <p:nvPr/>
        </p:nvCxnSpPr>
        <p:spPr>
          <a:xfrm>
            <a:off x="6321543" y="4469576"/>
            <a:ext cx="0" cy="1669605"/>
          </a:xfrm>
          <a:prstGeom prst="line">
            <a:avLst/>
          </a:prstGeom>
          <a:ln w="19050">
            <a:solidFill>
              <a:schemeClr val="bg1">
                <a:lumMod val="65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36" name="吹き出し: 線 35">
            <a:extLst>
              <a:ext uri="{FF2B5EF4-FFF2-40B4-BE49-F238E27FC236}">
                <a16:creationId xmlns:a16="http://schemas.microsoft.com/office/drawing/2014/main" id="{19DAE638-2423-DFF9-2F93-23B30B5724A6}"/>
              </a:ext>
            </a:extLst>
          </p:cNvPr>
          <p:cNvSpPr/>
          <p:nvPr/>
        </p:nvSpPr>
        <p:spPr>
          <a:xfrm>
            <a:off x="5314850" y="5505391"/>
            <a:ext cx="980578" cy="495001"/>
          </a:xfrm>
          <a:prstGeom prst="borderCallout1">
            <a:avLst>
              <a:gd name="adj1" fmla="val 1448"/>
              <a:gd name="adj2" fmla="val 48691"/>
              <a:gd name="adj3" fmla="val -71209"/>
              <a:gd name="adj4" fmla="val 51513"/>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ctr"/>
          <a:lstStyle/>
          <a:p>
            <a:pPr algn="ctr"/>
            <a:r>
              <a:rPr lang="ja-JP" altLang="en-US" sz="1600" b="1" dirty="0">
                <a:solidFill>
                  <a:schemeClr val="accent2"/>
                </a:solidFill>
              </a:rPr>
              <a:t>予測値</a:t>
            </a:r>
            <a:endParaRPr lang="en-US" altLang="ja-JP" sz="1600" b="1" dirty="0">
              <a:solidFill>
                <a:schemeClr val="accent2"/>
              </a:solidFill>
            </a:endParaRPr>
          </a:p>
          <a:p>
            <a:pPr algn="ctr"/>
            <a:r>
              <a:rPr lang="ja-JP" altLang="en-US" sz="1200" dirty="0">
                <a:solidFill>
                  <a:schemeClr val="tx1"/>
                </a:solidFill>
              </a:rPr>
              <a:t>で積算</a:t>
            </a:r>
            <a:endParaRPr kumimoji="1" lang="ja-JP" altLang="en-US" sz="1600" dirty="0">
              <a:solidFill>
                <a:schemeClr val="tx1"/>
              </a:solidFill>
            </a:endParaRPr>
          </a:p>
        </p:txBody>
      </p:sp>
      <p:sp>
        <p:nvSpPr>
          <p:cNvPr id="37" name="吹き出し: 線 36">
            <a:extLst>
              <a:ext uri="{FF2B5EF4-FFF2-40B4-BE49-F238E27FC236}">
                <a16:creationId xmlns:a16="http://schemas.microsoft.com/office/drawing/2014/main" id="{421F7B9B-B2BA-A83F-B165-BE3FBA910A51}"/>
              </a:ext>
            </a:extLst>
          </p:cNvPr>
          <p:cNvSpPr/>
          <p:nvPr/>
        </p:nvSpPr>
        <p:spPr>
          <a:xfrm>
            <a:off x="6626064" y="5293551"/>
            <a:ext cx="980578" cy="495001"/>
          </a:xfrm>
          <a:prstGeom prst="borderCallout1">
            <a:avLst>
              <a:gd name="adj1" fmla="val 1448"/>
              <a:gd name="adj2" fmla="val 48691"/>
              <a:gd name="adj3" fmla="val -88527"/>
              <a:gd name="adj4" fmla="val 29172"/>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108000" bIns="108000" rtlCol="0" anchor="ctr"/>
          <a:lstStyle/>
          <a:p>
            <a:pPr algn="ctr"/>
            <a:r>
              <a:rPr lang="ja-JP" altLang="en-US" sz="1600" b="1" dirty="0">
                <a:solidFill>
                  <a:schemeClr val="tx2"/>
                </a:solidFill>
              </a:rPr>
              <a:t>平年値</a:t>
            </a:r>
            <a:endParaRPr lang="en-US" altLang="ja-JP" sz="1600" b="1" dirty="0">
              <a:solidFill>
                <a:schemeClr val="tx2"/>
              </a:solidFill>
            </a:endParaRPr>
          </a:p>
          <a:p>
            <a:pPr algn="ctr"/>
            <a:r>
              <a:rPr lang="ja-JP" altLang="en-US" sz="1200" dirty="0">
                <a:solidFill>
                  <a:schemeClr val="tx1"/>
                </a:solidFill>
              </a:rPr>
              <a:t>で積算</a:t>
            </a:r>
            <a:endParaRPr kumimoji="1" lang="ja-JP" altLang="en-US" sz="1600" dirty="0">
              <a:solidFill>
                <a:schemeClr val="tx1"/>
              </a:solidFill>
            </a:endParaRPr>
          </a:p>
        </p:txBody>
      </p:sp>
      <p:cxnSp>
        <p:nvCxnSpPr>
          <p:cNvPr id="39" name="直線コネクタ 38">
            <a:extLst>
              <a:ext uri="{FF2B5EF4-FFF2-40B4-BE49-F238E27FC236}">
                <a16:creationId xmlns:a16="http://schemas.microsoft.com/office/drawing/2014/main" id="{AA1BCDB4-B150-3992-276A-1426F7DABF98}"/>
              </a:ext>
            </a:extLst>
          </p:cNvPr>
          <p:cNvCxnSpPr>
            <a:cxnSpLocks/>
          </p:cNvCxnSpPr>
          <p:nvPr/>
        </p:nvCxnSpPr>
        <p:spPr>
          <a:xfrm>
            <a:off x="7884787" y="4458749"/>
            <a:ext cx="0" cy="1669605"/>
          </a:xfrm>
          <a:prstGeom prst="line">
            <a:avLst/>
          </a:prstGeom>
          <a:ln w="19050">
            <a:solidFill>
              <a:schemeClr val="bg1">
                <a:lumMod val="65000"/>
              </a:schemeClr>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40" name="矢印: 左 39">
            <a:extLst>
              <a:ext uri="{FF2B5EF4-FFF2-40B4-BE49-F238E27FC236}">
                <a16:creationId xmlns:a16="http://schemas.microsoft.com/office/drawing/2014/main" id="{DF7A9A5C-CEF1-5CA5-BB71-485371AE1183}"/>
              </a:ext>
            </a:extLst>
          </p:cNvPr>
          <p:cNvSpPr/>
          <p:nvPr/>
        </p:nvSpPr>
        <p:spPr>
          <a:xfrm>
            <a:off x="7093999" y="4414689"/>
            <a:ext cx="651821" cy="128569"/>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p>
        </p:txBody>
      </p:sp>
      <p:sp>
        <p:nvSpPr>
          <p:cNvPr id="42" name="テキスト ボックス 41">
            <a:extLst>
              <a:ext uri="{FF2B5EF4-FFF2-40B4-BE49-F238E27FC236}">
                <a16:creationId xmlns:a16="http://schemas.microsoft.com/office/drawing/2014/main" id="{4EF59A18-B516-BABF-1CAC-CFBD9B1246AC}"/>
              </a:ext>
            </a:extLst>
          </p:cNvPr>
          <p:cNvSpPr txBox="1"/>
          <p:nvPr/>
        </p:nvSpPr>
        <p:spPr>
          <a:xfrm>
            <a:off x="2649333" y="4238689"/>
            <a:ext cx="1089386" cy="415498"/>
          </a:xfrm>
          <a:prstGeom prst="rect">
            <a:avLst/>
          </a:prstGeom>
          <a:noFill/>
        </p:spPr>
        <p:txBody>
          <a:bodyPr wrap="square" rtlCol="0">
            <a:spAutoFit/>
          </a:bodyPr>
          <a:lstStyle/>
          <a:p>
            <a:pPr algn="ctr"/>
            <a:r>
              <a:rPr kumimoji="1" lang="ja-JP" altLang="en-US" sz="1050" b="1" dirty="0"/>
              <a:t>適期の</a:t>
            </a:r>
            <a:endParaRPr kumimoji="1" lang="en-US" altLang="ja-JP" sz="1050" b="1" dirty="0"/>
          </a:p>
          <a:p>
            <a:pPr algn="ctr"/>
            <a:r>
              <a:rPr kumimoji="1" lang="ja-JP" altLang="en-US" sz="1050" b="1" dirty="0"/>
              <a:t>目安気温</a:t>
            </a:r>
          </a:p>
        </p:txBody>
      </p:sp>
      <p:sp>
        <p:nvSpPr>
          <p:cNvPr id="44" name="テキスト ボックス 43">
            <a:extLst>
              <a:ext uri="{FF2B5EF4-FFF2-40B4-BE49-F238E27FC236}">
                <a16:creationId xmlns:a16="http://schemas.microsoft.com/office/drawing/2014/main" id="{7FB69D58-B0AF-5D42-5783-1909BE329B0A}"/>
              </a:ext>
            </a:extLst>
          </p:cNvPr>
          <p:cNvSpPr txBox="1"/>
          <p:nvPr/>
        </p:nvSpPr>
        <p:spPr>
          <a:xfrm>
            <a:off x="4178358" y="6196157"/>
            <a:ext cx="999685" cy="276999"/>
          </a:xfrm>
          <a:prstGeom prst="rect">
            <a:avLst/>
          </a:prstGeom>
          <a:noFill/>
        </p:spPr>
        <p:txBody>
          <a:bodyPr wrap="square" rtlCol="0">
            <a:spAutoFit/>
          </a:bodyPr>
          <a:lstStyle/>
          <a:p>
            <a:pPr algn="ctr"/>
            <a:r>
              <a:rPr lang="ja-JP" altLang="en-US" sz="1200" b="1" dirty="0"/>
              <a:t>予測</a:t>
            </a:r>
            <a:r>
              <a:rPr kumimoji="1" lang="ja-JP" altLang="en-US" sz="1200" b="1" dirty="0"/>
              <a:t>日</a:t>
            </a:r>
          </a:p>
        </p:txBody>
      </p:sp>
      <p:sp>
        <p:nvSpPr>
          <p:cNvPr id="5" name="矢印: 五方向 4">
            <a:extLst>
              <a:ext uri="{FF2B5EF4-FFF2-40B4-BE49-F238E27FC236}">
                <a16:creationId xmlns:a16="http://schemas.microsoft.com/office/drawing/2014/main" id="{10F8F6CE-27A1-EEE7-A2BC-D4B257C61A78}"/>
              </a:ext>
            </a:extLst>
          </p:cNvPr>
          <p:cNvSpPr/>
          <p:nvPr/>
        </p:nvSpPr>
        <p:spPr>
          <a:xfrm>
            <a:off x="368796" y="1289437"/>
            <a:ext cx="2139157" cy="360000"/>
          </a:xfrm>
          <a:prstGeom prst="homePlate">
            <a:avLst>
              <a:gd name="adj" fmla="val 39752"/>
            </a:avLst>
          </a:prstGeom>
          <a:solidFill>
            <a:schemeClr val="tx2"/>
          </a:solidFill>
          <a:ln>
            <a:noFill/>
          </a:ln>
        </p:spPr>
        <p:style>
          <a:lnRef idx="2">
            <a:schemeClr val="accent6">
              <a:shade val="50000"/>
            </a:schemeClr>
          </a:lnRef>
          <a:fillRef idx="1">
            <a:schemeClr val="accent6"/>
          </a:fillRef>
          <a:effectRef idx="0">
            <a:schemeClr val="accent6"/>
          </a:effectRef>
          <a:fontRef idx="minor">
            <a:schemeClr val="lt1"/>
          </a:fontRef>
        </p:style>
        <p:txBody>
          <a:bodyPr lIns="144000" tIns="72000" rtlCol="0" anchor="ctr"/>
          <a:lstStyle/>
          <a:p>
            <a:r>
              <a:rPr kumimoji="1" lang="ja-JP" altLang="en-US" sz="1400" dirty="0"/>
              <a:t>生育予測モデルに活用</a:t>
            </a:r>
          </a:p>
        </p:txBody>
      </p:sp>
      <p:sp>
        <p:nvSpPr>
          <p:cNvPr id="49" name="矢印: 五方向 48">
            <a:extLst>
              <a:ext uri="{FF2B5EF4-FFF2-40B4-BE49-F238E27FC236}">
                <a16:creationId xmlns:a16="http://schemas.microsoft.com/office/drawing/2014/main" id="{F4A5E8F8-7D7A-19D1-861A-7455DF9ED9A6}"/>
              </a:ext>
            </a:extLst>
          </p:cNvPr>
          <p:cNvSpPr/>
          <p:nvPr/>
        </p:nvSpPr>
        <p:spPr>
          <a:xfrm>
            <a:off x="387548" y="3897445"/>
            <a:ext cx="2006694" cy="360000"/>
          </a:xfrm>
          <a:prstGeom prst="homePlate">
            <a:avLst>
              <a:gd name="adj" fmla="val 39752"/>
            </a:avLst>
          </a:prstGeom>
          <a:solidFill>
            <a:schemeClr val="tx2"/>
          </a:solidFill>
          <a:ln>
            <a:noFill/>
          </a:ln>
        </p:spPr>
        <p:style>
          <a:lnRef idx="2">
            <a:schemeClr val="accent6">
              <a:shade val="50000"/>
            </a:schemeClr>
          </a:lnRef>
          <a:fillRef idx="1">
            <a:schemeClr val="accent6"/>
          </a:fillRef>
          <a:effectRef idx="0">
            <a:schemeClr val="accent6"/>
          </a:effectRef>
          <a:fontRef idx="minor">
            <a:schemeClr val="lt1"/>
          </a:fontRef>
        </p:style>
        <p:txBody>
          <a:bodyPr lIns="144000" tIns="72000" rtlCol="0" anchor="ctr"/>
          <a:lstStyle/>
          <a:p>
            <a:r>
              <a:rPr lang="ja-JP" altLang="en-US" sz="1400" dirty="0"/>
              <a:t>有効積算温度に</a:t>
            </a:r>
            <a:r>
              <a:rPr kumimoji="1" lang="ja-JP" altLang="en-US" sz="1400" dirty="0"/>
              <a:t>活用</a:t>
            </a:r>
          </a:p>
        </p:txBody>
      </p:sp>
      <p:sp>
        <p:nvSpPr>
          <p:cNvPr id="50" name="テキスト ボックス 49">
            <a:extLst>
              <a:ext uri="{FF2B5EF4-FFF2-40B4-BE49-F238E27FC236}">
                <a16:creationId xmlns:a16="http://schemas.microsoft.com/office/drawing/2014/main" id="{A6F98EE0-D38F-55D5-C471-6E1C1FBA3ACA}"/>
              </a:ext>
            </a:extLst>
          </p:cNvPr>
          <p:cNvSpPr txBox="1"/>
          <p:nvPr/>
        </p:nvSpPr>
        <p:spPr>
          <a:xfrm>
            <a:off x="612868" y="2901138"/>
            <a:ext cx="1358821" cy="523220"/>
          </a:xfrm>
          <a:prstGeom prst="rect">
            <a:avLst/>
          </a:prstGeom>
          <a:noFill/>
        </p:spPr>
        <p:txBody>
          <a:bodyPr wrap="square" rtlCol="0">
            <a:spAutoFit/>
          </a:bodyPr>
          <a:lstStyle/>
          <a:p>
            <a:pPr algn="ctr"/>
            <a:r>
              <a:rPr lang="ja-JP" altLang="en-US" sz="1600" b="1" dirty="0">
                <a:solidFill>
                  <a:schemeClr val="tx2"/>
                </a:solidFill>
              </a:rPr>
              <a:t>平年値</a:t>
            </a:r>
            <a:endParaRPr lang="en-US" altLang="ja-JP" sz="1600" b="1" dirty="0">
              <a:solidFill>
                <a:schemeClr val="tx2"/>
              </a:solidFill>
            </a:endParaRPr>
          </a:p>
          <a:p>
            <a:pPr algn="ctr"/>
            <a:r>
              <a:rPr lang="ja-JP" altLang="en-US" sz="1200" dirty="0"/>
              <a:t>を用いた手法</a:t>
            </a:r>
          </a:p>
        </p:txBody>
      </p:sp>
      <p:sp>
        <p:nvSpPr>
          <p:cNvPr id="51" name="テキスト ボックス 50">
            <a:extLst>
              <a:ext uri="{FF2B5EF4-FFF2-40B4-BE49-F238E27FC236}">
                <a16:creationId xmlns:a16="http://schemas.microsoft.com/office/drawing/2014/main" id="{D21E668A-1E1E-115A-E16F-8B69B84B27DF}"/>
              </a:ext>
            </a:extLst>
          </p:cNvPr>
          <p:cNvSpPr txBox="1"/>
          <p:nvPr/>
        </p:nvSpPr>
        <p:spPr>
          <a:xfrm>
            <a:off x="2593501" y="1298846"/>
            <a:ext cx="5536029" cy="338554"/>
          </a:xfrm>
          <a:prstGeom prst="rect">
            <a:avLst/>
          </a:prstGeom>
          <a:noFill/>
        </p:spPr>
        <p:txBody>
          <a:bodyPr wrap="square" rtlCol="0">
            <a:spAutoFit/>
          </a:bodyPr>
          <a:lstStyle/>
          <a:p>
            <a:r>
              <a:rPr lang="ja-JP" altLang="en-US" sz="1600" dirty="0"/>
              <a:t>気温入力データに予測値を利用する</a:t>
            </a:r>
            <a:endParaRPr kumimoji="1" lang="ja-JP" altLang="en-US" sz="1600" dirty="0"/>
          </a:p>
        </p:txBody>
      </p:sp>
      <p:pic>
        <p:nvPicPr>
          <p:cNvPr id="55" name="Picture 2" descr="C:\Users\JMA503E\Desktop\はれるんポーズ1.png">
            <a:extLst>
              <a:ext uri="{FF2B5EF4-FFF2-40B4-BE49-F238E27FC236}">
                <a16:creationId xmlns:a16="http://schemas.microsoft.com/office/drawing/2014/main" id="{E7CAA17F-DC7C-CEDE-2362-A1DBD1CAF40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43606" y="5380422"/>
            <a:ext cx="753825" cy="813086"/>
          </a:xfrm>
          <a:prstGeom prst="rect">
            <a:avLst/>
          </a:prstGeom>
          <a:noFill/>
          <a:extLst>
            <a:ext uri="{909E8E84-426E-40DD-AFC4-6F175D3DCCD1}">
              <a14:hiddenFill xmlns:a14="http://schemas.microsoft.com/office/drawing/2010/main">
                <a:solidFill>
                  <a:srgbClr val="FFFFFF"/>
                </a:solidFill>
              </a14:hiddenFill>
            </a:ext>
          </a:extLst>
        </p:spPr>
      </p:pic>
      <p:cxnSp>
        <p:nvCxnSpPr>
          <p:cNvPr id="57" name="直線コネクタ 56">
            <a:extLst>
              <a:ext uri="{FF2B5EF4-FFF2-40B4-BE49-F238E27FC236}">
                <a16:creationId xmlns:a16="http://schemas.microsoft.com/office/drawing/2014/main" id="{BFB139E2-8BA9-176B-62E8-0A9579D4D383}"/>
              </a:ext>
            </a:extLst>
          </p:cNvPr>
          <p:cNvCxnSpPr>
            <a:cxnSpLocks/>
          </p:cNvCxnSpPr>
          <p:nvPr/>
        </p:nvCxnSpPr>
        <p:spPr>
          <a:xfrm>
            <a:off x="6551700" y="4762167"/>
            <a:ext cx="534249" cy="526619"/>
          </a:xfrm>
          <a:prstGeom prst="line">
            <a:avLst/>
          </a:prstGeom>
          <a:ln w="12700">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59" name="吹き出し: 角を丸めた四角形 58">
            <a:extLst>
              <a:ext uri="{FF2B5EF4-FFF2-40B4-BE49-F238E27FC236}">
                <a16:creationId xmlns:a16="http://schemas.microsoft.com/office/drawing/2014/main" id="{571402BA-0A8B-2A88-F994-6D04F65C9F2B}"/>
              </a:ext>
            </a:extLst>
          </p:cNvPr>
          <p:cNvSpPr/>
          <p:nvPr/>
        </p:nvSpPr>
        <p:spPr>
          <a:xfrm>
            <a:off x="419771" y="4579518"/>
            <a:ext cx="2276707" cy="699699"/>
          </a:xfrm>
          <a:prstGeom prst="wedgeRoundRectCallout">
            <a:avLst>
              <a:gd name="adj1" fmla="val 36769"/>
              <a:gd name="adj2" fmla="val 66333"/>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tx1"/>
                </a:solidFill>
              </a:rPr>
              <a:t>平年値を利用している場合はすぐにでも改善できるかも</a:t>
            </a:r>
            <a:endParaRPr kumimoji="1" lang="ja-JP" altLang="en-US" sz="1200" dirty="0">
              <a:solidFill>
                <a:schemeClr val="tx1"/>
              </a:solidFill>
            </a:endParaRPr>
          </a:p>
        </p:txBody>
      </p:sp>
    </p:spTree>
    <p:extLst>
      <p:ext uri="{BB962C8B-B14F-4D97-AF65-F5344CB8AC3E}">
        <p14:creationId xmlns:p14="http://schemas.microsoft.com/office/powerpoint/2010/main" val="421160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4A7A67-9200-7B1F-A009-8906D5DE9030}"/>
              </a:ext>
            </a:extLst>
          </p:cNvPr>
          <p:cNvSpPr>
            <a:spLocks noGrp="1"/>
          </p:cNvSpPr>
          <p:nvPr>
            <p:ph type="title"/>
          </p:nvPr>
        </p:nvSpPr>
        <p:spPr/>
        <p:txBody>
          <a:bodyPr/>
          <a:lstStyle/>
          <a:p>
            <a:r>
              <a:rPr kumimoji="1" lang="ja-JP" altLang="en-US" dirty="0"/>
              <a:t>農業における気温予測データ活用事例</a:t>
            </a:r>
          </a:p>
        </p:txBody>
      </p:sp>
      <p:sp>
        <p:nvSpPr>
          <p:cNvPr id="3" name="コンテンツ プレースホルダー 2">
            <a:extLst>
              <a:ext uri="{FF2B5EF4-FFF2-40B4-BE49-F238E27FC236}">
                <a16:creationId xmlns:a16="http://schemas.microsoft.com/office/drawing/2014/main" id="{0A662CEC-7AE2-50CF-FB16-6DD982D95D19}"/>
              </a:ext>
            </a:extLst>
          </p:cNvPr>
          <p:cNvSpPr>
            <a:spLocks noGrp="1"/>
          </p:cNvSpPr>
          <p:nvPr>
            <p:ph idx="1"/>
          </p:nvPr>
        </p:nvSpPr>
        <p:spPr/>
        <p:txBody>
          <a:bodyPr/>
          <a:lstStyle/>
          <a:p>
            <a:r>
              <a:rPr kumimoji="1" lang="ja-JP" altLang="en-US" dirty="0"/>
              <a:t>極端な天候の監視や作物の生育予測等で気温予測データの活用が拡大</a:t>
            </a:r>
          </a:p>
        </p:txBody>
      </p:sp>
      <p:sp>
        <p:nvSpPr>
          <p:cNvPr id="5" name="スライド番号プレースホルダー 4">
            <a:extLst>
              <a:ext uri="{FF2B5EF4-FFF2-40B4-BE49-F238E27FC236}">
                <a16:creationId xmlns:a16="http://schemas.microsoft.com/office/drawing/2014/main" id="{6948D7E4-4840-60C8-6BBB-B4E8598DAE4C}"/>
              </a:ext>
            </a:extLst>
          </p:cNvPr>
          <p:cNvSpPr>
            <a:spLocks noGrp="1"/>
          </p:cNvSpPr>
          <p:nvPr>
            <p:ph type="sldNum" sz="quarter" idx="12"/>
          </p:nvPr>
        </p:nvSpPr>
        <p:spPr/>
        <p:txBody>
          <a:bodyPr/>
          <a:lstStyle/>
          <a:p>
            <a:fld id="{5F9F9204-6EDA-41A6-81B7-5E8491083ADF}" type="slidenum">
              <a:rPr kumimoji="1" lang="ja-JP" altLang="en-US" smtClean="0"/>
              <a:t>6</a:t>
            </a:fld>
            <a:endParaRPr kumimoji="1" lang="ja-JP" altLang="en-US" dirty="0"/>
          </a:p>
        </p:txBody>
      </p:sp>
      <p:graphicFrame>
        <p:nvGraphicFramePr>
          <p:cNvPr id="6" name="表 5">
            <a:extLst>
              <a:ext uri="{FF2B5EF4-FFF2-40B4-BE49-F238E27FC236}">
                <a16:creationId xmlns:a16="http://schemas.microsoft.com/office/drawing/2014/main" id="{3C99162E-16A1-8967-4ED8-0B5CBD09F782}"/>
              </a:ext>
            </a:extLst>
          </p:cNvPr>
          <p:cNvGraphicFramePr>
            <a:graphicFrameLocks noGrp="1"/>
          </p:cNvGraphicFramePr>
          <p:nvPr>
            <p:extLst>
              <p:ext uri="{D42A27DB-BD31-4B8C-83A1-F6EECF244321}">
                <p14:modId xmlns:p14="http://schemas.microsoft.com/office/powerpoint/2010/main" val="162838866"/>
              </p:ext>
            </p:extLst>
          </p:nvPr>
        </p:nvGraphicFramePr>
        <p:xfrm>
          <a:off x="107504" y="1402319"/>
          <a:ext cx="8928992" cy="5090556"/>
        </p:xfrm>
        <a:graphic>
          <a:graphicData uri="http://schemas.openxmlformats.org/drawingml/2006/table">
            <a:tbl>
              <a:tblPr firstRow="1" bandRow="1">
                <a:tableStyleId>{2A488322-F2BA-4B5B-9748-0D474271808F}</a:tableStyleId>
              </a:tblPr>
              <a:tblGrid>
                <a:gridCol w="1110712">
                  <a:extLst>
                    <a:ext uri="{9D8B030D-6E8A-4147-A177-3AD203B41FA5}">
                      <a16:colId xmlns:a16="http://schemas.microsoft.com/office/drawing/2014/main" val="2178305790"/>
                    </a:ext>
                  </a:extLst>
                </a:gridCol>
                <a:gridCol w="2042975">
                  <a:extLst>
                    <a:ext uri="{9D8B030D-6E8A-4147-A177-3AD203B41FA5}">
                      <a16:colId xmlns:a16="http://schemas.microsoft.com/office/drawing/2014/main" val="3190096138"/>
                    </a:ext>
                  </a:extLst>
                </a:gridCol>
                <a:gridCol w="5775305">
                  <a:extLst>
                    <a:ext uri="{9D8B030D-6E8A-4147-A177-3AD203B41FA5}">
                      <a16:colId xmlns:a16="http://schemas.microsoft.com/office/drawing/2014/main" val="1929855657"/>
                    </a:ext>
                  </a:extLst>
                </a:gridCol>
              </a:tblGrid>
              <a:tr h="426875">
                <a:tc>
                  <a:txBody>
                    <a:bodyPr/>
                    <a:lstStyle/>
                    <a:p>
                      <a:pPr algn="ctr"/>
                      <a:r>
                        <a:rPr kumimoji="1" lang="ja-JP" altLang="en-US" sz="2000" b="1" dirty="0">
                          <a:solidFill>
                            <a:srgbClr val="0C000C"/>
                          </a:solidFill>
                          <a:latin typeface="メイリオ" panose="020B0604030504040204" pitchFamily="50" charset="-128"/>
                          <a:ea typeface="メイリオ" panose="020B0604030504040204" pitchFamily="50" charset="-128"/>
                        </a:rPr>
                        <a:t>分類</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kumimoji="1" lang="ja-JP" altLang="en-US" sz="2000" b="1" dirty="0">
                          <a:solidFill>
                            <a:srgbClr val="0C000C"/>
                          </a:solidFill>
                          <a:latin typeface="メイリオ" panose="020B0604030504040204" pitchFamily="50" charset="-128"/>
                          <a:ea typeface="メイリオ" panose="020B0604030504040204" pitchFamily="50" charset="-128"/>
                        </a:rPr>
                        <a:t>活用例</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kumimoji="1" lang="ja-JP" altLang="en-US" sz="2000" b="1" dirty="0">
                          <a:solidFill>
                            <a:srgbClr val="0C000C"/>
                          </a:solidFill>
                          <a:latin typeface="メイリオ" panose="020B0604030504040204" pitchFamily="50" charset="-128"/>
                          <a:ea typeface="メイリオ" panose="020B0604030504040204" pitchFamily="50" charset="-128"/>
                        </a:rPr>
                        <a:t>活用対象</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421787547"/>
                  </a:ext>
                </a:extLst>
              </a:tr>
              <a:tr h="423971">
                <a:tc row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ja-JP" altLang="en-US" sz="1400" b="1" dirty="0">
                          <a:solidFill>
                            <a:srgbClr val="0C000C"/>
                          </a:solidFill>
                          <a:latin typeface="メイリオ" panose="020B0604030504040204" pitchFamily="50" charset="-128"/>
                          <a:ea typeface="メイリオ" panose="020B0604030504040204" pitchFamily="50" charset="-128"/>
                        </a:rPr>
                        <a:t>水稲</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TW" altLang="en-US" sz="1400" b="1" dirty="0">
                          <a:solidFill>
                            <a:srgbClr val="0C000C"/>
                          </a:solidFill>
                          <a:latin typeface="メイリオ" panose="020B0604030504040204" pitchFamily="50" charset="-128"/>
                          <a:ea typeface="メイリオ" panose="020B0604030504040204" pitchFamily="50" charset="-128"/>
                        </a:rPr>
                        <a:t>収穫適期予測</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TW" altLang="en-US" sz="1400" b="1" dirty="0">
                          <a:solidFill>
                            <a:srgbClr val="00B050"/>
                          </a:solidFill>
                          <a:latin typeface="メイリオ" panose="020B0604030504040204" pitchFamily="50" charset="-128"/>
                          <a:ea typeface="メイリオ" panose="020B0604030504040204" pitchFamily="50" charset="-128"/>
                        </a:rPr>
                        <a:t>新潟県</a:t>
                      </a:r>
                      <a:r>
                        <a:rPr kumimoji="1" lang="ja-JP" altLang="en-US" sz="1400" b="1" dirty="0">
                          <a:solidFill>
                            <a:srgbClr val="0C000C"/>
                          </a:solidFill>
                          <a:latin typeface="メイリオ" panose="020B0604030504040204" pitchFamily="50" charset="-128"/>
                          <a:ea typeface="メイリオ" panose="020B0604030504040204" pitchFamily="50" charset="-128"/>
                        </a:rPr>
                        <a:t>　</a:t>
                      </a:r>
                      <a:r>
                        <a:rPr kumimoji="1" lang="zh-TW" altLang="en-US" sz="1400" b="1" dirty="0">
                          <a:solidFill>
                            <a:srgbClr val="0C000C"/>
                          </a:solidFill>
                          <a:latin typeface="メイリオ" panose="020B0604030504040204" pitchFamily="50" charset="-128"/>
                          <a:ea typeface="メイリオ" panose="020B0604030504040204" pitchFamily="50" charset="-128"/>
                        </a:rPr>
                        <a:t>稲作情報</a:t>
                      </a:r>
                      <a:endParaRPr kumimoji="1" lang="ja-JP" altLang="en-US" sz="1400" b="1" dirty="0">
                        <a:solidFill>
                          <a:srgbClr val="0C000C"/>
                        </a:solidFill>
                        <a:latin typeface="メイリオ" panose="020B0604030504040204" pitchFamily="50" charset="-128"/>
                        <a:ea typeface="メイリオ" panose="020B0604030504040204" pitchFamily="50" charset="-128"/>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19616825"/>
                  </a:ext>
                </a:extLst>
              </a:tr>
              <a:tr h="423971">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dirty="0">
                          <a:solidFill>
                            <a:srgbClr val="00B050"/>
                          </a:solidFill>
                          <a:latin typeface="メイリオ" panose="020B0604030504040204" pitchFamily="50" charset="-128"/>
                          <a:ea typeface="メイリオ" panose="020B0604030504040204" pitchFamily="50" charset="-128"/>
                        </a:rPr>
                        <a:t>山形県</a:t>
                      </a:r>
                      <a:r>
                        <a:rPr kumimoji="1" lang="ja-JP" altLang="en-US" sz="1400" b="1" dirty="0">
                          <a:solidFill>
                            <a:srgbClr val="0C000C"/>
                          </a:solidFill>
                          <a:latin typeface="メイリオ" panose="020B0604030504040204" pitchFamily="50" charset="-128"/>
                          <a:ea typeface="メイリオ" panose="020B0604030504040204" pitchFamily="50" charset="-128"/>
                        </a:rPr>
                        <a:t>　米の刈り取り適期予測</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97008720"/>
                  </a:ext>
                </a:extLst>
              </a:tr>
              <a:tr h="423971">
                <a:tc vMerge="1">
                  <a:txBody>
                    <a:bodyPr/>
                    <a:lstStyle/>
                    <a:p>
                      <a:endParaRPr/>
                    </a:p>
                  </a:txBody>
                  <a:tcPr marL="68580" marR="68580" marT="34290" marB="34290" anchor="ctr"/>
                </a:tc>
                <a:tc vMerge="1">
                  <a:txBody>
                    <a:bodyPr/>
                    <a:lstStyle/>
                    <a:p>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r>
                        <a:rPr kumimoji="1" lang="ja-JP" altLang="en-US" sz="1400" b="1" dirty="0">
                          <a:solidFill>
                            <a:srgbClr val="00B050"/>
                          </a:solidFill>
                          <a:latin typeface="メイリオ" panose="020B0604030504040204" pitchFamily="50" charset="-128"/>
                          <a:ea typeface="メイリオ" panose="020B0604030504040204" pitchFamily="50" charset="-128"/>
                        </a:rPr>
                        <a:t>千葉県</a:t>
                      </a:r>
                      <a:r>
                        <a:rPr kumimoji="1" lang="ja-JP" altLang="en-US" sz="1400" b="1" dirty="0">
                          <a:solidFill>
                            <a:srgbClr val="0C000C"/>
                          </a:solidFill>
                          <a:latin typeface="メイリオ" panose="020B0604030504040204" pitchFamily="50" charset="-128"/>
                          <a:ea typeface="メイリオ" panose="020B0604030504040204" pitchFamily="50" charset="-128"/>
                        </a:rPr>
                        <a:t>　農林総合研究センター　水稲生育予測システム「でるた」</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23095389"/>
                  </a:ext>
                </a:extLst>
              </a:tr>
              <a:tr h="423971">
                <a:tc vMerge="1">
                  <a:txBody>
                    <a:bodyPr/>
                    <a:lstStyle/>
                    <a:p>
                      <a:endParaRPr dirty="0"/>
                    </a:p>
                  </a:txBody>
                  <a:tcPr marL="68580" marR="68580" marT="34290" marB="34290" anchor="ctr"/>
                </a:tc>
                <a:tc vMerge="1">
                  <a:txBody>
                    <a:bodyPr/>
                    <a:lstStyle/>
                    <a:p>
                      <a:endParaRPr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r>
                        <a:rPr kumimoji="1" lang="ja-JP" altLang="en-US" sz="1400" b="1" dirty="0">
                          <a:solidFill>
                            <a:srgbClr val="00B050"/>
                          </a:solidFill>
                          <a:latin typeface="メイリオ" panose="020B0604030504040204" pitchFamily="50" charset="-128"/>
                          <a:ea typeface="メイリオ" panose="020B0604030504040204" pitchFamily="50" charset="-128"/>
                        </a:rPr>
                        <a:t>鳥取県</a:t>
                      </a:r>
                      <a:r>
                        <a:rPr kumimoji="1" lang="ja-JP" altLang="en-US" sz="1400" b="1" dirty="0">
                          <a:solidFill>
                            <a:srgbClr val="0C000C"/>
                          </a:solidFill>
                          <a:latin typeface="メイリオ" panose="020B0604030504040204" pitchFamily="50" charset="-128"/>
                          <a:ea typeface="メイリオ" panose="020B0604030504040204" pitchFamily="50" charset="-128"/>
                        </a:rPr>
                        <a:t>　米の出穂期予測</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07103124"/>
                  </a:ext>
                </a:extLst>
              </a:tr>
              <a:tr h="423971">
                <a:tc rowSpan="4">
                  <a:txBody>
                    <a:bodyPr/>
                    <a:lstStyle/>
                    <a:p>
                      <a:pPr algn="ctr"/>
                      <a:r>
                        <a:rPr kumimoji="1" lang="ja-JP" altLang="en-US" sz="1400" b="1" dirty="0">
                          <a:solidFill>
                            <a:srgbClr val="0C000C"/>
                          </a:solidFill>
                          <a:latin typeface="メイリオ" panose="020B0604030504040204" pitchFamily="50" charset="-128"/>
                          <a:ea typeface="メイリオ" panose="020B0604030504040204" pitchFamily="50" charset="-128"/>
                        </a:rPr>
                        <a:t>果樹</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dirty="0">
                          <a:solidFill>
                            <a:srgbClr val="0C000C"/>
                          </a:solidFill>
                          <a:latin typeface="メイリオ" panose="020B0604030504040204" pitchFamily="50" charset="-128"/>
                          <a:ea typeface="メイリオ" panose="020B0604030504040204" pitchFamily="50" charset="-128"/>
                        </a:rPr>
                        <a:t>開花日予測</a:t>
                      </a:r>
                      <a:endParaRPr kumimoji="1" lang="en-US" altLang="ja-JP" sz="1400" b="1" dirty="0">
                        <a:solidFill>
                          <a:srgbClr val="0C000C"/>
                        </a:solidFill>
                        <a:latin typeface="メイリオ" panose="020B0604030504040204" pitchFamily="50" charset="-128"/>
                        <a:ea typeface="メイリオ" panose="020B0604030504040204" pitchFamily="50" charset="-128"/>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kumimoji="1" lang="ja-JP" altLang="en-US" sz="1400" b="1" dirty="0">
                          <a:solidFill>
                            <a:srgbClr val="00B050"/>
                          </a:solidFill>
                          <a:latin typeface="メイリオ" panose="020B0604030504040204" pitchFamily="50" charset="-128"/>
                          <a:ea typeface="メイリオ" panose="020B0604030504040204" pitchFamily="50" charset="-128"/>
                        </a:rPr>
                        <a:t>山梨県</a:t>
                      </a:r>
                      <a:r>
                        <a:rPr kumimoji="1" lang="ja-JP" altLang="en-US" sz="1400" b="1" dirty="0">
                          <a:solidFill>
                            <a:srgbClr val="0C000C"/>
                          </a:solidFill>
                          <a:latin typeface="メイリオ" panose="020B0604030504040204" pitchFamily="50" charset="-128"/>
                          <a:ea typeface="メイリオ" panose="020B0604030504040204" pitchFamily="50" charset="-128"/>
                        </a:rPr>
                        <a:t>　モモの開花予想と開花日</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50402697"/>
                  </a:ext>
                </a:extLst>
              </a:tr>
              <a:tr h="423971">
                <a:tc vMerge="1">
                  <a:txBody>
                    <a:bodyPr/>
                    <a:lstStyle/>
                    <a:p>
                      <a:endParaRPr/>
                    </a:p>
                  </a:txBody>
                  <a:tcPr marL="68580" marR="68580" marT="34290" marB="34290" anchor="ctr"/>
                </a:tc>
                <a:tc vMerge="1">
                  <a:txBody>
                    <a:bodyPr/>
                    <a:lstStyle/>
                    <a:p>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r>
                        <a:rPr kumimoji="1" lang="ja-JP" altLang="en-US" sz="1400" b="1" dirty="0">
                          <a:solidFill>
                            <a:srgbClr val="00B050"/>
                          </a:solidFill>
                          <a:latin typeface="メイリオ" panose="020B0604030504040204" pitchFamily="50" charset="-128"/>
                          <a:ea typeface="メイリオ" panose="020B0604030504040204" pitchFamily="50" charset="-128"/>
                        </a:rPr>
                        <a:t>福島県</a:t>
                      </a:r>
                      <a:r>
                        <a:rPr kumimoji="1" lang="ja-JP" altLang="en-US" sz="1400" b="1" dirty="0">
                          <a:solidFill>
                            <a:srgbClr val="0C000C"/>
                          </a:solidFill>
                          <a:latin typeface="メイリオ" panose="020B0604030504040204" pitchFamily="50" charset="-128"/>
                          <a:ea typeface="メイリオ" panose="020B0604030504040204" pitchFamily="50" charset="-128"/>
                        </a:rPr>
                        <a:t>　果樹情報　リンゴ、モモ、ナシ開花予測</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84919103"/>
                  </a:ext>
                </a:extLst>
              </a:tr>
              <a:tr h="423971">
                <a:tc vMerge="1">
                  <a:txBody>
                    <a:bodyPr/>
                    <a:lstStyle/>
                    <a:p>
                      <a:endParaRPr kumimoji="1" lang="ja-JP" altLang="en-US"/>
                    </a:p>
                  </a:txBody>
                  <a:tcPr/>
                </a:tc>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dirty="0">
                          <a:solidFill>
                            <a:srgbClr val="00B050"/>
                          </a:solidFill>
                          <a:latin typeface="メイリオ" panose="020B0604030504040204" pitchFamily="50" charset="-128"/>
                          <a:ea typeface="メイリオ" panose="020B0604030504040204" pitchFamily="50" charset="-128"/>
                        </a:rPr>
                        <a:t>栃木県</a:t>
                      </a:r>
                      <a:r>
                        <a:rPr kumimoji="1" lang="ja-JP" altLang="en-US" sz="1400" b="1" dirty="0">
                          <a:solidFill>
                            <a:srgbClr val="0C000C"/>
                          </a:solidFill>
                          <a:latin typeface="メイリオ" panose="020B0604030504040204" pitchFamily="50" charset="-128"/>
                          <a:ea typeface="メイリオ" panose="020B0604030504040204" pitchFamily="50" charset="-128"/>
                        </a:rPr>
                        <a:t>　ナシ「幸水」「にっこり」「豊水」開花予測</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35379031"/>
                  </a:ext>
                </a:extLst>
              </a:tr>
              <a:tr h="423971">
                <a:tc vMerge="1">
                  <a:txBody>
                    <a:bodyPr/>
                    <a:lstStyle/>
                    <a:p>
                      <a:endParaRPr dirty="0"/>
                    </a:p>
                  </a:txBody>
                  <a:tcPr marL="68580" marR="68580" marT="34290" marB="34290" anchor="ctr"/>
                </a:tc>
                <a:tc vMerge="1">
                  <a:txBody>
                    <a:bodyPr/>
                    <a:lstStyle/>
                    <a:p>
                      <a:endParaRPr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r>
                        <a:rPr kumimoji="1" lang="ja-JP" altLang="en-US" sz="1400" b="1" dirty="0">
                          <a:solidFill>
                            <a:srgbClr val="00B050"/>
                          </a:solidFill>
                          <a:latin typeface="メイリオ" panose="020B0604030504040204" pitchFamily="50" charset="-128"/>
                          <a:ea typeface="メイリオ" panose="020B0604030504040204" pitchFamily="50" charset="-128"/>
                        </a:rPr>
                        <a:t>千葉県</a:t>
                      </a:r>
                      <a:r>
                        <a:rPr kumimoji="1" lang="ja-JP" altLang="en-US" sz="1400" b="1" dirty="0">
                          <a:solidFill>
                            <a:srgbClr val="0C000C"/>
                          </a:solidFill>
                          <a:latin typeface="メイリオ" panose="020B0604030504040204" pitchFamily="50" charset="-128"/>
                          <a:ea typeface="メイリオ" panose="020B0604030504040204" pitchFamily="50" charset="-128"/>
                        </a:rPr>
                        <a:t>　農林総合研究センター　ナシ開花予測システム</a:t>
                      </a:r>
                      <a:endParaRPr kumimoji="1" lang="en-US" altLang="ja-JP" sz="1400" b="1" dirty="0">
                        <a:solidFill>
                          <a:srgbClr val="0C000C"/>
                        </a:solidFill>
                        <a:latin typeface="メイリオ" panose="020B0604030504040204" pitchFamily="50" charset="-128"/>
                        <a:ea typeface="メイリオ" panose="020B0604030504040204" pitchFamily="50" charset="-128"/>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7262764"/>
                  </a:ext>
                </a:extLst>
              </a:tr>
              <a:tr h="423971">
                <a:tc rowSpan="2">
                  <a:txBody>
                    <a:bodyPr/>
                    <a:lstStyle/>
                    <a:p>
                      <a:pPr algn="ctr"/>
                      <a:r>
                        <a:rPr kumimoji="1" lang="ja-JP" altLang="en-US" sz="1400" b="1" dirty="0">
                          <a:solidFill>
                            <a:srgbClr val="0C000C"/>
                          </a:solidFill>
                          <a:latin typeface="メイリオ" panose="020B0604030504040204" pitchFamily="50" charset="-128"/>
                          <a:ea typeface="メイリオ" panose="020B0604030504040204" pitchFamily="50" charset="-128"/>
                        </a:rPr>
                        <a:t>病害虫</a:t>
                      </a:r>
                      <a:endParaRPr kumimoji="1" lang="en-US" altLang="ja-JP" sz="1400" b="1" dirty="0">
                        <a:solidFill>
                          <a:srgbClr val="0C000C"/>
                        </a:solidFill>
                        <a:latin typeface="メイリオ" panose="020B0604030504040204" pitchFamily="50" charset="-128"/>
                        <a:ea typeface="メイリオ" panose="020B0604030504040204" pitchFamily="50" charset="-128"/>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a:r>
                        <a:rPr kumimoji="1" lang="ja-JP" altLang="en-US" sz="1400" b="1" dirty="0">
                          <a:solidFill>
                            <a:srgbClr val="0C000C"/>
                          </a:solidFill>
                          <a:latin typeface="メイリオ" panose="020B0604030504040204" pitchFamily="50" charset="-128"/>
                          <a:ea typeface="メイリオ" panose="020B0604030504040204" pitchFamily="50" charset="-128"/>
                        </a:rPr>
                        <a:t>発生予察</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kumimoji="1" lang="ja-JP" altLang="en-US" sz="1400" b="1" dirty="0">
                          <a:solidFill>
                            <a:srgbClr val="00B050"/>
                          </a:solidFill>
                          <a:latin typeface="メイリオ" panose="020B0604030504040204" pitchFamily="50" charset="-128"/>
                          <a:ea typeface="メイリオ" panose="020B0604030504040204" pitchFamily="50" charset="-128"/>
                        </a:rPr>
                        <a:t>栃木県</a:t>
                      </a:r>
                      <a:r>
                        <a:rPr kumimoji="1" lang="ja-JP" altLang="en-US" sz="1400" b="1" dirty="0">
                          <a:solidFill>
                            <a:srgbClr val="0C000C"/>
                          </a:solidFill>
                          <a:latin typeface="メイリオ" panose="020B0604030504040204" pitchFamily="50" charset="-128"/>
                          <a:ea typeface="メイリオ" panose="020B0604030504040204" pitchFamily="50" charset="-128"/>
                        </a:rPr>
                        <a:t>　植物防疫ニュース　ヒメトビウンカ防除</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63537234"/>
                  </a:ext>
                </a:extLst>
              </a:tr>
              <a:tr h="423971">
                <a:tc vMerge="1">
                  <a:txBody>
                    <a:bodyPr/>
                    <a:lstStyle/>
                    <a:p>
                      <a:endParaRPr dirty="0"/>
                    </a:p>
                  </a:txBody>
                  <a:tcPr marL="68580" marR="68580" marT="34290" marB="34290" anchor="ctr"/>
                </a:tc>
                <a:tc vMerge="1">
                  <a:txBody>
                    <a:bodyPr/>
                    <a:lstStyle/>
                    <a:p>
                      <a:endParaRPr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r>
                        <a:rPr kumimoji="1" lang="ja-JP" altLang="en-US" sz="1400" b="1" dirty="0">
                          <a:solidFill>
                            <a:srgbClr val="00B050"/>
                          </a:solidFill>
                          <a:latin typeface="メイリオ" panose="020B0604030504040204" pitchFamily="50" charset="-128"/>
                          <a:ea typeface="メイリオ" panose="020B0604030504040204" pitchFamily="50" charset="-128"/>
                        </a:rPr>
                        <a:t>沖縄県</a:t>
                      </a:r>
                      <a:r>
                        <a:rPr kumimoji="1" lang="ja-JP" altLang="en-US" sz="1400" b="1" dirty="0">
                          <a:solidFill>
                            <a:srgbClr val="0C000C"/>
                          </a:solidFill>
                          <a:latin typeface="メイリオ" panose="020B0604030504040204" pitchFamily="50" charset="-128"/>
                          <a:ea typeface="メイリオ" panose="020B0604030504040204" pitchFamily="50" charset="-128"/>
                        </a:rPr>
                        <a:t>　</a:t>
                      </a:r>
                      <a:r>
                        <a:rPr lang="ja-JP" altLang="en-US" sz="1400" b="1" dirty="0">
                          <a:solidFill>
                            <a:srgbClr val="0C000C"/>
                          </a:solidFill>
                          <a:latin typeface="メイリオ" panose="020B0604030504040204" pitchFamily="50" charset="-128"/>
                          <a:ea typeface="メイリオ" panose="020B0604030504040204" pitchFamily="50" charset="-128"/>
                        </a:rPr>
                        <a:t>カンシャコバネナガカメムシ（ガイダー）の防除適期</a:t>
                      </a:r>
                      <a:endParaRPr kumimoji="1" lang="ja-JP" altLang="en-US" sz="1400" b="1" dirty="0">
                        <a:solidFill>
                          <a:srgbClr val="0C000C"/>
                        </a:solidFill>
                        <a:latin typeface="メイリオ" panose="020B0604030504040204" pitchFamily="50" charset="-128"/>
                        <a:ea typeface="メイリオ" panose="020B0604030504040204" pitchFamily="50" charset="-128"/>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20916627"/>
                  </a:ext>
                </a:extLst>
              </a:tr>
              <a:tr h="42397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dirty="0">
                          <a:solidFill>
                            <a:srgbClr val="0C000C"/>
                          </a:solidFill>
                          <a:latin typeface="メイリオ" panose="020B0604030504040204" pitchFamily="50" charset="-128"/>
                          <a:ea typeface="メイリオ" panose="020B0604030504040204" pitchFamily="50" charset="-128"/>
                        </a:rPr>
                        <a:t>その他</a:t>
                      </a:r>
                      <a:endParaRPr kumimoji="1" lang="en-US" altLang="ja-JP" sz="1400" b="1" dirty="0">
                        <a:solidFill>
                          <a:srgbClr val="0C000C"/>
                        </a:solidFill>
                        <a:latin typeface="メイリオ" panose="020B0604030504040204" pitchFamily="50" charset="-128"/>
                        <a:ea typeface="メイリオ" panose="020B0604030504040204" pitchFamily="50" charset="-128"/>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kumimoji="1" lang="ja-JP" altLang="en-US" sz="1400" b="1" dirty="0">
                          <a:solidFill>
                            <a:srgbClr val="0C000C"/>
                          </a:solidFill>
                          <a:latin typeface="メイリオ" panose="020B0604030504040204" pitchFamily="50" charset="-128"/>
                          <a:ea typeface="メイリオ" panose="020B0604030504040204" pitchFamily="50" charset="-128"/>
                        </a:rPr>
                        <a:t>メッシュ情報</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a:r>
                        <a:rPr kumimoji="1" lang="ja-JP" altLang="en-US" sz="1400" b="1" dirty="0">
                          <a:solidFill>
                            <a:srgbClr val="0000FF"/>
                          </a:solidFill>
                          <a:latin typeface="メイリオ" panose="020B0604030504040204" pitchFamily="50" charset="-128"/>
                          <a:ea typeface="メイリオ" panose="020B0604030504040204" pitchFamily="50" charset="-128"/>
                        </a:rPr>
                        <a:t>農研機構　</a:t>
                      </a:r>
                      <a:r>
                        <a:rPr kumimoji="1" lang="ja-JP" altLang="en-US" sz="1400" b="1" dirty="0">
                          <a:solidFill>
                            <a:srgbClr val="0C000C"/>
                          </a:solidFill>
                          <a:latin typeface="メイリオ" panose="020B0604030504040204" pitchFamily="50" charset="-128"/>
                          <a:ea typeface="メイリオ" panose="020B0604030504040204" pitchFamily="50" charset="-128"/>
                        </a:rPr>
                        <a:t>メッシュ農業気象データシステム</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1754552"/>
                  </a:ext>
                </a:extLst>
              </a:tr>
            </a:tbl>
          </a:graphicData>
        </a:graphic>
      </p:graphicFrame>
    </p:spTree>
    <p:extLst>
      <p:ext uri="{BB962C8B-B14F-4D97-AF65-F5344CB8AC3E}">
        <p14:creationId xmlns:p14="http://schemas.microsoft.com/office/powerpoint/2010/main" val="3557561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8235F3-3B2A-5FA4-1C5B-4268C0F036C0}"/>
              </a:ext>
            </a:extLst>
          </p:cNvPr>
          <p:cNvSpPr>
            <a:spLocks noGrp="1"/>
          </p:cNvSpPr>
          <p:nvPr>
            <p:ph type="title"/>
          </p:nvPr>
        </p:nvSpPr>
        <p:spPr/>
        <p:txBody>
          <a:bodyPr/>
          <a:lstStyle/>
          <a:p>
            <a:r>
              <a:rPr kumimoji="1" lang="ja-JP" altLang="en-US" dirty="0"/>
              <a:t>活用事例１｜水稲生育予測システム（千葉県）</a:t>
            </a:r>
          </a:p>
        </p:txBody>
      </p:sp>
      <p:sp>
        <p:nvSpPr>
          <p:cNvPr id="3" name="コンテンツ プレースホルダー 2">
            <a:extLst>
              <a:ext uri="{FF2B5EF4-FFF2-40B4-BE49-F238E27FC236}">
                <a16:creationId xmlns:a16="http://schemas.microsoft.com/office/drawing/2014/main" id="{85ED66A1-168F-E070-1EC2-0ADC36EBA79D}"/>
              </a:ext>
            </a:extLst>
          </p:cNvPr>
          <p:cNvSpPr>
            <a:spLocks noGrp="1"/>
          </p:cNvSpPr>
          <p:nvPr>
            <p:ph idx="1"/>
          </p:nvPr>
        </p:nvSpPr>
        <p:spPr>
          <a:xfrm>
            <a:off x="250825" y="688978"/>
            <a:ext cx="8642350" cy="5903905"/>
          </a:xfrm>
        </p:spPr>
        <p:txBody>
          <a:bodyPr/>
          <a:lstStyle/>
          <a:p>
            <a:r>
              <a:rPr kumimoji="1" lang="ja-JP" altLang="en-US" dirty="0"/>
              <a:t>２週間気温予報・１か月予報データの活用例　～出穂期・作業適期予測～</a:t>
            </a:r>
          </a:p>
        </p:txBody>
      </p:sp>
      <p:sp>
        <p:nvSpPr>
          <p:cNvPr id="6" name="スライド番号プレースホルダー 5">
            <a:extLst>
              <a:ext uri="{FF2B5EF4-FFF2-40B4-BE49-F238E27FC236}">
                <a16:creationId xmlns:a16="http://schemas.microsoft.com/office/drawing/2014/main" id="{F737F2B4-591C-3619-F938-4954CB1476DC}"/>
              </a:ext>
            </a:extLst>
          </p:cNvPr>
          <p:cNvSpPr>
            <a:spLocks noGrp="1"/>
          </p:cNvSpPr>
          <p:nvPr>
            <p:ph type="sldNum" sz="quarter" idx="12"/>
          </p:nvPr>
        </p:nvSpPr>
        <p:spPr/>
        <p:txBody>
          <a:bodyPr/>
          <a:lstStyle/>
          <a:p>
            <a:fld id="{5F9F9204-6EDA-41A6-81B7-5E8491083ADF}" type="slidenum">
              <a:rPr kumimoji="1" lang="ja-JP" altLang="en-US" smtClean="0"/>
              <a:t>7</a:t>
            </a:fld>
            <a:endParaRPr kumimoji="1" lang="ja-JP" altLang="en-US" dirty="0"/>
          </a:p>
        </p:txBody>
      </p:sp>
      <p:pic>
        <p:nvPicPr>
          <p:cNvPr id="10" name="図 9" descr="草, 男, 人, 記号 が含まれている画像&#10;&#10;AI によって生成されたコンテンツは間違っている可能性があります。">
            <a:extLst>
              <a:ext uri="{FF2B5EF4-FFF2-40B4-BE49-F238E27FC236}">
                <a16:creationId xmlns:a16="http://schemas.microsoft.com/office/drawing/2014/main" id="{FBF63728-460B-36B2-3B81-88D78D6B6E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436243"/>
            <a:ext cx="3448257" cy="5056632"/>
          </a:xfrm>
          <a:prstGeom prst="rect">
            <a:avLst/>
          </a:prstGeom>
        </p:spPr>
      </p:pic>
      <p:pic>
        <p:nvPicPr>
          <p:cNvPr id="11" name="図 10" descr="テキスト&#10;&#10;AI によって生成されたコンテンツは間違っている可能性があります。">
            <a:extLst>
              <a:ext uri="{FF2B5EF4-FFF2-40B4-BE49-F238E27FC236}">
                <a16:creationId xmlns:a16="http://schemas.microsoft.com/office/drawing/2014/main" id="{FA9AFE9E-52FC-7857-F15D-9482F4BCC6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46690" y="1327002"/>
            <a:ext cx="4404088" cy="3239950"/>
          </a:xfrm>
          <a:prstGeom prst="rect">
            <a:avLst/>
          </a:prstGeom>
        </p:spPr>
      </p:pic>
      <p:cxnSp>
        <p:nvCxnSpPr>
          <p:cNvPr id="12" name="直線コネクタ 11">
            <a:extLst>
              <a:ext uri="{FF2B5EF4-FFF2-40B4-BE49-F238E27FC236}">
                <a16:creationId xmlns:a16="http://schemas.microsoft.com/office/drawing/2014/main" id="{3B6E301F-2DD8-9752-C213-E88630E67F21}"/>
              </a:ext>
            </a:extLst>
          </p:cNvPr>
          <p:cNvCxnSpPr>
            <a:cxnSpLocks/>
          </p:cNvCxnSpPr>
          <p:nvPr/>
        </p:nvCxnSpPr>
        <p:spPr>
          <a:xfrm>
            <a:off x="4615037" y="3429128"/>
            <a:ext cx="3876325" cy="107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5FC9E3B8-60D5-9B3F-2578-6A7CCEEA588F}"/>
              </a:ext>
            </a:extLst>
          </p:cNvPr>
          <p:cNvSpPr txBox="1"/>
          <p:nvPr/>
        </p:nvSpPr>
        <p:spPr>
          <a:xfrm>
            <a:off x="4146690" y="4711419"/>
            <a:ext cx="4540110" cy="1569660"/>
          </a:xfrm>
          <a:prstGeom prst="rect">
            <a:avLst/>
          </a:prstGeom>
          <a:noFill/>
        </p:spPr>
        <p:txBody>
          <a:bodyPr wrap="square" rtlCol="0">
            <a:spAutoFit/>
          </a:bodyPr>
          <a:lstStyle/>
          <a:p>
            <a:r>
              <a:rPr lang="ja-JP" altLang="en-US" sz="1600" dirty="0"/>
              <a:t>アメダスデータ、品種、移植日の情報から、水稲の出穂期を予測して、そこから追肥や斑点米カメムシ類対策の作業適期を計算</a:t>
            </a:r>
            <a:endParaRPr lang="en-US" altLang="ja-JP" sz="1600" dirty="0"/>
          </a:p>
          <a:p>
            <a:endParaRPr lang="en-US" altLang="ja-JP" sz="1600" dirty="0"/>
          </a:p>
          <a:p>
            <a:r>
              <a:rPr lang="ja-JP" altLang="en-US" sz="1600" dirty="0"/>
              <a:t>水稲の生育判断、作業計画の参考、生育の年次変動の把握、人材育成などの場面で利用</a:t>
            </a:r>
            <a:endParaRPr kumimoji="1" lang="ja-JP" altLang="en-US" sz="1600" dirty="0"/>
          </a:p>
        </p:txBody>
      </p:sp>
      <p:cxnSp>
        <p:nvCxnSpPr>
          <p:cNvPr id="15" name="直線コネクタ 14">
            <a:extLst>
              <a:ext uri="{FF2B5EF4-FFF2-40B4-BE49-F238E27FC236}">
                <a16:creationId xmlns:a16="http://schemas.microsoft.com/office/drawing/2014/main" id="{A0398789-6707-367F-6379-61F4731AA5EB}"/>
              </a:ext>
            </a:extLst>
          </p:cNvPr>
          <p:cNvCxnSpPr>
            <a:cxnSpLocks/>
          </p:cNvCxnSpPr>
          <p:nvPr/>
        </p:nvCxnSpPr>
        <p:spPr>
          <a:xfrm>
            <a:off x="4261504" y="3831899"/>
            <a:ext cx="854782"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A49C73DD-0BFA-8882-273C-740E4ADA6CBC}"/>
              </a:ext>
            </a:extLst>
          </p:cNvPr>
          <p:cNvSpPr txBox="1"/>
          <p:nvPr/>
        </p:nvSpPr>
        <p:spPr>
          <a:xfrm>
            <a:off x="0" y="6488827"/>
            <a:ext cx="5116286" cy="400110"/>
          </a:xfrm>
          <a:prstGeom prst="rect">
            <a:avLst/>
          </a:prstGeom>
          <a:noFill/>
        </p:spPr>
        <p:txBody>
          <a:bodyPr wrap="square">
            <a:spAutoFit/>
          </a:bodyPr>
          <a:lstStyle/>
          <a:p>
            <a:pPr lvl="0" fontAlgn="base">
              <a:spcBef>
                <a:spcPct val="0"/>
              </a:spcBef>
              <a:spcAft>
                <a:spcPct val="0"/>
              </a:spcAft>
              <a:defRPr/>
            </a:pPr>
            <a:r>
              <a:rPr kumimoji="1" lang="ja-JP" altLang="en-US" sz="10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千葉県農林総合研究センター</a:t>
            </a:r>
            <a:r>
              <a:rPr lang="ja-JP" altLang="en-US" sz="1000" dirty="0">
                <a:solidFill>
                  <a:prstClr val="black"/>
                </a:solidFill>
                <a:latin typeface="メイリオ" panose="020B0604030504040204" pitchFamily="50" charset="-128"/>
                <a:ea typeface="メイリオ" panose="020B0604030504040204" pitchFamily="50" charset="-128"/>
              </a:rPr>
              <a:t>の許可を得て掲載 </a:t>
            </a:r>
            <a:endParaRPr kumimoji="1" lang="en-US" altLang="ja-JP" sz="10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https://www.pref.chiba.lg.jp/ninaite/system/documents/deltausermanual.pdf</a:t>
            </a:r>
            <a:endParaRPr kumimoji="1" lang="ja-JP" altLang="en-US" sz="10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105807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F084D5-2F18-14DD-F838-E36214B81E9E}"/>
              </a:ext>
            </a:extLst>
          </p:cNvPr>
          <p:cNvSpPr>
            <a:spLocks noGrp="1"/>
          </p:cNvSpPr>
          <p:nvPr>
            <p:ph type="title"/>
          </p:nvPr>
        </p:nvSpPr>
        <p:spPr/>
        <p:txBody>
          <a:bodyPr/>
          <a:lstStyle/>
          <a:p>
            <a:r>
              <a:rPr kumimoji="1" lang="ja-JP" altLang="en-US" dirty="0"/>
              <a:t>活用事例２｜おきたま米づくり情報（山形県）</a:t>
            </a:r>
          </a:p>
        </p:txBody>
      </p:sp>
      <p:sp>
        <p:nvSpPr>
          <p:cNvPr id="3" name="コンテンツ プレースホルダー 2">
            <a:extLst>
              <a:ext uri="{FF2B5EF4-FFF2-40B4-BE49-F238E27FC236}">
                <a16:creationId xmlns:a16="http://schemas.microsoft.com/office/drawing/2014/main" id="{E5FB39D4-C184-A5CA-B727-627501B280E1}"/>
              </a:ext>
            </a:extLst>
          </p:cNvPr>
          <p:cNvSpPr>
            <a:spLocks noGrp="1"/>
          </p:cNvSpPr>
          <p:nvPr>
            <p:ph idx="1"/>
          </p:nvPr>
        </p:nvSpPr>
        <p:spPr/>
        <p:txBody>
          <a:bodyPr>
            <a:normAutofit/>
          </a:bodyPr>
          <a:lstStyle/>
          <a:p>
            <a:r>
              <a:rPr lang="ja-JP" altLang="en-US" dirty="0"/>
              <a:t>刈り取り適期</a:t>
            </a:r>
            <a:r>
              <a:rPr lang="zh-TW" altLang="en-US" dirty="0"/>
              <a:t>予測</a:t>
            </a:r>
            <a:r>
              <a:rPr lang="ja-JP" altLang="en-US" dirty="0"/>
              <a:t>手法の改善を農業気象情報へ活用</a:t>
            </a:r>
          </a:p>
        </p:txBody>
      </p:sp>
      <p:sp>
        <p:nvSpPr>
          <p:cNvPr id="6" name="スライド番号プレースホルダー 5">
            <a:extLst>
              <a:ext uri="{FF2B5EF4-FFF2-40B4-BE49-F238E27FC236}">
                <a16:creationId xmlns:a16="http://schemas.microsoft.com/office/drawing/2014/main" id="{BADE13EF-08AF-5E4C-396A-9DA3FA98C9EA}"/>
              </a:ext>
            </a:extLst>
          </p:cNvPr>
          <p:cNvSpPr>
            <a:spLocks noGrp="1"/>
          </p:cNvSpPr>
          <p:nvPr>
            <p:ph type="sldNum" sz="quarter" idx="12"/>
          </p:nvPr>
        </p:nvSpPr>
        <p:spPr/>
        <p:txBody>
          <a:bodyPr/>
          <a:lstStyle/>
          <a:p>
            <a:fld id="{5F9F9204-6EDA-41A6-81B7-5E8491083ADF}" type="slidenum">
              <a:rPr kumimoji="1" lang="ja-JP" altLang="en-US" smtClean="0"/>
              <a:t>8</a:t>
            </a:fld>
            <a:endParaRPr kumimoji="1" lang="ja-JP" altLang="en-US" dirty="0"/>
          </a:p>
        </p:txBody>
      </p:sp>
      <p:pic>
        <p:nvPicPr>
          <p:cNvPr id="9" name="図 8">
            <a:extLst>
              <a:ext uri="{FF2B5EF4-FFF2-40B4-BE49-F238E27FC236}">
                <a16:creationId xmlns:a16="http://schemas.microsoft.com/office/drawing/2014/main" id="{F5BF5457-D5EF-06FE-4A8C-234376CA3BA4}"/>
              </a:ext>
            </a:extLst>
          </p:cNvPr>
          <p:cNvPicPr>
            <a:picLocks noChangeAspect="1"/>
          </p:cNvPicPr>
          <p:nvPr/>
        </p:nvPicPr>
        <p:blipFill>
          <a:blip r:embed="rId3"/>
          <a:stretch>
            <a:fillRect/>
          </a:stretch>
        </p:blipFill>
        <p:spPr>
          <a:xfrm>
            <a:off x="1687303" y="2357296"/>
            <a:ext cx="6092429" cy="1092375"/>
          </a:xfrm>
          <a:prstGeom prst="rect">
            <a:avLst/>
          </a:prstGeom>
        </p:spPr>
      </p:pic>
      <p:cxnSp>
        <p:nvCxnSpPr>
          <p:cNvPr id="12" name="直線コネクタ 11">
            <a:extLst>
              <a:ext uri="{FF2B5EF4-FFF2-40B4-BE49-F238E27FC236}">
                <a16:creationId xmlns:a16="http://schemas.microsoft.com/office/drawing/2014/main" id="{0BC2EE76-0CBB-3593-1D5D-32CFAC82A2CA}"/>
              </a:ext>
            </a:extLst>
          </p:cNvPr>
          <p:cNvCxnSpPr/>
          <p:nvPr/>
        </p:nvCxnSpPr>
        <p:spPr>
          <a:xfrm>
            <a:off x="1848820" y="3416218"/>
            <a:ext cx="5930912"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スライド番号プレースホルダー 13">
            <a:extLst>
              <a:ext uri="{FF2B5EF4-FFF2-40B4-BE49-F238E27FC236}">
                <a16:creationId xmlns:a16="http://schemas.microsoft.com/office/drawing/2014/main" id="{08E945E4-384F-7D64-B5F7-931E345D4904}"/>
              </a:ext>
            </a:extLst>
          </p:cNvPr>
          <p:cNvSpPr txBox="1">
            <a:spLocks/>
          </p:cNvSpPr>
          <p:nvPr/>
        </p:nvSpPr>
        <p:spPr>
          <a:xfrm>
            <a:off x="7086600" y="6492875"/>
            <a:ext cx="2057400" cy="365125"/>
          </a:xfrm>
          <a:prstGeom prst="rect">
            <a:avLst/>
          </a:prstGeom>
        </p:spPr>
        <p:txBody>
          <a:bodyPr vert="horz" lIns="91440" tIns="45720" rIns="91440" bIns="45720" rtlCol="0" anchor="b"/>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F9F9204-6EDA-41A6-81B7-5E8491083ADF}" type="slidenum">
              <a:rPr lang="ja-JP" altLang="en-US" smtClean="0"/>
              <a:pPr/>
              <a:t>8</a:t>
            </a:fld>
            <a:endParaRPr lang="ja-JP" altLang="en-US"/>
          </a:p>
        </p:txBody>
      </p:sp>
      <p:pic>
        <p:nvPicPr>
          <p:cNvPr id="16" name="図 15">
            <a:extLst>
              <a:ext uri="{FF2B5EF4-FFF2-40B4-BE49-F238E27FC236}">
                <a16:creationId xmlns:a16="http://schemas.microsoft.com/office/drawing/2014/main" id="{CCD001FE-4728-3297-6DD3-2155C3C2ACB2}"/>
              </a:ext>
            </a:extLst>
          </p:cNvPr>
          <p:cNvPicPr>
            <a:picLocks noChangeAspect="1"/>
          </p:cNvPicPr>
          <p:nvPr/>
        </p:nvPicPr>
        <p:blipFill>
          <a:blip r:embed="rId4"/>
          <a:stretch>
            <a:fillRect/>
          </a:stretch>
        </p:blipFill>
        <p:spPr>
          <a:xfrm>
            <a:off x="1428816" y="1282789"/>
            <a:ext cx="6286368" cy="993222"/>
          </a:xfrm>
          <a:prstGeom prst="rect">
            <a:avLst/>
          </a:prstGeom>
        </p:spPr>
      </p:pic>
      <p:pic>
        <p:nvPicPr>
          <p:cNvPr id="19" name="図 18">
            <a:extLst>
              <a:ext uri="{FF2B5EF4-FFF2-40B4-BE49-F238E27FC236}">
                <a16:creationId xmlns:a16="http://schemas.microsoft.com/office/drawing/2014/main" id="{2E680B53-A60D-878E-9334-B0EB4C383609}"/>
              </a:ext>
            </a:extLst>
          </p:cNvPr>
          <p:cNvPicPr>
            <a:picLocks noChangeAspect="1"/>
          </p:cNvPicPr>
          <p:nvPr/>
        </p:nvPicPr>
        <p:blipFill>
          <a:blip r:embed="rId5"/>
          <a:stretch>
            <a:fillRect/>
          </a:stretch>
        </p:blipFill>
        <p:spPr>
          <a:xfrm>
            <a:off x="1435197" y="3742828"/>
            <a:ext cx="6344535" cy="1025925"/>
          </a:xfrm>
          <a:prstGeom prst="rect">
            <a:avLst/>
          </a:prstGeom>
        </p:spPr>
      </p:pic>
      <p:pic>
        <p:nvPicPr>
          <p:cNvPr id="21" name="図 20">
            <a:extLst>
              <a:ext uri="{FF2B5EF4-FFF2-40B4-BE49-F238E27FC236}">
                <a16:creationId xmlns:a16="http://schemas.microsoft.com/office/drawing/2014/main" id="{DADB9B26-5C56-DCE7-F3B0-3DF7A2B8CC77}"/>
              </a:ext>
            </a:extLst>
          </p:cNvPr>
          <p:cNvPicPr>
            <a:picLocks noChangeAspect="1"/>
          </p:cNvPicPr>
          <p:nvPr/>
        </p:nvPicPr>
        <p:blipFill>
          <a:blip r:embed="rId6"/>
          <a:stretch>
            <a:fillRect/>
          </a:stretch>
        </p:blipFill>
        <p:spPr>
          <a:xfrm>
            <a:off x="1693684" y="4913220"/>
            <a:ext cx="6109515" cy="1037781"/>
          </a:xfrm>
          <a:prstGeom prst="rect">
            <a:avLst/>
          </a:prstGeom>
        </p:spPr>
      </p:pic>
      <p:cxnSp>
        <p:nvCxnSpPr>
          <p:cNvPr id="22" name="直線コネクタ 21">
            <a:extLst>
              <a:ext uri="{FF2B5EF4-FFF2-40B4-BE49-F238E27FC236}">
                <a16:creationId xmlns:a16="http://schemas.microsoft.com/office/drawing/2014/main" id="{1C291F8A-07BA-3373-1F5C-1E071F52668A}"/>
              </a:ext>
            </a:extLst>
          </p:cNvPr>
          <p:cNvCxnSpPr/>
          <p:nvPr/>
        </p:nvCxnSpPr>
        <p:spPr>
          <a:xfrm>
            <a:off x="1872287" y="5951001"/>
            <a:ext cx="5930912"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コンテンツ プレースホルダー 2">
            <a:extLst>
              <a:ext uri="{FF2B5EF4-FFF2-40B4-BE49-F238E27FC236}">
                <a16:creationId xmlns:a16="http://schemas.microsoft.com/office/drawing/2014/main" id="{CAC13CD5-AE23-C8F2-7DC6-939BC5DE870D}"/>
              </a:ext>
            </a:extLst>
          </p:cNvPr>
          <p:cNvSpPr txBox="1">
            <a:spLocks/>
          </p:cNvSpPr>
          <p:nvPr/>
        </p:nvSpPr>
        <p:spPr>
          <a:xfrm>
            <a:off x="2710816" y="6062526"/>
            <a:ext cx="5293007" cy="393176"/>
          </a:xfrm>
          <a:prstGeom prst="rect">
            <a:avLst/>
          </a:prstGeom>
        </p:spPr>
        <p:txBody>
          <a:bodyPr vert="horz" lIns="91440" tIns="45720" rIns="91440" bIns="45720" rtlCol="0">
            <a:norm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600" dirty="0">
                <a:solidFill>
                  <a:srgbClr val="FF0000"/>
                </a:solidFill>
              </a:rPr>
              <a:t>気温の予測値として２週間気温予報、１か月予報を使用</a:t>
            </a:r>
          </a:p>
        </p:txBody>
      </p:sp>
      <p:sp>
        <p:nvSpPr>
          <p:cNvPr id="24" name="テキスト ボックス 23">
            <a:extLst>
              <a:ext uri="{FF2B5EF4-FFF2-40B4-BE49-F238E27FC236}">
                <a16:creationId xmlns:a16="http://schemas.microsoft.com/office/drawing/2014/main" id="{4E922956-75FD-BF44-1424-625A49DC4710}"/>
              </a:ext>
            </a:extLst>
          </p:cNvPr>
          <p:cNvSpPr txBox="1"/>
          <p:nvPr/>
        </p:nvSpPr>
        <p:spPr>
          <a:xfrm>
            <a:off x="3848217" y="6584243"/>
            <a:ext cx="5044958" cy="276999"/>
          </a:xfrm>
          <a:prstGeom prst="rect">
            <a:avLst/>
          </a:prstGeom>
          <a:noFill/>
        </p:spPr>
        <p:txBody>
          <a:bodyPr wrap="square">
            <a:spAutoFit/>
          </a:bodyPr>
          <a:lstStyle/>
          <a:p>
            <a:r>
              <a:rPr lang="ja-JP" altLang="en-US" sz="1200" dirty="0">
                <a:latin typeface="メイリオ" panose="020B0604030504040204" pitchFamily="50" charset="-128"/>
                <a:ea typeface="メイリオ" panose="020B0604030504040204" pitchFamily="50" charset="-128"/>
              </a:rPr>
              <a:t>やまがた温暖化対応米づくり日本一運動（山形県）</a:t>
            </a:r>
            <a:r>
              <a:rPr lang="ja-JP" altLang="en-US" sz="1200" dirty="0">
                <a:solidFill>
                  <a:prstClr val="black"/>
                </a:solidFill>
                <a:latin typeface="メイリオ" panose="020B0604030504040204" pitchFamily="50" charset="-128"/>
                <a:ea typeface="メイリオ" panose="020B0604030504040204" pitchFamily="50" charset="-128"/>
              </a:rPr>
              <a:t>作成</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980555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図 14" descr="グラフ&#10;&#10;AI 生成コンテンツは誤りを含む可能性があります。">
            <a:extLst>
              <a:ext uri="{FF2B5EF4-FFF2-40B4-BE49-F238E27FC236}">
                <a16:creationId xmlns:a16="http://schemas.microsoft.com/office/drawing/2014/main" id="{18A5D4A8-F7A3-F01E-650D-67AF483FFC8E}"/>
              </a:ext>
            </a:extLst>
          </p:cNvPr>
          <p:cNvPicPr>
            <a:picLocks noChangeAspect="1"/>
          </p:cNvPicPr>
          <p:nvPr/>
        </p:nvPicPr>
        <p:blipFill>
          <a:blip r:embed="rId3"/>
          <a:stretch>
            <a:fillRect/>
          </a:stretch>
        </p:blipFill>
        <p:spPr>
          <a:xfrm>
            <a:off x="4317057" y="3824558"/>
            <a:ext cx="4826943" cy="2617177"/>
          </a:xfrm>
          <a:prstGeom prst="rect">
            <a:avLst/>
          </a:prstGeom>
        </p:spPr>
      </p:pic>
      <p:sp>
        <p:nvSpPr>
          <p:cNvPr id="2" name="タイトル 1">
            <a:extLst>
              <a:ext uri="{FF2B5EF4-FFF2-40B4-BE49-F238E27FC236}">
                <a16:creationId xmlns:a16="http://schemas.microsoft.com/office/drawing/2014/main" id="{666D4B2D-584A-63D2-9185-4A8FD24CD11C}"/>
              </a:ext>
            </a:extLst>
          </p:cNvPr>
          <p:cNvSpPr>
            <a:spLocks noGrp="1"/>
          </p:cNvSpPr>
          <p:nvPr>
            <p:ph type="title"/>
          </p:nvPr>
        </p:nvSpPr>
        <p:spPr/>
        <p:txBody>
          <a:bodyPr/>
          <a:lstStyle/>
          <a:p>
            <a:r>
              <a:rPr kumimoji="1" lang="ja-JP" altLang="en-US" dirty="0"/>
              <a:t>活用事例３｜稲作技術情報（新潟県）</a:t>
            </a:r>
          </a:p>
        </p:txBody>
      </p:sp>
      <p:sp>
        <p:nvSpPr>
          <p:cNvPr id="3" name="コンテンツ プレースホルダー 2">
            <a:extLst>
              <a:ext uri="{FF2B5EF4-FFF2-40B4-BE49-F238E27FC236}">
                <a16:creationId xmlns:a16="http://schemas.microsoft.com/office/drawing/2014/main" id="{856DA7E2-AAEC-9D50-7CFB-62E1E63EDEED}"/>
              </a:ext>
            </a:extLst>
          </p:cNvPr>
          <p:cNvSpPr>
            <a:spLocks noGrp="1"/>
          </p:cNvSpPr>
          <p:nvPr>
            <p:ph idx="1"/>
          </p:nvPr>
        </p:nvSpPr>
        <p:spPr/>
        <p:txBody>
          <a:bodyPr>
            <a:normAutofit/>
          </a:bodyPr>
          <a:lstStyle/>
          <a:p>
            <a:r>
              <a:rPr lang="ja-JP" altLang="en-US" dirty="0"/>
              <a:t>収穫適期を計算した日別の表情報も技術情報と合わせて発行</a:t>
            </a:r>
          </a:p>
        </p:txBody>
      </p:sp>
      <p:sp>
        <p:nvSpPr>
          <p:cNvPr id="5" name="矢印: 五方向 4">
            <a:extLst>
              <a:ext uri="{FF2B5EF4-FFF2-40B4-BE49-F238E27FC236}">
                <a16:creationId xmlns:a16="http://schemas.microsoft.com/office/drawing/2014/main" id="{E5CFE71F-9434-51C8-6508-92FDC4586E7E}"/>
              </a:ext>
            </a:extLst>
          </p:cNvPr>
          <p:cNvSpPr/>
          <p:nvPr/>
        </p:nvSpPr>
        <p:spPr>
          <a:xfrm>
            <a:off x="4313090" y="3806986"/>
            <a:ext cx="916135" cy="360000"/>
          </a:xfrm>
          <a:prstGeom prst="homePlate">
            <a:avLst>
              <a:gd name="adj" fmla="val 39752"/>
            </a:avLst>
          </a:prstGeom>
          <a:solidFill>
            <a:schemeClr val="tx2"/>
          </a:solidFill>
          <a:ln>
            <a:noFill/>
          </a:ln>
        </p:spPr>
        <p:style>
          <a:lnRef idx="2">
            <a:schemeClr val="accent6">
              <a:shade val="50000"/>
            </a:schemeClr>
          </a:lnRef>
          <a:fillRef idx="1">
            <a:schemeClr val="accent6"/>
          </a:fillRef>
          <a:effectRef idx="0">
            <a:schemeClr val="accent6"/>
          </a:effectRef>
          <a:fontRef idx="minor">
            <a:schemeClr val="lt1"/>
          </a:fontRef>
        </p:style>
        <p:txBody>
          <a:bodyPr tIns="72000" bIns="36000" rtlCol="0" anchor="ctr"/>
          <a:lstStyle/>
          <a:p>
            <a:pPr algn="ctr"/>
            <a:r>
              <a:rPr lang="ja-JP" altLang="en-US" sz="1400" dirty="0"/>
              <a:t>表情報</a:t>
            </a:r>
          </a:p>
        </p:txBody>
      </p:sp>
      <p:sp>
        <p:nvSpPr>
          <p:cNvPr id="4" name="スライド番号プレースホルダー 3">
            <a:extLst>
              <a:ext uri="{FF2B5EF4-FFF2-40B4-BE49-F238E27FC236}">
                <a16:creationId xmlns:a16="http://schemas.microsoft.com/office/drawing/2014/main" id="{50A9CE55-449C-DB48-05B6-15E040453464}"/>
              </a:ext>
            </a:extLst>
          </p:cNvPr>
          <p:cNvSpPr>
            <a:spLocks noGrp="1"/>
          </p:cNvSpPr>
          <p:nvPr>
            <p:ph type="sldNum" sz="quarter" idx="12"/>
          </p:nvPr>
        </p:nvSpPr>
        <p:spPr>
          <a:xfrm>
            <a:off x="7086600" y="6448427"/>
            <a:ext cx="2057400" cy="365125"/>
          </a:xfrm>
        </p:spPr>
        <p:txBody>
          <a:bodyPr/>
          <a:lstStyle/>
          <a:p>
            <a:fld id="{5F9F9204-6EDA-41A6-81B7-5E8491083ADF}" type="slidenum">
              <a:rPr kumimoji="1" lang="ja-JP" altLang="en-US" smtClean="0"/>
              <a:t>9</a:t>
            </a:fld>
            <a:endParaRPr kumimoji="1" lang="ja-JP" altLang="en-US" dirty="0"/>
          </a:p>
        </p:txBody>
      </p:sp>
      <p:pic>
        <p:nvPicPr>
          <p:cNvPr id="9" name="図 8" descr="テーブル&#10;&#10;AI 生成コンテンツは誤りを含む可能性があります。">
            <a:extLst>
              <a:ext uri="{FF2B5EF4-FFF2-40B4-BE49-F238E27FC236}">
                <a16:creationId xmlns:a16="http://schemas.microsoft.com/office/drawing/2014/main" id="{41879FC5-ACC6-F95B-B976-7F321D2BB6AF}"/>
              </a:ext>
            </a:extLst>
          </p:cNvPr>
          <p:cNvPicPr>
            <a:picLocks noChangeAspect="1"/>
          </p:cNvPicPr>
          <p:nvPr/>
        </p:nvPicPr>
        <p:blipFill>
          <a:blip r:embed="rId4"/>
          <a:stretch>
            <a:fillRect/>
          </a:stretch>
        </p:blipFill>
        <p:spPr>
          <a:xfrm>
            <a:off x="120664" y="1322137"/>
            <a:ext cx="3986035" cy="5170738"/>
          </a:xfrm>
          <a:prstGeom prst="rect">
            <a:avLst/>
          </a:prstGeom>
          <a:ln>
            <a:solidFill>
              <a:schemeClr val="tx1"/>
            </a:solidFill>
          </a:ln>
        </p:spPr>
      </p:pic>
      <p:cxnSp>
        <p:nvCxnSpPr>
          <p:cNvPr id="12" name="直線コネクタ 11">
            <a:extLst>
              <a:ext uri="{FF2B5EF4-FFF2-40B4-BE49-F238E27FC236}">
                <a16:creationId xmlns:a16="http://schemas.microsoft.com/office/drawing/2014/main" id="{5588403F-7B2B-EEB5-2B39-D3AE60A4B4DB}"/>
              </a:ext>
            </a:extLst>
          </p:cNvPr>
          <p:cNvCxnSpPr>
            <a:cxnSpLocks/>
          </p:cNvCxnSpPr>
          <p:nvPr/>
        </p:nvCxnSpPr>
        <p:spPr>
          <a:xfrm>
            <a:off x="456568" y="5955370"/>
            <a:ext cx="486708" cy="0"/>
          </a:xfrm>
          <a:prstGeom prst="line">
            <a:avLst/>
          </a:prstGeom>
          <a:ln w="19050">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D861EF3A-FF8C-A217-4C89-6DDEC65EE493}"/>
              </a:ext>
            </a:extLst>
          </p:cNvPr>
          <p:cNvCxnSpPr>
            <a:cxnSpLocks/>
          </p:cNvCxnSpPr>
          <p:nvPr/>
        </p:nvCxnSpPr>
        <p:spPr>
          <a:xfrm>
            <a:off x="1183907" y="5838262"/>
            <a:ext cx="2791327" cy="0"/>
          </a:xfrm>
          <a:prstGeom prst="line">
            <a:avLst/>
          </a:prstGeom>
          <a:ln w="19050">
            <a:solidFill>
              <a:schemeClr val="accent2"/>
            </a:solidFill>
            <a:tailEnd type="none"/>
          </a:ln>
        </p:spPr>
        <p:style>
          <a:lnRef idx="1">
            <a:schemeClr val="accent1"/>
          </a:lnRef>
          <a:fillRef idx="0">
            <a:schemeClr val="accent1"/>
          </a:fillRef>
          <a:effectRef idx="0">
            <a:schemeClr val="accent1"/>
          </a:effectRef>
          <a:fontRef idx="minor">
            <a:schemeClr val="tx1"/>
          </a:fontRef>
        </p:style>
      </p:cxnSp>
      <p:pic>
        <p:nvPicPr>
          <p:cNvPr id="22" name="図 21" descr="テーブル&#10;&#10;AI 生成コンテンツは誤りを含む可能性があります。">
            <a:extLst>
              <a:ext uri="{FF2B5EF4-FFF2-40B4-BE49-F238E27FC236}">
                <a16:creationId xmlns:a16="http://schemas.microsoft.com/office/drawing/2014/main" id="{E8C9AFDC-0AD4-32FE-772C-8659D6D35FF8}"/>
              </a:ext>
            </a:extLst>
          </p:cNvPr>
          <p:cNvPicPr>
            <a:picLocks noChangeAspect="1"/>
          </p:cNvPicPr>
          <p:nvPr/>
        </p:nvPicPr>
        <p:blipFill>
          <a:blip r:embed="rId5"/>
          <a:stretch>
            <a:fillRect/>
          </a:stretch>
        </p:blipFill>
        <p:spPr>
          <a:xfrm>
            <a:off x="4313090" y="1318386"/>
            <a:ext cx="4716414" cy="1952967"/>
          </a:xfrm>
          <a:prstGeom prst="rect">
            <a:avLst/>
          </a:prstGeom>
          <a:ln>
            <a:solidFill>
              <a:schemeClr val="tx1"/>
            </a:solidFill>
          </a:ln>
        </p:spPr>
      </p:pic>
      <p:cxnSp>
        <p:nvCxnSpPr>
          <p:cNvPr id="23" name="直線コネクタ 22">
            <a:extLst>
              <a:ext uri="{FF2B5EF4-FFF2-40B4-BE49-F238E27FC236}">
                <a16:creationId xmlns:a16="http://schemas.microsoft.com/office/drawing/2014/main" id="{A1D49AD5-13CC-D107-FE98-9EB1129C3663}"/>
              </a:ext>
            </a:extLst>
          </p:cNvPr>
          <p:cNvCxnSpPr>
            <a:cxnSpLocks/>
          </p:cNvCxnSpPr>
          <p:nvPr/>
        </p:nvCxnSpPr>
        <p:spPr>
          <a:xfrm>
            <a:off x="5775158" y="2849183"/>
            <a:ext cx="2245394" cy="0"/>
          </a:xfrm>
          <a:prstGeom prst="line">
            <a:avLst/>
          </a:prstGeom>
          <a:ln w="19050">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B6DD25A2-B232-3D43-25BB-52279534B3F6}"/>
              </a:ext>
            </a:extLst>
          </p:cNvPr>
          <p:cNvCxnSpPr>
            <a:cxnSpLocks/>
          </p:cNvCxnSpPr>
          <p:nvPr/>
        </p:nvCxnSpPr>
        <p:spPr>
          <a:xfrm>
            <a:off x="4425903" y="2963082"/>
            <a:ext cx="1349255" cy="0"/>
          </a:xfrm>
          <a:prstGeom prst="line">
            <a:avLst/>
          </a:prstGeom>
          <a:ln w="19050">
            <a:solidFill>
              <a:schemeClr val="accent2"/>
            </a:solidFill>
            <a:tailEnd type="non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CC72D8F2-33E4-589B-478E-3FD39EEF6283}"/>
              </a:ext>
            </a:extLst>
          </p:cNvPr>
          <p:cNvSpPr txBox="1"/>
          <p:nvPr/>
        </p:nvSpPr>
        <p:spPr>
          <a:xfrm>
            <a:off x="4265316" y="6514139"/>
            <a:ext cx="5642567" cy="400110"/>
          </a:xfrm>
          <a:prstGeom prst="rect">
            <a:avLst/>
          </a:prstGeom>
          <a:noFill/>
        </p:spPr>
        <p:txBody>
          <a:bodyPr wrap="square">
            <a:spAutoFit/>
          </a:bodyPr>
          <a:lstStyle/>
          <a:p>
            <a:pPr lvl="0" fontAlgn="base">
              <a:spcBef>
                <a:spcPct val="0"/>
              </a:spcBef>
              <a:spcAft>
                <a:spcPct val="0"/>
              </a:spcAft>
              <a:defRPr/>
            </a:pPr>
            <a:r>
              <a:rPr kumimoji="1" lang="zh-TW" altLang="en-US" sz="10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新潟県長岡地域振興局農林振興部</a:t>
            </a:r>
            <a:r>
              <a:rPr kumimoji="1" lang="ja-JP" altLang="en-US" sz="10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の許可を得て掲載</a:t>
            </a:r>
            <a:r>
              <a:rPr lang="en-US" altLang="ja-JP" sz="1000" dirty="0">
                <a:solidFill>
                  <a:prstClr val="black"/>
                </a:solidFill>
                <a:latin typeface="メイリオ" panose="020B0604030504040204" pitchFamily="50" charset="-128"/>
                <a:ea typeface="メイリオ" panose="020B0604030504040204" pitchFamily="50" charset="-128"/>
              </a:rPr>
              <a:t>https://www.pref.niigata.lg.jp/sec/nagaoka_nourin/riceinfo2025.html</a:t>
            </a:r>
            <a:endParaRPr kumimoji="1" lang="ja-JP" altLang="en-US" sz="10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48052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A9D6D8-964B-2557-611B-D887FF47720B}"/>
              </a:ext>
            </a:extLst>
          </p:cNvPr>
          <p:cNvSpPr>
            <a:spLocks noGrp="1"/>
          </p:cNvSpPr>
          <p:nvPr>
            <p:ph type="title"/>
          </p:nvPr>
        </p:nvSpPr>
        <p:spPr/>
        <p:txBody>
          <a:bodyPr/>
          <a:lstStyle/>
          <a:p>
            <a:r>
              <a:rPr kumimoji="1" lang="ja-JP" altLang="en-US" dirty="0"/>
              <a:t>活用事例４｜「おいでまい」通信（香川県）</a:t>
            </a:r>
          </a:p>
        </p:txBody>
      </p:sp>
      <p:sp>
        <p:nvSpPr>
          <p:cNvPr id="3" name="コンテンツ プレースホルダー 2">
            <a:extLst>
              <a:ext uri="{FF2B5EF4-FFF2-40B4-BE49-F238E27FC236}">
                <a16:creationId xmlns:a16="http://schemas.microsoft.com/office/drawing/2014/main" id="{BA0CC770-1A15-766B-AF70-9BB7E15BE330}"/>
              </a:ext>
            </a:extLst>
          </p:cNvPr>
          <p:cNvSpPr>
            <a:spLocks noGrp="1"/>
          </p:cNvSpPr>
          <p:nvPr>
            <p:ph idx="1"/>
          </p:nvPr>
        </p:nvSpPr>
        <p:spPr>
          <a:xfrm>
            <a:off x="250825" y="710750"/>
            <a:ext cx="8642350" cy="5903905"/>
          </a:xfrm>
        </p:spPr>
        <p:txBody>
          <a:bodyPr>
            <a:normAutofit/>
          </a:bodyPr>
          <a:lstStyle/>
          <a:p>
            <a:r>
              <a:rPr lang="ja-JP" altLang="en-US" dirty="0">
                <a:latin typeface="Arial" panose="020B0604020202020204" pitchFamily="34" charset="0"/>
              </a:rPr>
              <a:t>特産品「おいでまい」の刈り取り適期の予測に活用し、品質向上を図る</a:t>
            </a:r>
            <a:endParaRPr lang="ja-JP" altLang="en-US" sz="3200" dirty="0"/>
          </a:p>
        </p:txBody>
      </p:sp>
      <p:sp>
        <p:nvSpPr>
          <p:cNvPr id="9" name="スライド番号プレースホルダー 8">
            <a:extLst>
              <a:ext uri="{FF2B5EF4-FFF2-40B4-BE49-F238E27FC236}">
                <a16:creationId xmlns:a16="http://schemas.microsoft.com/office/drawing/2014/main" id="{B6144AFD-2482-25D1-6ED7-7B221BD674F6}"/>
              </a:ext>
            </a:extLst>
          </p:cNvPr>
          <p:cNvSpPr>
            <a:spLocks noGrp="1"/>
          </p:cNvSpPr>
          <p:nvPr>
            <p:ph type="sldNum" sz="quarter" idx="12"/>
          </p:nvPr>
        </p:nvSpPr>
        <p:spPr/>
        <p:txBody>
          <a:bodyPr/>
          <a:lstStyle/>
          <a:p>
            <a:fld id="{5F9F9204-6EDA-41A6-81B7-5E8491083ADF}" type="slidenum">
              <a:rPr kumimoji="1" lang="ja-JP" altLang="en-US" smtClean="0"/>
              <a:t>10</a:t>
            </a:fld>
            <a:endParaRPr kumimoji="1" lang="ja-JP" altLang="en-US" dirty="0"/>
          </a:p>
        </p:txBody>
      </p:sp>
      <p:sp>
        <p:nvSpPr>
          <p:cNvPr id="20" name="スライド番号プレースホルダー 1">
            <a:extLst>
              <a:ext uri="{FF2B5EF4-FFF2-40B4-BE49-F238E27FC236}">
                <a16:creationId xmlns:a16="http://schemas.microsoft.com/office/drawing/2014/main" id="{A8539383-040A-91B2-15F2-F12A543AF803}"/>
              </a:ext>
            </a:extLst>
          </p:cNvPr>
          <p:cNvSpPr txBox="1">
            <a:spLocks/>
          </p:cNvSpPr>
          <p:nvPr/>
        </p:nvSpPr>
        <p:spPr>
          <a:xfrm>
            <a:off x="7086600" y="6492875"/>
            <a:ext cx="2057400" cy="365125"/>
          </a:xfrm>
          <a:prstGeom prst="rect">
            <a:avLst/>
          </a:prstGeom>
        </p:spPr>
        <p:txBody>
          <a:bodyPr vert="horz" lIns="91440" tIns="45720" rIns="91440" bIns="45720" rtlCol="0" anchor="b"/>
          <a:lstStyle>
            <a:defPPr>
              <a:defRPr lang="ja-JP"/>
            </a:defPPr>
            <a:lvl1pPr marL="0" algn="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F9F9204-6EDA-41A6-81B7-5E8491083ADF}" type="slidenum">
              <a:rPr lang="ja-JP" altLang="en-US" sz="1100" smtClean="0"/>
              <a:pPr/>
              <a:t>10</a:t>
            </a:fld>
            <a:endParaRPr lang="ja-JP" altLang="en-US" sz="1100" dirty="0"/>
          </a:p>
        </p:txBody>
      </p:sp>
      <p:pic>
        <p:nvPicPr>
          <p:cNvPr id="21" name="図 20">
            <a:extLst>
              <a:ext uri="{FF2B5EF4-FFF2-40B4-BE49-F238E27FC236}">
                <a16:creationId xmlns:a16="http://schemas.microsoft.com/office/drawing/2014/main" id="{9BB0621F-C519-A717-F699-98E5E21E99B6}"/>
              </a:ext>
            </a:extLst>
          </p:cNvPr>
          <p:cNvPicPr>
            <a:picLocks noChangeAspect="1"/>
          </p:cNvPicPr>
          <p:nvPr/>
        </p:nvPicPr>
        <p:blipFill>
          <a:blip r:embed="rId3"/>
          <a:stretch>
            <a:fillRect/>
          </a:stretch>
        </p:blipFill>
        <p:spPr>
          <a:xfrm>
            <a:off x="355938" y="1164771"/>
            <a:ext cx="3861492" cy="5693227"/>
          </a:xfrm>
          <a:prstGeom prst="rect">
            <a:avLst/>
          </a:prstGeom>
        </p:spPr>
      </p:pic>
      <p:sp>
        <p:nvSpPr>
          <p:cNvPr id="22" name="テキスト ボックス 21">
            <a:extLst>
              <a:ext uri="{FF2B5EF4-FFF2-40B4-BE49-F238E27FC236}">
                <a16:creationId xmlns:a16="http://schemas.microsoft.com/office/drawing/2014/main" id="{14ED8ECC-D5FA-CFC7-ED23-6FFDBA640053}"/>
              </a:ext>
            </a:extLst>
          </p:cNvPr>
          <p:cNvSpPr txBox="1"/>
          <p:nvPr/>
        </p:nvSpPr>
        <p:spPr>
          <a:xfrm>
            <a:off x="4561807" y="6482459"/>
            <a:ext cx="4331368" cy="369332"/>
          </a:xfrm>
          <a:prstGeom prst="rect">
            <a:avLst/>
          </a:prstGeom>
          <a:noFill/>
        </p:spPr>
        <p:txBody>
          <a:bodyPr wrap="square">
            <a:spAutoFit/>
          </a:bodyPr>
          <a:lstStyle/>
          <a:p>
            <a:r>
              <a:rPr lang="ja-JP" altLang="en-US" sz="900" dirty="0">
                <a:latin typeface="メイリオ" panose="020B0604030504040204" pitchFamily="50" charset="-128"/>
                <a:ea typeface="メイリオ" panose="020B0604030504040204" pitchFamily="50" charset="-128"/>
              </a:rPr>
              <a:t>中讃農業改良普及センター</a:t>
            </a:r>
            <a:r>
              <a:rPr lang="ja-JP" altLang="en-US" sz="900" dirty="0">
                <a:solidFill>
                  <a:prstClr val="black"/>
                </a:solidFill>
                <a:latin typeface="メイリオ" panose="020B0604030504040204" pitchFamily="50" charset="-128"/>
                <a:ea typeface="メイリオ" panose="020B0604030504040204" pitchFamily="50" charset="-128"/>
              </a:rPr>
              <a:t>の許可を得て掲載 </a:t>
            </a:r>
            <a:r>
              <a:rPr lang="en-US" altLang="ja-JP" sz="900" dirty="0">
                <a:latin typeface="メイリオ" panose="020B0604030504040204" pitchFamily="50" charset="-128"/>
                <a:ea typeface="メイリオ" panose="020B0604030504040204" pitchFamily="50" charset="-128"/>
              </a:rPr>
              <a:t>https://www.pref.kagawa.lg.jp/chusannokai/chusannokai/kfvn.html</a:t>
            </a:r>
            <a:endParaRPr lang="ja-JP" altLang="en-US" sz="900" dirty="0"/>
          </a:p>
        </p:txBody>
      </p:sp>
      <p:cxnSp>
        <p:nvCxnSpPr>
          <p:cNvPr id="25" name="直線コネクタ 24">
            <a:extLst>
              <a:ext uri="{FF2B5EF4-FFF2-40B4-BE49-F238E27FC236}">
                <a16:creationId xmlns:a16="http://schemas.microsoft.com/office/drawing/2014/main" id="{A8D93D8C-7CE6-F397-2E2E-7DAD88A32CA3}"/>
              </a:ext>
            </a:extLst>
          </p:cNvPr>
          <p:cNvCxnSpPr>
            <a:cxnSpLocks/>
          </p:cNvCxnSpPr>
          <p:nvPr/>
        </p:nvCxnSpPr>
        <p:spPr>
          <a:xfrm>
            <a:off x="2079171" y="6337664"/>
            <a:ext cx="2094414"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6" name="直線コネクタ 25">
            <a:extLst>
              <a:ext uri="{FF2B5EF4-FFF2-40B4-BE49-F238E27FC236}">
                <a16:creationId xmlns:a16="http://schemas.microsoft.com/office/drawing/2014/main" id="{152E6DFE-428E-B4D5-C72D-2F1EC795DD77}"/>
              </a:ext>
            </a:extLst>
          </p:cNvPr>
          <p:cNvCxnSpPr>
            <a:cxnSpLocks/>
          </p:cNvCxnSpPr>
          <p:nvPr/>
        </p:nvCxnSpPr>
        <p:spPr>
          <a:xfrm>
            <a:off x="563880" y="6449331"/>
            <a:ext cx="1145177" cy="0"/>
          </a:xfrm>
          <a:prstGeom prst="line">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pic>
        <p:nvPicPr>
          <p:cNvPr id="32" name="図 31" descr="グラフ&#10;&#10;AI 生成コンテンツは誤りを含む可能性があります。">
            <a:extLst>
              <a:ext uri="{FF2B5EF4-FFF2-40B4-BE49-F238E27FC236}">
                <a16:creationId xmlns:a16="http://schemas.microsoft.com/office/drawing/2014/main" id="{0FA1573C-A951-AF8E-6818-FE2FEE059AC0}"/>
              </a:ext>
            </a:extLst>
          </p:cNvPr>
          <p:cNvPicPr>
            <a:picLocks noChangeAspect="1"/>
          </p:cNvPicPr>
          <p:nvPr/>
        </p:nvPicPr>
        <p:blipFill>
          <a:blip r:embed="rId4"/>
          <a:srcRect b="10611"/>
          <a:stretch>
            <a:fillRect/>
          </a:stretch>
        </p:blipFill>
        <p:spPr>
          <a:xfrm>
            <a:off x="4572000" y="1164771"/>
            <a:ext cx="4008120" cy="4982479"/>
          </a:xfrm>
          <a:prstGeom prst="rect">
            <a:avLst/>
          </a:prstGeom>
        </p:spPr>
      </p:pic>
      <p:cxnSp>
        <p:nvCxnSpPr>
          <p:cNvPr id="24" name="直線コネクタ 23">
            <a:extLst>
              <a:ext uri="{FF2B5EF4-FFF2-40B4-BE49-F238E27FC236}">
                <a16:creationId xmlns:a16="http://schemas.microsoft.com/office/drawing/2014/main" id="{83246D86-C5C1-D870-B34B-892DBAEC3FEC}"/>
              </a:ext>
            </a:extLst>
          </p:cNvPr>
          <p:cNvCxnSpPr>
            <a:cxnSpLocks/>
          </p:cNvCxnSpPr>
          <p:nvPr/>
        </p:nvCxnSpPr>
        <p:spPr>
          <a:xfrm>
            <a:off x="4868093" y="4686426"/>
            <a:ext cx="3546564" cy="0"/>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6820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17D8B7-8D88-6B1E-D74F-11E7FCB67663}"/>
              </a:ext>
            </a:extLst>
          </p:cNvPr>
          <p:cNvSpPr>
            <a:spLocks noGrp="1"/>
          </p:cNvSpPr>
          <p:nvPr>
            <p:ph type="title"/>
          </p:nvPr>
        </p:nvSpPr>
        <p:spPr/>
        <p:txBody>
          <a:bodyPr/>
          <a:lstStyle/>
          <a:p>
            <a:r>
              <a:rPr kumimoji="1" lang="ja-JP" altLang="en-US" dirty="0"/>
              <a:t>活用事例５｜ナシ開花予測システム（千葉県）</a:t>
            </a:r>
          </a:p>
        </p:txBody>
      </p:sp>
      <p:pic>
        <p:nvPicPr>
          <p:cNvPr id="17" name="Picture 2">
            <a:extLst>
              <a:ext uri="{FF2B5EF4-FFF2-40B4-BE49-F238E27FC236}">
                <a16:creationId xmlns:a16="http://schemas.microsoft.com/office/drawing/2014/main" id="{3DBE2588-FB38-1F46-3246-334E3A765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7164" y="921207"/>
            <a:ext cx="3257734" cy="4936306"/>
          </a:xfrm>
          <a:prstGeom prst="rect">
            <a:avLst/>
          </a:prstGeom>
          <a:noFill/>
          <a:extLst>
            <a:ext uri="{909E8E84-426E-40DD-AFC4-6F175D3DCCD1}">
              <a14:hiddenFill xmlns:a14="http://schemas.microsoft.com/office/drawing/2010/main">
                <a:solidFill>
                  <a:srgbClr val="FFFFFF"/>
                </a:solidFill>
              </a14:hiddenFill>
            </a:ext>
          </a:extLst>
        </p:spPr>
      </p:pic>
      <p:sp>
        <p:nvSpPr>
          <p:cNvPr id="21" name="テキスト ボックス 20">
            <a:extLst>
              <a:ext uri="{FF2B5EF4-FFF2-40B4-BE49-F238E27FC236}">
                <a16:creationId xmlns:a16="http://schemas.microsoft.com/office/drawing/2014/main" id="{56DE9662-B201-2835-41F3-47FF8BE081ED}"/>
              </a:ext>
            </a:extLst>
          </p:cNvPr>
          <p:cNvSpPr txBox="1"/>
          <p:nvPr/>
        </p:nvSpPr>
        <p:spPr>
          <a:xfrm>
            <a:off x="0" y="6465207"/>
            <a:ext cx="8741229" cy="40011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千葉県農林総合研究センターの許可を得て掲載 </a:t>
            </a:r>
            <a:endParaRPr kumimoji="1" lang="en-US" altLang="ja-JP" sz="10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https://www.pref.chiba.lg.jp/ninaite/system/documents/usermanual2025.pdf</a:t>
            </a:r>
            <a:endParaRPr kumimoji="1" lang="ja-JP" altLang="en-US" sz="1000" b="0" i="0" u="none" strike="noStrike" kern="120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86578893-0395-2C2B-5EE9-E6C12725663E}"/>
              </a:ext>
            </a:extLst>
          </p:cNvPr>
          <p:cNvSpPr/>
          <p:nvPr/>
        </p:nvSpPr>
        <p:spPr>
          <a:xfrm>
            <a:off x="4093357" y="3283862"/>
            <a:ext cx="2545327" cy="844238"/>
          </a:xfrm>
          <a:prstGeom prst="rect">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Calibri" panose="020F0502020204030204"/>
              <a:ea typeface="游ゴシック" panose="020B0400000000000000" pitchFamily="50" charset="-128"/>
              <a:cs typeface="+mn-cs"/>
            </a:endParaRPr>
          </a:p>
        </p:txBody>
      </p:sp>
      <p:pic>
        <p:nvPicPr>
          <p:cNvPr id="32" name="Picture 4">
            <a:extLst>
              <a:ext uri="{FF2B5EF4-FFF2-40B4-BE49-F238E27FC236}">
                <a16:creationId xmlns:a16="http://schemas.microsoft.com/office/drawing/2014/main" id="{A79D3B0A-8DFC-7728-9D87-A0C42F38AF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8854" y="5979431"/>
            <a:ext cx="3762375" cy="819150"/>
          </a:xfrm>
          <a:prstGeom prst="rect">
            <a:avLst/>
          </a:prstGeom>
          <a:noFill/>
          <a:extLst>
            <a:ext uri="{909E8E84-426E-40DD-AFC4-6F175D3DCCD1}">
              <a14:hiddenFill xmlns:a14="http://schemas.microsoft.com/office/drawing/2010/main">
                <a:solidFill>
                  <a:srgbClr val="FFFFFF"/>
                </a:solidFill>
              </a14:hiddenFill>
            </a:ext>
          </a:extLst>
        </p:spPr>
      </p:pic>
      <p:pic>
        <p:nvPicPr>
          <p:cNvPr id="33" name="図 32">
            <a:extLst>
              <a:ext uri="{FF2B5EF4-FFF2-40B4-BE49-F238E27FC236}">
                <a16:creationId xmlns:a16="http://schemas.microsoft.com/office/drawing/2014/main" id="{141979AF-C933-7654-1CD1-120868C4CCFD}"/>
              </a:ext>
            </a:extLst>
          </p:cNvPr>
          <p:cNvPicPr>
            <a:picLocks noChangeAspect="1"/>
          </p:cNvPicPr>
          <p:nvPr/>
        </p:nvPicPr>
        <p:blipFill>
          <a:blip r:embed="rId5"/>
          <a:stretch>
            <a:fillRect/>
          </a:stretch>
        </p:blipFill>
        <p:spPr>
          <a:xfrm>
            <a:off x="54430" y="1042812"/>
            <a:ext cx="3904789" cy="4814701"/>
          </a:xfrm>
          <a:prstGeom prst="rect">
            <a:avLst/>
          </a:prstGeom>
          <a:ln>
            <a:solidFill>
              <a:schemeClr val="tx1"/>
            </a:solidFill>
          </a:ln>
        </p:spPr>
      </p:pic>
      <p:sp>
        <p:nvSpPr>
          <p:cNvPr id="34" name="吹き出し: 四角形 33">
            <a:extLst>
              <a:ext uri="{FF2B5EF4-FFF2-40B4-BE49-F238E27FC236}">
                <a16:creationId xmlns:a16="http://schemas.microsoft.com/office/drawing/2014/main" id="{4C885CE5-B90A-9876-53E3-75DE6AFEBD97}"/>
              </a:ext>
            </a:extLst>
          </p:cNvPr>
          <p:cNvSpPr/>
          <p:nvPr/>
        </p:nvSpPr>
        <p:spPr>
          <a:xfrm>
            <a:off x="7074898" y="4260276"/>
            <a:ext cx="1806710" cy="1125517"/>
          </a:xfrm>
          <a:prstGeom prst="wedgeRectCallout">
            <a:avLst>
              <a:gd name="adj1" fmla="val -41161"/>
              <a:gd name="adj2" fmla="val 107794"/>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T</a:t>
            </a:r>
            <a:r>
              <a:rPr kumimoji="1" lang="ja-JP" altLang="en-US"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 に気温の</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endParaRPr>
          </a:p>
          <a:p>
            <a:pPr marL="0" marR="0" lvl="0" indent="0" algn="ctr" defTabSz="457200" rtl="0" eaLnBrk="1" fontAlgn="base" latinLnBrk="0" hangingPunct="1">
              <a:lnSpc>
                <a:spcPct val="100000"/>
              </a:lnSpc>
              <a:spcBef>
                <a:spcPct val="0"/>
              </a:spcBef>
              <a:spcAft>
                <a:spcPct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予測値を入力</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endParaRPr>
          </a:p>
          <a:p>
            <a:pPr marL="0" marR="0" lvl="0" indent="0" algn="ctr" defTabSz="457200" rtl="0" eaLnBrk="1" fontAlgn="base" latinLnBrk="0" hangingPunct="1">
              <a:lnSpc>
                <a:spcPct val="100000"/>
              </a:lnSpc>
              <a:spcBef>
                <a:spcPct val="0"/>
              </a:spcBef>
              <a:spcAft>
                <a:spcPct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するイメージ</a:t>
            </a:r>
            <a:endParaRPr kumimoji="1" lang="en-US" altLang="ja-JP" sz="18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endParaRPr>
          </a:p>
          <a:p>
            <a:pPr marL="0" marR="0" lvl="0" indent="0" algn="ctr" defTabSz="4572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50" charset="-128"/>
                <a:cs typeface="+mn-cs"/>
              </a:rPr>
              <a:t>＊式は例です</a:t>
            </a:r>
          </a:p>
        </p:txBody>
      </p:sp>
      <p:sp>
        <p:nvSpPr>
          <p:cNvPr id="35" name="スライド番号プレースホルダー 1">
            <a:extLst>
              <a:ext uri="{FF2B5EF4-FFF2-40B4-BE49-F238E27FC236}">
                <a16:creationId xmlns:a16="http://schemas.microsoft.com/office/drawing/2014/main" id="{4BB7B0F2-0639-35F0-F4FB-6CB67FE26E8E}"/>
              </a:ext>
            </a:extLst>
          </p:cNvPr>
          <p:cNvSpPr>
            <a:spLocks noGrp="1"/>
          </p:cNvSpPr>
          <p:nvPr>
            <p:ph type="sldNum" sz="quarter" idx="12"/>
          </p:nvPr>
        </p:nvSpPr>
        <p:spPr>
          <a:xfrm>
            <a:off x="7086600" y="6492875"/>
            <a:ext cx="2057400" cy="365125"/>
          </a:xfrm>
        </p:spPr>
        <p:txBody>
          <a:bodyPr/>
          <a:lstStyle/>
          <a:p>
            <a:fld id="{5F9F9204-6EDA-41A6-81B7-5E8491083ADF}" type="slidenum">
              <a:rPr kumimoji="1" lang="ja-JP" altLang="en-US" sz="1100" smtClean="0"/>
              <a:t>11</a:t>
            </a:fld>
            <a:endParaRPr kumimoji="1" lang="ja-JP" altLang="en-US" sz="1100"/>
          </a:p>
        </p:txBody>
      </p:sp>
      <p:sp>
        <p:nvSpPr>
          <p:cNvPr id="36" name="テキスト ボックス 35">
            <a:extLst>
              <a:ext uri="{FF2B5EF4-FFF2-40B4-BE49-F238E27FC236}">
                <a16:creationId xmlns:a16="http://schemas.microsoft.com/office/drawing/2014/main" id="{E81710EA-7BDD-E232-5B19-22B8956F2D20}"/>
              </a:ext>
            </a:extLst>
          </p:cNvPr>
          <p:cNvSpPr txBox="1"/>
          <p:nvPr/>
        </p:nvSpPr>
        <p:spPr>
          <a:xfrm>
            <a:off x="6949553" y="2897285"/>
            <a:ext cx="2057400" cy="66043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846" b="1"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rPr>
              <a:t>2</a:t>
            </a:r>
            <a:r>
              <a:rPr kumimoji="1" lang="ja-JP" altLang="en-US" sz="1846" b="1"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rPr>
              <a:t>週間気温予報の</a:t>
            </a:r>
            <a:endParaRPr kumimoji="1" lang="en-US" altLang="ja-JP" sz="1846" b="1"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846" b="1" i="0" u="none" strike="noStrike" kern="120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cs typeface="+mn-cs"/>
              </a:rPr>
              <a:t>予測値を活用</a:t>
            </a:r>
          </a:p>
        </p:txBody>
      </p:sp>
      <p:cxnSp>
        <p:nvCxnSpPr>
          <p:cNvPr id="37" name="直線矢印コネクタ 36">
            <a:extLst>
              <a:ext uri="{FF2B5EF4-FFF2-40B4-BE49-F238E27FC236}">
                <a16:creationId xmlns:a16="http://schemas.microsoft.com/office/drawing/2014/main" id="{70F49003-6DA1-511F-6CFF-30A6AC490B15}"/>
              </a:ext>
            </a:extLst>
          </p:cNvPr>
          <p:cNvCxnSpPr>
            <a:cxnSpLocks/>
          </p:cNvCxnSpPr>
          <p:nvPr/>
        </p:nvCxnSpPr>
        <p:spPr>
          <a:xfrm flipH="1">
            <a:off x="7802217" y="3537844"/>
            <a:ext cx="162477" cy="96540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楕円 37">
            <a:extLst>
              <a:ext uri="{FF2B5EF4-FFF2-40B4-BE49-F238E27FC236}">
                <a16:creationId xmlns:a16="http://schemas.microsoft.com/office/drawing/2014/main" id="{CF4900D3-AFBB-2296-A86C-3C6B57495FBF}"/>
              </a:ext>
            </a:extLst>
          </p:cNvPr>
          <p:cNvSpPr/>
          <p:nvPr/>
        </p:nvSpPr>
        <p:spPr>
          <a:xfrm>
            <a:off x="7274561" y="4581939"/>
            <a:ext cx="733510" cy="318053"/>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19346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6B411E-414D-C28E-AABF-88F495A3052F}"/>
              </a:ext>
            </a:extLst>
          </p:cNvPr>
          <p:cNvSpPr>
            <a:spLocks noGrp="1"/>
          </p:cNvSpPr>
          <p:nvPr>
            <p:ph type="title"/>
          </p:nvPr>
        </p:nvSpPr>
        <p:spPr/>
        <p:txBody>
          <a:bodyPr/>
          <a:lstStyle/>
          <a:p>
            <a:r>
              <a:rPr kumimoji="1" lang="ja-JP" altLang="en-US" dirty="0"/>
              <a:t>活用事例</a:t>
            </a:r>
            <a:r>
              <a:rPr lang="ja-JP" altLang="en-US" dirty="0"/>
              <a:t>６</a:t>
            </a:r>
            <a:r>
              <a:rPr kumimoji="1" lang="ja-JP" altLang="en-US" dirty="0"/>
              <a:t>｜モモの開花日予測（山梨県）</a:t>
            </a:r>
          </a:p>
        </p:txBody>
      </p:sp>
      <p:sp>
        <p:nvSpPr>
          <p:cNvPr id="3" name="コンテンツ プレースホルダー 2">
            <a:extLst>
              <a:ext uri="{FF2B5EF4-FFF2-40B4-BE49-F238E27FC236}">
                <a16:creationId xmlns:a16="http://schemas.microsoft.com/office/drawing/2014/main" id="{A6D3B8FC-1058-91FD-7F81-9821AA80BCBE}"/>
              </a:ext>
            </a:extLst>
          </p:cNvPr>
          <p:cNvSpPr>
            <a:spLocks noGrp="1"/>
          </p:cNvSpPr>
          <p:nvPr>
            <p:ph idx="1"/>
          </p:nvPr>
        </p:nvSpPr>
        <p:spPr/>
        <p:txBody>
          <a:bodyPr>
            <a:normAutofit/>
          </a:bodyPr>
          <a:lstStyle/>
          <a:p>
            <a:r>
              <a:rPr lang="ja-JP" altLang="en-US" dirty="0"/>
              <a:t>天候が平年から大きく異なる場合も適切に予測可能</a:t>
            </a:r>
          </a:p>
          <a:p>
            <a:endParaRPr lang="ja-JP" altLang="en-US" dirty="0"/>
          </a:p>
        </p:txBody>
      </p:sp>
      <p:pic>
        <p:nvPicPr>
          <p:cNvPr id="11" name="図 10">
            <a:extLst>
              <a:ext uri="{FF2B5EF4-FFF2-40B4-BE49-F238E27FC236}">
                <a16:creationId xmlns:a16="http://schemas.microsoft.com/office/drawing/2014/main" id="{B5B9AC61-9BEF-CE6E-D9AE-8798B5F862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88362" y="1214273"/>
            <a:ext cx="6552237" cy="4996455"/>
          </a:xfrm>
          <a:prstGeom prst="rect">
            <a:avLst/>
          </a:prstGeom>
          <a:ln>
            <a:solidFill>
              <a:schemeClr val="bg1">
                <a:lumMod val="75000"/>
              </a:schemeClr>
            </a:solidFill>
          </a:ln>
        </p:spPr>
      </p:pic>
      <p:pic>
        <p:nvPicPr>
          <p:cNvPr id="8" name="図 7">
            <a:extLst>
              <a:ext uri="{FF2B5EF4-FFF2-40B4-BE49-F238E27FC236}">
                <a16:creationId xmlns:a16="http://schemas.microsoft.com/office/drawing/2014/main" id="{B42497BA-D7D6-1EE8-9118-048C42CAC1EF}"/>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4394487" y="4847627"/>
            <a:ext cx="4213225" cy="1660070"/>
          </a:xfrm>
          <a:prstGeom prst="rect">
            <a:avLst/>
          </a:prstGeom>
          <a:ln>
            <a:solidFill>
              <a:schemeClr val="tx2"/>
            </a:solidFill>
          </a:ln>
        </p:spPr>
      </p:pic>
      <p:sp>
        <p:nvSpPr>
          <p:cNvPr id="10" name="テキスト ボックス 9">
            <a:extLst>
              <a:ext uri="{FF2B5EF4-FFF2-40B4-BE49-F238E27FC236}">
                <a16:creationId xmlns:a16="http://schemas.microsoft.com/office/drawing/2014/main" id="{2E346AC9-8727-63A7-2F87-0ED7BAEBC27D}"/>
              </a:ext>
            </a:extLst>
          </p:cNvPr>
          <p:cNvSpPr txBox="1"/>
          <p:nvPr/>
        </p:nvSpPr>
        <p:spPr>
          <a:xfrm>
            <a:off x="4394487" y="4839414"/>
            <a:ext cx="2144561" cy="307777"/>
          </a:xfrm>
          <a:prstGeom prst="rect">
            <a:avLst/>
          </a:prstGeom>
          <a:solidFill>
            <a:schemeClr val="tx2"/>
          </a:solidFill>
        </p:spPr>
        <p:txBody>
          <a:bodyPr wrap="square" rtlCol="0">
            <a:spAutoFit/>
          </a:bodyPr>
          <a:lstStyle/>
          <a:p>
            <a:pPr algn="ctr"/>
            <a:r>
              <a:rPr lang="ja-JP" altLang="en-US" sz="1400" dirty="0">
                <a:solidFill>
                  <a:schemeClr val="bg1"/>
                </a:solidFill>
                <a:latin typeface="Meiryo UI" panose="020B0604030504040204" pitchFamily="50" charset="-128"/>
                <a:ea typeface="Meiryo UI" panose="020B0604030504040204" pitchFamily="50" charset="-128"/>
              </a:rPr>
              <a:t>実況図（</a:t>
            </a:r>
            <a:r>
              <a:rPr lang="en-US" altLang="ja-JP" sz="1400" dirty="0">
                <a:solidFill>
                  <a:schemeClr val="bg1"/>
                </a:solidFill>
                <a:latin typeface="Meiryo UI" panose="020B0604030504040204" pitchFamily="50" charset="-128"/>
                <a:ea typeface="Meiryo UI" panose="020B0604030504040204" pitchFamily="50" charset="-128"/>
              </a:rPr>
              <a:t>2021</a:t>
            </a:r>
            <a:r>
              <a:rPr lang="ja-JP" altLang="en-US" sz="1400" dirty="0">
                <a:solidFill>
                  <a:schemeClr val="bg1"/>
                </a:solidFill>
                <a:latin typeface="Meiryo UI" panose="020B0604030504040204" pitchFamily="50" charset="-128"/>
                <a:ea typeface="Meiryo UI" panose="020B0604030504040204" pitchFamily="50" charset="-128"/>
              </a:rPr>
              <a:t>年</a:t>
            </a:r>
            <a:r>
              <a:rPr lang="en-US" altLang="ja-JP" sz="1400" dirty="0">
                <a:solidFill>
                  <a:schemeClr val="bg1"/>
                </a:solidFill>
                <a:latin typeface="Meiryo UI" panose="020B0604030504040204" pitchFamily="50" charset="-128"/>
                <a:ea typeface="Meiryo UI" panose="020B0604030504040204" pitchFamily="50" charset="-128"/>
              </a:rPr>
              <a:t>3</a:t>
            </a:r>
            <a:r>
              <a:rPr lang="ja-JP" altLang="en-US" sz="1400" dirty="0">
                <a:solidFill>
                  <a:schemeClr val="bg1"/>
                </a:solidFill>
                <a:latin typeface="Meiryo UI" panose="020B0604030504040204" pitchFamily="50" charset="-128"/>
                <a:ea typeface="Meiryo UI" panose="020B0604030504040204" pitchFamily="50" charset="-128"/>
              </a:rPr>
              <a:t>月）</a:t>
            </a:r>
            <a:endParaRPr lang="en-US" altLang="ja-JP" sz="1400" dirty="0">
              <a:solidFill>
                <a:schemeClr val="bg1"/>
              </a:solidFill>
              <a:latin typeface="Meiryo UI" panose="020B0604030504040204" pitchFamily="50" charset="-128"/>
              <a:ea typeface="Meiryo UI" panose="020B0604030504040204" pitchFamily="50" charset="-128"/>
            </a:endParaRPr>
          </a:p>
        </p:txBody>
      </p:sp>
      <p:sp>
        <p:nvSpPr>
          <p:cNvPr id="16" name="テキスト ボックス 15">
            <a:extLst>
              <a:ext uri="{FF2B5EF4-FFF2-40B4-BE49-F238E27FC236}">
                <a16:creationId xmlns:a16="http://schemas.microsoft.com/office/drawing/2014/main" id="{4F9DEB82-3CCF-1DC8-B546-3B16466AF37B}"/>
              </a:ext>
            </a:extLst>
          </p:cNvPr>
          <p:cNvSpPr txBox="1"/>
          <p:nvPr/>
        </p:nvSpPr>
        <p:spPr>
          <a:xfrm>
            <a:off x="6468388" y="4853232"/>
            <a:ext cx="1709892" cy="276999"/>
          </a:xfrm>
          <a:prstGeom prst="rect">
            <a:avLst/>
          </a:prstGeom>
          <a:noFill/>
        </p:spPr>
        <p:txBody>
          <a:bodyPr wrap="square" rtlCol="0">
            <a:spAutoFit/>
          </a:bodyPr>
          <a:lstStyle/>
          <a:p>
            <a:pPr marL="162662" indent="-162662" algn="ctr" defTabSz="844083"/>
            <a:r>
              <a:rPr lang="en-US" altLang="ja-JP" sz="1200" dirty="0">
                <a:solidFill>
                  <a:schemeClr val="accent2"/>
                </a:solidFill>
                <a:latin typeface="+mn-ea"/>
              </a:rPr>
              <a:t>+3</a:t>
            </a:r>
            <a:r>
              <a:rPr lang="ja-JP" altLang="en-US" sz="1200" dirty="0">
                <a:solidFill>
                  <a:schemeClr val="accent2"/>
                </a:solidFill>
                <a:latin typeface="+mn-ea"/>
              </a:rPr>
              <a:t>度以上の高温</a:t>
            </a:r>
            <a:endParaRPr lang="en-US" altLang="ja-JP" sz="1200" dirty="0">
              <a:solidFill>
                <a:schemeClr val="accent2"/>
              </a:solidFill>
              <a:latin typeface="+mn-ea"/>
            </a:endParaRPr>
          </a:p>
        </p:txBody>
      </p:sp>
      <p:sp>
        <p:nvSpPr>
          <p:cNvPr id="5" name="正方形/長方形 4">
            <a:extLst>
              <a:ext uri="{FF2B5EF4-FFF2-40B4-BE49-F238E27FC236}">
                <a16:creationId xmlns:a16="http://schemas.microsoft.com/office/drawing/2014/main" id="{52BBD1CD-72FE-6C98-1D99-2F4D308C194F}"/>
              </a:ext>
            </a:extLst>
          </p:cNvPr>
          <p:cNvSpPr/>
          <p:nvPr/>
        </p:nvSpPr>
        <p:spPr>
          <a:xfrm>
            <a:off x="1675768" y="4216687"/>
            <a:ext cx="324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bIns="36000" rtlCol="0" anchor="ctr" anchorCtr="0"/>
          <a:lstStyle/>
          <a:p>
            <a:pPr algn="ctr"/>
            <a:r>
              <a:rPr lang="ja-JP" altLang="en-US" sz="1600" dirty="0"/>
              <a:t>実際の開花日は</a:t>
            </a:r>
            <a:r>
              <a:rPr lang="en-US" altLang="ja-JP" sz="1600" dirty="0"/>
              <a:t>3</a:t>
            </a:r>
            <a:r>
              <a:rPr lang="ja-JP" altLang="en-US" sz="1600" dirty="0"/>
              <a:t>月</a:t>
            </a:r>
            <a:r>
              <a:rPr lang="en-US" altLang="ja-JP" sz="1600" dirty="0"/>
              <a:t>23</a:t>
            </a:r>
            <a:r>
              <a:rPr lang="ja-JP" altLang="en-US" sz="1600" dirty="0"/>
              <a:t>日（最早）</a:t>
            </a:r>
          </a:p>
        </p:txBody>
      </p:sp>
      <p:cxnSp>
        <p:nvCxnSpPr>
          <p:cNvPr id="4" name="直線コネクタ 3">
            <a:extLst>
              <a:ext uri="{FF2B5EF4-FFF2-40B4-BE49-F238E27FC236}">
                <a16:creationId xmlns:a16="http://schemas.microsoft.com/office/drawing/2014/main" id="{6D645E38-97BB-7F11-58DB-977B719C1A9D}"/>
              </a:ext>
            </a:extLst>
          </p:cNvPr>
          <p:cNvCxnSpPr/>
          <p:nvPr/>
        </p:nvCxnSpPr>
        <p:spPr>
          <a:xfrm>
            <a:off x="1145861" y="3968762"/>
            <a:ext cx="5364000" cy="0"/>
          </a:xfrm>
          <a:prstGeom prst="line">
            <a:avLst/>
          </a:prstGeom>
          <a:ln w="19050">
            <a:solidFill>
              <a:schemeClr val="accent2"/>
            </a:solidFill>
            <a:tailEnd type="none"/>
          </a:ln>
        </p:spPr>
        <p:style>
          <a:lnRef idx="1">
            <a:schemeClr val="accent1"/>
          </a:lnRef>
          <a:fillRef idx="0">
            <a:schemeClr val="accent1"/>
          </a:fillRef>
          <a:effectRef idx="0">
            <a:schemeClr val="accent1"/>
          </a:effectRef>
          <a:fontRef idx="minor">
            <a:schemeClr val="tx1"/>
          </a:fontRef>
        </p:style>
      </p:cxnSp>
      <p:sp>
        <p:nvSpPr>
          <p:cNvPr id="6" name="スライド番号プレースホルダー 5">
            <a:extLst>
              <a:ext uri="{FF2B5EF4-FFF2-40B4-BE49-F238E27FC236}">
                <a16:creationId xmlns:a16="http://schemas.microsoft.com/office/drawing/2014/main" id="{5CA1AEDC-7FE4-B819-E9A7-FAF810D47293}"/>
              </a:ext>
            </a:extLst>
          </p:cNvPr>
          <p:cNvSpPr>
            <a:spLocks noGrp="1"/>
          </p:cNvSpPr>
          <p:nvPr>
            <p:ph type="sldNum" sz="quarter" idx="12"/>
          </p:nvPr>
        </p:nvSpPr>
        <p:spPr/>
        <p:txBody>
          <a:bodyPr/>
          <a:lstStyle/>
          <a:p>
            <a:fld id="{5F9F9204-6EDA-41A6-81B7-5E8491083ADF}" type="slidenum">
              <a:rPr kumimoji="1" lang="ja-JP" altLang="en-US" smtClean="0"/>
              <a:t>12</a:t>
            </a:fld>
            <a:endParaRPr kumimoji="1" lang="ja-JP" altLang="en-US" dirty="0"/>
          </a:p>
        </p:txBody>
      </p:sp>
      <p:sp>
        <p:nvSpPr>
          <p:cNvPr id="12" name="テキスト ボックス 11">
            <a:extLst>
              <a:ext uri="{FF2B5EF4-FFF2-40B4-BE49-F238E27FC236}">
                <a16:creationId xmlns:a16="http://schemas.microsoft.com/office/drawing/2014/main" id="{DB997407-44DC-2F86-9079-B6D3DD56CD52}"/>
              </a:ext>
            </a:extLst>
          </p:cNvPr>
          <p:cNvSpPr txBox="1"/>
          <p:nvPr/>
        </p:nvSpPr>
        <p:spPr>
          <a:xfrm>
            <a:off x="63119" y="6536007"/>
            <a:ext cx="4331368" cy="338554"/>
          </a:xfrm>
          <a:prstGeom prst="rect">
            <a:avLst/>
          </a:prstGeom>
          <a:noFill/>
        </p:spPr>
        <p:txBody>
          <a:bodyPr wrap="square">
            <a:spAutoFit/>
          </a:bodyPr>
          <a:lstStyle/>
          <a:p>
            <a:r>
              <a:rPr lang="zh-TW" altLang="en-US" sz="800" dirty="0">
                <a:solidFill>
                  <a:srgbClr val="242424"/>
                </a:solidFill>
                <a:latin typeface="Segoe UI" panose="020B0502040204020203" pitchFamily="34" charset="0"/>
              </a:rPr>
              <a:t>山梨県果樹試験場</a:t>
            </a:r>
            <a:r>
              <a:rPr lang="ja-JP" altLang="en-US" sz="800" dirty="0">
                <a:solidFill>
                  <a:prstClr val="black"/>
                </a:solidFill>
                <a:latin typeface="メイリオ" panose="020B0604030504040204" pitchFamily="50" charset="-128"/>
                <a:ea typeface="メイリオ" panose="020B0604030504040204" pitchFamily="50" charset="-128"/>
              </a:rPr>
              <a:t>の許可を得て掲載 </a:t>
            </a:r>
            <a:br>
              <a:rPr lang="en-US" altLang="ja-JP" sz="800" dirty="0">
                <a:solidFill>
                  <a:prstClr val="black"/>
                </a:solidFill>
                <a:latin typeface="メイリオ" panose="020B0604030504040204" pitchFamily="50" charset="-128"/>
                <a:ea typeface="メイリオ" panose="020B0604030504040204" pitchFamily="50" charset="-128"/>
              </a:rPr>
            </a:br>
            <a:r>
              <a:rPr lang="en-US" altLang="ja-JP" sz="800" dirty="0">
                <a:solidFill>
                  <a:prstClr val="black"/>
                </a:solidFill>
                <a:latin typeface="メイリオ" panose="020B0604030504040204" pitchFamily="50" charset="-128"/>
                <a:ea typeface="メイリオ" panose="020B0604030504040204" pitchFamily="50" charset="-128"/>
              </a:rPr>
              <a:t>https://www.pref.yamanashi.jp/kajushiken/103_001.html</a:t>
            </a:r>
            <a:endParaRPr lang="ja-JP" altLang="en-US" sz="800" dirty="0"/>
          </a:p>
        </p:txBody>
      </p:sp>
    </p:spTree>
    <p:extLst>
      <p:ext uri="{BB962C8B-B14F-4D97-AF65-F5344CB8AC3E}">
        <p14:creationId xmlns:p14="http://schemas.microsoft.com/office/powerpoint/2010/main" val="645750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42198-2953-7F94-9DED-AD57B5225E44}"/>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03E965A5-A9D7-7340-EED2-E208B7D4D1EE}"/>
              </a:ext>
            </a:extLst>
          </p:cNvPr>
          <p:cNvPicPr>
            <a:picLocks noChangeAspect="1"/>
          </p:cNvPicPr>
          <p:nvPr/>
        </p:nvPicPr>
        <p:blipFill>
          <a:blip r:embed="rId3"/>
          <a:stretch>
            <a:fillRect/>
          </a:stretch>
        </p:blipFill>
        <p:spPr>
          <a:xfrm>
            <a:off x="358775" y="1470644"/>
            <a:ext cx="3498797" cy="4960175"/>
          </a:xfrm>
          <a:prstGeom prst="rect">
            <a:avLst/>
          </a:prstGeom>
          <a:ln>
            <a:solidFill>
              <a:schemeClr val="bg1">
                <a:lumMod val="75000"/>
              </a:schemeClr>
            </a:solidFill>
          </a:ln>
        </p:spPr>
      </p:pic>
      <p:sp>
        <p:nvSpPr>
          <p:cNvPr id="4" name="四角形: 角を丸くする 3">
            <a:extLst>
              <a:ext uri="{FF2B5EF4-FFF2-40B4-BE49-F238E27FC236}">
                <a16:creationId xmlns:a16="http://schemas.microsoft.com/office/drawing/2014/main" id="{B54A3344-F995-8C89-B56B-9992F578C612}"/>
              </a:ext>
            </a:extLst>
          </p:cNvPr>
          <p:cNvSpPr/>
          <p:nvPr/>
        </p:nvSpPr>
        <p:spPr>
          <a:xfrm>
            <a:off x="2676578" y="3650866"/>
            <a:ext cx="6108647" cy="2462913"/>
          </a:xfrm>
          <a:prstGeom prst="roundRect">
            <a:avLst>
              <a:gd name="adj" fmla="val 5149"/>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 name="タイトル 1">
            <a:extLst>
              <a:ext uri="{FF2B5EF4-FFF2-40B4-BE49-F238E27FC236}">
                <a16:creationId xmlns:a16="http://schemas.microsoft.com/office/drawing/2014/main" id="{47654EE9-87CD-642F-F70B-41D1F62DDE4D}"/>
              </a:ext>
            </a:extLst>
          </p:cNvPr>
          <p:cNvSpPr>
            <a:spLocks noGrp="1"/>
          </p:cNvSpPr>
          <p:nvPr>
            <p:ph type="title"/>
          </p:nvPr>
        </p:nvSpPr>
        <p:spPr/>
        <p:txBody>
          <a:bodyPr/>
          <a:lstStyle/>
          <a:p>
            <a:r>
              <a:rPr kumimoji="1" lang="ja-JP" altLang="en-US" dirty="0"/>
              <a:t>活用事例</a:t>
            </a:r>
            <a:r>
              <a:rPr lang="ja-JP" altLang="en-US" dirty="0"/>
              <a:t>７</a:t>
            </a:r>
            <a:r>
              <a:rPr kumimoji="1" lang="ja-JP" altLang="en-US" dirty="0"/>
              <a:t>｜</a:t>
            </a:r>
            <a:r>
              <a:rPr lang="ja-JP" altLang="en-US" dirty="0"/>
              <a:t>病害虫</a:t>
            </a:r>
            <a:r>
              <a:rPr kumimoji="1" lang="ja-JP" altLang="en-US" dirty="0"/>
              <a:t>の防除適期予測（沖縄県）</a:t>
            </a:r>
          </a:p>
        </p:txBody>
      </p:sp>
      <p:sp>
        <p:nvSpPr>
          <p:cNvPr id="3" name="コンテンツ プレースホルダー 2">
            <a:extLst>
              <a:ext uri="{FF2B5EF4-FFF2-40B4-BE49-F238E27FC236}">
                <a16:creationId xmlns:a16="http://schemas.microsoft.com/office/drawing/2014/main" id="{5D92A27D-220C-F630-92C2-6C2C75E7CB87}"/>
              </a:ext>
            </a:extLst>
          </p:cNvPr>
          <p:cNvSpPr>
            <a:spLocks noGrp="1"/>
          </p:cNvSpPr>
          <p:nvPr>
            <p:ph idx="1"/>
          </p:nvPr>
        </p:nvSpPr>
        <p:spPr/>
        <p:txBody>
          <a:bodyPr>
            <a:normAutofit/>
          </a:bodyPr>
          <a:lstStyle/>
          <a:p>
            <a:r>
              <a:rPr lang="ja-JP" altLang="en-US" dirty="0">
                <a:latin typeface="+mn-ea"/>
              </a:rPr>
              <a:t>病害虫（サトウキビ）の防除時期の予測に使い、より効果的な防除を促す</a:t>
            </a:r>
          </a:p>
          <a:p>
            <a:endParaRPr lang="ja-JP" altLang="en-US" dirty="0"/>
          </a:p>
        </p:txBody>
      </p:sp>
      <p:pic>
        <p:nvPicPr>
          <p:cNvPr id="6" name="図 5">
            <a:extLst>
              <a:ext uri="{FF2B5EF4-FFF2-40B4-BE49-F238E27FC236}">
                <a16:creationId xmlns:a16="http://schemas.microsoft.com/office/drawing/2014/main" id="{66F66682-F5DC-BC84-6672-AE83FD79F679}"/>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776826" y="3788575"/>
            <a:ext cx="5908536" cy="2187494"/>
          </a:xfrm>
          <a:prstGeom prst="rect">
            <a:avLst/>
          </a:prstGeom>
          <a:ln>
            <a:noFill/>
          </a:ln>
        </p:spPr>
      </p:pic>
      <p:sp>
        <p:nvSpPr>
          <p:cNvPr id="8" name="テキスト ボックス 7">
            <a:extLst>
              <a:ext uri="{FF2B5EF4-FFF2-40B4-BE49-F238E27FC236}">
                <a16:creationId xmlns:a16="http://schemas.microsoft.com/office/drawing/2014/main" id="{8E2C9F16-2B5E-1071-C71B-AFCA95EEF190}"/>
              </a:ext>
            </a:extLst>
          </p:cNvPr>
          <p:cNvSpPr txBox="1"/>
          <p:nvPr/>
        </p:nvSpPr>
        <p:spPr>
          <a:xfrm>
            <a:off x="3596751" y="6577506"/>
            <a:ext cx="5550441" cy="220188"/>
          </a:xfrm>
          <a:prstGeom prst="rect">
            <a:avLst/>
          </a:prstGeom>
          <a:noFill/>
        </p:spPr>
        <p:txBody>
          <a:bodyPr wrap="square" rtlCol="0">
            <a:spAutoFit/>
          </a:bodyPr>
          <a:lstStyle/>
          <a:p>
            <a:pPr defTabSz="844083"/>
            <a:r>
              <a:rPr lang="en-US" altLang="ja-JP" sz="831" dirty="0">
                <a:solidFill>
                  <a:prstClr val="black"/>
                </a:solidFill>
                <a:latin typeface="+mn-ea"/>
              </a:rPr>
              <a:t>2022</a:t>
            </a:r>
            <a:r>
              <a:rPr lang="ja-JP" altLang="en-US" sz="831" dirty="0">
                <a:solidFill>
                  <a:prstClr val="black"/>
                </a:solidFill>
                <a:latin typeface="+mn-ea"/>
              </a:rPr>
              <a:t>年</a:t>
            </a:r>
            <a:r>
              <a:rPr lang="en-US" altLang="ja-JP" sz="831" dirty="0">
                <a:solidFill>
                  <a:prstClr val="black"/>
                </a:solidFill>
                <a:latin typeface="+mn-ea"/>
              </a:rPr>
              <a:t>3</a:t>
            </a:r>
            <a:r>
              <a:rPr lang="ja-JP" altLang="en-US" sz="831" dirty="0">
                <a:solidFill>
                  <a:prstClr val="black"/>
                </a:solidFill>
                <a:latin typeface="+mn-ea"/>
              </a:rPr>
              <a:t>月</a:t>
            </a:r>
            <a:r>
              <a:rPr lang="en-US" altLang="ja-JP" sz="831" dirty="0">
                <a:solidFill>
                  <a:prstClr val="black"/>
                </a:solidFill>
                <a:latin typeface="+mn-ea"/>
              </a:rPr>
              <a:t>25</a:t>
            </a:r>
            <a:r>
              <a:rPr lang="ja-JP" altLang="en-US" sz="831" dirty="0">
                <a:solidFill>
                  <a:prstClr val="black"/>
                </a:solidFill>
                <a:latin typeface="+mn-ea"/>
              </a:rPr>
              <a:t>日 カンシャコバネナガカメムシ（ガイダー）の防除適期について　沖縄県ホームページ</a:t>
            </a:r>
          </a:p>
        </p:txBody>
      </p:sp>
      <p:sp>
        <p:nvSpPr>
          <p:cNvPr id="13" name="正方形/長方形 12">
            <a:extLst>
              <a:ext uri="{FF2B5EF4-FFF2-40B4-BE49-F238E27FC236}">
                <a16:creationId xmlns:a16="http://schemas.microsoft.com/office/drawing/2014/main" id="{252D523C-A1A9-4178-BABA-528A9F9C1E0F}"/>
              </a:ext>
            </a:extLst>
          </p:cNvPr>
          <p:cNvSpPr/>
          <p:nvPr/>
        </p:nvSpPr>
        <p:spPr>
          <a:xfrm>
            <a:off x="3958719" y="1938648"/>
            <a:ext cx="4826506" cy="1578093"/>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defTabSz="844083">
              <a:lnSpc>
                <a:spcPct val="120000"/>
              </a:lnSpc>
              <a:defRPr sz="4700"/>
            </a:pPr>
            <a:r>
              <a:rPr lang="ja-JP" altLang="en-US" sz="1400" b="1" dirty="0">
                <a:solidFill>
                  <a:schemeClr val="tx1"/>
                </a:solidFill>
                <a:latin typeface="+mn-ea"/>
              </a:rPr>
              <a:t>平年値の代わりに気温予測値を用いるメリットを評価</a:t>
            </a:r>
            <a:endParaRPr lang="en-US" altLang="ja-JP" sz="1400" b="1" dirty="0">
              <a:solidFill>
                <a:schemeClr val="tx1"/>
              </a:solidFill>
              <a:latin typeface="+mn-ea"/>
            </a:endParaRPr>
          </a:p>
          <a:p>
            <a:pPr marL="285750" indent="-285750" defTabSz="844083">
              <a:lnSpc>
                <a:spcPct val="120000"/>
              </a:lnSpc>
              <a:buFont typeface="Arial" panose="020B0604020202020204" pitchFamily="34" charset="0"/>
              <a:buChar char="•"/>
              <a:defRPr sz="4700"/>
            </a:pPr>
            <a:r>
              <a:rPr lang="ja-JP" altLang="en-US" sz="1400" dirty="0">
                <a:solidFill>
                  <a:schemeClr val="tx1"/>
                </a:solidFill>
                <a:latin typeface="+mn-ea"/>
              </a:rPr>
              <a:t>予測値を活用することで防除時期の予測精度が向上。</a:t>
            </a:r>
            <a:endParaRPr lang="en-US" altLang="ja-JP" sz="1400" dirty="0">
              <a:solidFill>
                <a:schemeClr val="tx1"/>
              </a:solidFill>
              <a:latin typeface="+mn-ea"/>
            </a:endParaRPr>
          </a:p>
          <a:p>
            <a:pPr marL="285750" indent="-285750" defTabSz="844083">
              <a:lnSpc>
                <a:spcPct val="120000"/>
              </a:lnSpc>
              <a:buFont typeface="Arial" panose="020B0604020202020204" pitchFamily="34" charset="0"/>
              <a:buChar char="•"/>
              <a:defRPr sz="4700"/>
            </a:pPr>
            <a:r>
              <a:rPr lang="ja-JP" altLang="en-US" sz="1400" dirty="0">
                <a:solidFill>
                  <a:schemeClr val="tx1"/>
                </a:solidFill>
                <a:latin typeface="+mn-ea"/>
              </a:rPr>
              <a:t>予測値を用いることで地球温暖化による近年の傾向にも対応可能。</a:t>
            </a:r>
            <a:endParaRPr lang="en-US" altLang="ja-JP" sz="1400" dirty="0">
              <a:solidFill>
                <a:schemeClr val="tx1"/>
              </a:solidFill>
              <a:latin typeface="+mn-ea"/>
            </a:endParaRPr>
          </a:p>
          <a:p>
            <a:pPr defTabSz="844083">
              <a:lnSpc>
                <a:spcPct val="120000"/>
              </a:lnSpc>
              <a:defRPr sz="4700"/>
            </a:pPr>
            <a:r>
              <a:rPr lang="ja-JP" altLang="en-US" sz="1400" dirty="0">
                <a:solidFill>
                  <a:schemeClr val="tx1"/>
                </a:solidFill>
                <a:latin typeface="+mn-ea"/>
              </a:rPr>
              <a:t>　　</a:t>
            </a:r>
            <a:r>
              <a:rPr lang="ja-JP" altLang="en-US" sz="1400" dirty="0">
                <a:solidFill>
                  <a:schemeClr val="accent2"/>
                </a:solidFill>
                <a:latin typeface="+mn-ea"/>
              </a:rPr>
              <a:t>より的確な情報提供が可能</a:t>
            </a:r>
          </a:p>
        </p:txBody>
      </p:sp>
      <p:sp>
        <p:nvSpPr>
          <p:cNvPr id="14" name="二等辺三角形 13">
            <a:extLst>
              <a:ext uri="{FF2B5EF4-FFF2-40B4-BE49-F238E27FC236}">
                <a16:creationId xmlns:a16="http://schemas.microsoft.com/office/drawing/2014/main" id="{D0247DD0-2511-A56B-6EFB-A054B6ADA491}"/>
              </a:ext>
            </a:extLst>
          </p:cNvPr>
          <p:cNvSpPr/>
          <p:nvPr/>
        </p:nvSpPr>
        <p:spPr>
          <a:xfrm rot="5400000">
            <a:off x="4222268" y="3168329"/>
            <a:ext cx="169215" cy="133771"/>
          </a:xfrm>
          <a:prstGeom prst="triangle">
            <a:avLst>
              <a:gd name="adj" fmla="val 50000"/>
            </a:avLst>
          </a:prstGeom>
          <a:solidFill>
            <a:schemeClr val="accent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5" name="正方形/長方形 14">
            <a:extLst>
              <a:ext uri="{FF2B5EF4-FFF2-40B4-BE49-F238E27FC236}">
                <a16:creationId xmlns:a16="http://schemas.microsoft.com/office/drawing/2014/main" id="{D466A823-EF8E-77BD-368D-88EB29F10298}"/>
              </a:ext>
            </a:extLst>
          </p:cNvPr>
          <p:cNvSpPr/>
          <p:nvPr/>
        </p:nvSpPr>
        <p:spPr>
          <a:xfrm>
            <a:off x="3958719" y="1470645"/>
            <a:ext cx="4826506" cy="514738"/>
          </a:xfrm>
          <a:prstGeom prst="rect">
            <a:avLst/>
          </a:prstGeom>
          <a:solidFill>
            <a:schemeClr val="tx2"/>
          </a:solidFill>
          <a:ln>
            <a:solidFill>
              <a:schemeClr val="tx2"/>
            </a:solidFill>
          </a:ln>
        </p:spPr>
        <p:txBody>
          <a:bodyPr wrap="square" lIns="144000" tIns="72000" rIns="144000" bIns="72000" anchor="t">
            <a:spAutoFit/>
          </a:bodyPr>
          <a:lstStyle/>
          <a:p>
            <a:pPr algn="ctr">
              <a:defRPr/>
            </a:pPr>
            <a:r>
              <a:rPr lang="ja-JP" altLang="en-US" sz="1400" dirty="0">
                <a:solidFill>
                  <a:schemeClr val="bg1"/>
                </a:solidFill>
                <a:latin typeface="Arial" panose="020B0604020202020204" pitchFamily="34" charset="0"/>
              </a:rPr>
              <a:t>気温予測値を用いた病害虫防除適期予測の精度検証</a:t>
            </a:r>
            <a:endParaRPr lang="en-US" altLang="ja-JP" sz="1400" dirty="0">
              <a:solidFill>
                <a:schemeClr val="bg1"/>
              </a:solidFill>
              <a:latin typeface="Arial" panose="020B0604020202020204" pitchFamily="34" charset="0"/>
            </a:endParaRPr>
          </a:p>
          <a:p>
            <a:pPr algn="ctr">
              <a:defRPr/>
            </a:pPr>
            <a:r>
              <a:rPr lang="ja-JP" altLang="en-US" sz="1000" dirty="0">
                <a:solidFill>
                  <a:schemeClr val="bg1"/>
                </a:solidFill>
              </a:rPr>
              <a:t>萱場亙起ほか</a:t>
            </a:r>
            <a:r>
              <a:rPr lang="en-US" altLang="ja-JP" sz="1000" dirty="0">
                <a:solidFill>
                  <a:schemeClr val="bg1"/>
                </a:solidFill>
              </a:rPr>
              <a:t>, 2019 : </a:t>
            </a:r>
            <a:r>
              <a:rPr lang="ja-JP" altLang="en-US" sz="1000" dirty="0">
                <a:solidFill>
                  <a:schemeClr val="bg1"/>
                </a:solidFill>
              </a:rPr>
              <a:t>植物防疫</a:t>
            </a:r>
            <a:r>
              <a:rPr lang="en-US" altLang="ja-JP" sz="1000" dirty="0">
                <a:solidFill>
                  <a:schemeClr val="bg1"/>
                </a:solidFill>
              </a:rPr>
              <a:t>, 73, 106-113.</a:t>
            </a:r>
            <a:endParaRPr lang="ja-JP" altLang="en-US" sz="700" dirty="0">
              <a:solidFill>
                <a:schemeClr val="bg1"/>
              </a:solidFill>
            </a:endParaRPr>
          </a:p>
        </p:txBody>
      </p:sp>
      <p:sp>
        <p:nvSpPr>
          <p:cNvPr id="7" name="スライド番号プレースホルダー 6">
            <a:extLst>
              <a:ext uri="{FF2B5EF4-FFF2-40B4-BE49-F238E27FC236}">
                <a16:creationId xmlns:a16="http://schemas.microsoft.com/office/drawing/2014/main" id="{26DD52D4-6C7C-6B18-600D-D1F2F9593E54}"/>
              </a:ext>
            </a:extLst>
          </p:cNvPr>
          <p:cNvSpPr>
            <a:spLocks noGrp="1"/>
          </p:cNvSpPr>
          <p:nvPr>
            <p:ph type="sldNum" sz="quarter" idx="12"/>
          </p:nvPr>
        </p:nvSpPr>
        <p:spPr/>
        <p:txBody>
          <a:bodyPr/>
          <a:lstStyle/>
          <a:p>
            <a:fld id="{5F9F9204-6EDA-41A6-81B7-5E8491083ADF}" type="slidenum">
              <a:rPr kumimoji="1" lang="ja-JP" altLang="en-US" smtClean="0"/>
              <a:t>13</a:t>
            </a:fld>
            <a:endParaRPr kumimoji="1" lang="ja-JP" altLang="en-US" dirty="0"/>
          </a:p>
        </p:txBody>
      </p:sp>
    </p:spTree>
    <p:extLst>
      <p:ext uri="{BB962C8B-B14F-4D97-AF65-F5344CB8AC3E}">
        <p14:creationId xmlns:p14="http://schemas.microsoft.com/office/powerpoint/2010/main" val="2722367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2E63B5-CE88-F422-BB3D-D8CD231262AD}"/>
              </a:ext>
            </a:extLst>
          </p:cNvPr>
          <p:cNvSpPr>
            <a:spLocks noGrp="1"/>
          </p:cNvSpPr>
          <p:nvPr>
            <p:ph type="title"/>
          </p:nvPr>
        </p:nvSpPr>
        <p:spPr/>
        <p:txBody>
          <a:bodyPr/>
          <a:lstStyle/>
          <a:p>
            <a:r>
              <a:rPr kumimoji="1" lang="ja-JP" altLang="en-US" dirty="0"/>
              <a:t>活用事例</a:t>
            </a:r>
            <a:r>
              <a:rPr lang="ja-JP" altLang="en-US" dirty="0"/>
              <a:t>８</a:t>
            </a:r>
            <a:r>
              <a:rPr kumimoji="1" lang="ja-JP" altLang="en-US" dirty="0"/>
              <a:t>｜</a:t>
            </a:r>
            <a:r>
              <a:rPr lang="ja-JP" altLang="en-US" dirty="0"/>
              <a:t>病害虫</a:t>
            </a:r>
            <a:r>
              <a:rPr kumimoji="1" lang="ja-JP" altLang="en-US" dirty="0"/>
              <a:t>の防除適期予測（</a:t>
            </a:r>
            <a:r>
              <a:rPr lang="ja-JP" altLang="en-US" dirty="0"/>
              <a:t>栃木県</a:t>
            </a:r>
            <a:r>
              <a:rPr kumimoji="1" lang="ja-JP" altLang="en-US" dirty="0"/>
              <a:t>）</a:t>
            </a:r>
          </a:p>
        </p:txBody>
      </p:sp>
      <p:sp>
        <p:nvSpPr>
          <p:cNvPr id="11" name="テキスト ボックス 10">
            <a:extLst>
              <a:ext uri="{FF2B5EF4-FFF2-40B4-BE49-F238E27FC236}">
                <a16:creationId xmlns:a16="http://schemas.microsoft.com/office/drawing/2014/main" id="{CF7C4B5C-8A20-3FD7-5DAF-6671D1B749D7}"/>
              </a:ext>
            </a:extLst>
          </p:cNvPr>
          <p:cNvSpPr txBox="1"/>
          <p:nvPr/>
        </p:nvSpPr>
        <p:spPr>
          <a:xfrm>
            <a:off x="140745" y="6573359"/>
            <a:ext cx="5719728" cy="261610"/>
          </a:xfrm>
          <a:prstGeom prst="rect">
            <a:avLst/>
          </a:prstGeom>
          <a:noFill/>
        </p:spPr>
        <p:txBody>
          <a:bodyPr wrap="square">
            <a:spAutoFit/>
          </a:bodyPr>
          <a:lstStyle/>
          <a:p>
            <a:pPr fontAlgn="base">
              <a:spcBef>
                <a:spcPct val="0"/>
              </a:spcBef>
              <a:spcAft>
                <a:spcPct val="0"/>
              </a:spcAft>
              <a:defRPr/>
            </a:pPr>
            <a:r>
              <a:rPr lang="ja-JP" altLang="en-US" sz="1100" dirty="0">
                <a:solidFill>
                  <a:prstClr val="black"/>
                </a:solidFill>
                <a:latin typeface="メイリオ" panose="020B0604030504040204" pitchFamily="50" charset="-128"/>
              </a:rPr>
              <a:t>栃木県農業総合研究センターの許可を得て掲載：</a:t>
            </a:r>
            <a:r>
              <a:rPr lang="en-US" altLang="ja-JP" sz="1100" dirty="0">
                <a:solidFill>
                  <a:prstClr val="black"/>
                </a:solidFill>
                <a:latin typeface="メイリオ" panose="020B0604030504040204" pitchFamily="50" charset="-128"/>
              </a:rPr>
              <a:t>https://www.pref.tochigi.lg.jp/g59/</a:t>
            </a:r>
            <a:endParaRPr lang="ja-JP" altLang="en-US" sz="1100" dirty="0">
              <a:solidFill>
                <a:prstClr val="black"/>
              </a:solidFill>
              <a:latin typeface="メイリオ" panose="020B0604030504040204" pitchFamily="50" charset="-128"/>
            </a:endParaRPr>
          </a:p>
        </p:txBody>
      </p:sp>
      <p:pic>
        <p:nvPicPr>
          <p:cNvPr id="12" name="図 11">
            <a:extLst>
              <a:ext uri="{FF2B5EF4-FFF2-40B4-BE49-F238E27FC236}">
                <a16:creationId xmlns:a16="http://schemas.microsoft.com/office/drawing/2014/main" id="{5A46369D-58D6-2474-0291-2BA300003015}"/>
              </a:ext>
            </a:extLst>
          </p:cNvPr>
          <p:cNvPicPr>
            <a:picLocks noChangeAspect="1"/>
          </p:cNvPicPr>
          <p:nvPr/>
        </p:nvPicPr>
        <p:blipFill>
          <a:blip r:embed="rId3"/>
          <a:stretch>
            <a:fillRect/>
          </a:stretch>
        </p:blipFill>
        <p:spPr>
          <a:xfrm>
            <a:off x="130166" y="884980"/>
            <a:ext cx="4084186" cy="4314032"/>
          </a:xfrm>
          <a:prstGeom prst="rect">
            <a:avLst/>
          </a:prstGeom>
          <a:ln>
            <a:solidFill>
              <a:sysClr val="windowText" lastClr="000000"/>
            </a:solidFill>
          </a:ln>
        </p:spPr>
      </p:pic>
      <p:pic>
        <p:nvPicPr>
          <p:cNvPr id="16" name="図 15">
            <a:extLst>
              <a:ext uri="{FF2B5EF4-FFF2-40B4-BE49-F238E27FC236}">
                <a16:creationId xmlns:a16="http://schemas.microsoft.com/office/drawing/2014/main" id="{6DF26166-3465-0A44-05CE-29D74F2E45E5}"/>
              </a:ext>
            </a:extLst>
          </p:cNvPr>
          <p:cNvPicPr>
            <a:picLocks noChangeAspect="1"/>
          </p:cNvPicPr>
          <p:nvPr/>
        </p:nvPicPr>
        <p:blipFill>
          <a:blip r:embed="rId4"/>
          <a:stretch>
            <a:fillRect/>
          </a:stretch>
        </p:blipFill>
        <p:spPr>
          <a:xfrm>
            <a:off x="4289940" y="2792377"/>
            <a:ext cx="4778324" cy="3282500"/>
          </a:xfrm>
          <a:prstGeom prst="rect">
            <a:avLst/>
          </a:prstGeom>
          <a:ln>
            <a:solidFill>
              <a:sysClr val="windowText" lastClr="000000"/>
            </a:solidFill>
          </a:ln>
        </p:spPr>
      </p:pic>
      <p:sp>
        <p:nvSpPr>
          <p:cNvPr id="17" name="テキスト ボックス 16">
            <a:extLst>
              <a:ext uri="{FF2B5EF4-FFF2-40B4-BE49-F238E27FC236}">
                <a16:creationId xmlns:a16="http://schemas.microsoft.com/office/drawing/2014/main" id="{B950E1CC-B785-C56A-2F02-753AC2C403C5}"/>
              </a:ext>
            </a:extLst>
          </p:cNvPr>
          <p:cNvSpPr txBox="1"/>
          <p:nvPr/>
        </p:nvSpPr>
        <p:spPr>
          <a:xfrm>
            <a:off x="4441834" y="884980"/>
            <a:ext cx="4572000" cy="1441420"/>
          </a:xfrm>
          <a:prstGeom prst="rect">
            <a:avLst/>
          </a:prstGeom>
          <a:noFill/>
        </p:spPr>
        <p:txBody>
          <a:bodyPr wrap="square">
            <a:spAutoFit/>
          </a:body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1" lang="ja-JP" altLang="en-US" sz="2000" b="1" i="0" u="none" strike="noStrike" kern="1200" cap="none" spc="0" normalizeH="0" baseline="0" noProof="0" dirty="0">
                <a:ln>
                  <a:noFill/>
                </a:ln>
                <a:solidFill>
                  <a:srgbClr val="43B0B1"/>
                </a:solidFill>
                <a:effectLst/>
                <a:uLnTx/>
                <a:uFillTx/>
                <a:latin typeface="Segoe UI"/>
                <a:ea typeface="メイリオ"/>
                <a:cs typeface="+mn-cs"/>
              </a:rPr>
              <a:t>～ヒメトビウンカの防除適期予測～</a:t>
            </a: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1" lang="ja-JP" altLang="en-US" sz="2000" b="1" i="0" u="none" strike="noStrike" kern="1200" cap="none" spc="0" normalizeH="0" baseline="0" noProof="0" dirty="0">
                <a:ln>
                  <a:noFill/>
                </a:ln>
                <a:solidFill>
                  <a:srgbClr val="43B0B1"/>
                </a:solidFill>
                <a:effectLst/>
                <a:uLnTx/>
                <a:uFillTx/>
                <a:latin typeface="Segoe UI"/>
                <a:ea typeface="メイリオ"/>
                <a:cs typeface="+mn-cs"/>
              </a:rPr>
              <a:t>病害虫の産卵最盛期の予測に</a:t>
            </a:r>
            <a:endParaRPr kumimoji="1" lang="en-US" altLang="ja-JP" sz="2000" b="1" i="0" u="none" strike="noStrike" kern="1200" cap="none" spc="0" normalizeH="0" baseline="0" noProof="0" dirty="0">
              <a:ln>
                <a:noFill/>
              </a:ln>
              <a:solidFill>
                <a:srgbClr val="43B0B1"/>
              </a:solidFill>
              <a:effectLst/>
              <a:uLnTx/>
              <a:uFillTx/>
              <a:latin typeface="Segoe UI"/>
              <a:ea typeface="メイリオ"/>
              <a:cs typeface="+mn-cs"/>
            </a:endParaRPr>
          </a:p>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1" lang="ja-JP" altLang="en-US" sz="2000" b="1" i="0" u="none" strike="noStrike" kern="1200" cap="none" spc="0" normalizeH="0" baseline="0" noProof="0" dirty="0">
                <a:ln>
                  <a:noFill/>
                </a:ln>
                <a:solidFill>
                  <a:srgbClr val="43B0B1"/>
                </a:solidFill>
                <a:effectLst/>
                <a:uLnTx/>
                <a:uFillTx/>
                <a:latin typeface="Segoe UI"/>
                <a:ea typeface="メイリオ"/>
                <a:cs typeface="+mn-cs"/>
              </a:rPr>
              <a:t>１か月予報値を活用</a:t>
            </a:r>
          </a:p>
        </p:txBody>
      </p:sp>
      <p:sp>
        <p:nvSpPr>
          <p:cNvPr id="18" name="スライド番号プレースホルダー 1">
            <a:extLst>
              <a:ext uri="{FF2B5EF4-FFF2-40B4-BE49-F238E27FC236}">
                <a16:creationId xmlns:a16="http://schemas.microsoft.com/office/drawing/2014/main" id="{8235C781-67C1-DB37-EFA5-89C004649D39}"/>
              </a:ext>
            </a:extLst>
          </p:cNvPr>
          <p:cNvSpPr txBox="1">
            <a:spLocks/>
          </p:cNvSpPr>
          <p:nvPr/>
        </p:nvSpPr>
        <p:spPr>
          <a:xfrm>
            <a:off x="7086600" y="6492875"/>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5F9F9204-6EDA-41A6-81B7-5E8491083ADF}" type="slidenum">
              <a:rPr kumimoji="1" lang="ja-JP" altLang="en-US" sz="1100" smtClean="0">
                <a:solidFill>
                  <a:prstClr val="black">
                    <a:tint val="75000"/>
                  </a:prstClr>
                </a:solidFill>
                <a:latin typeface="Calibri" panose="020F0502020204030204"/>
                <a:ea typeface="游ゴシック" panose="020B0400000000000000" pitchFamily="50" charset="-128"/>
              </a:rPr>
              <a:pPr/>
              <a:t>14</a:t>
            </a:fld>
            <a:endParaRPr kumimoji="1" lang="ja-JP" altLang="en-US" sz="1100">
              <a:solidFill>
                <a:prstClr val="black">
                  <a:tint val="75000"/>
                </a:prstClr>
              </a:solidFill>
              <a:latin typeface="Calibri" panose="020F0502020204030204"/>
              <a:ea typeface="游ゴシック" panose="020B0400000000000000" pitchFamily="50" charset="-128"/>
            </a:endParaRPr>
          </a:p>
        </p:txBody>
      </p:sp>
    </p:spTree>
    <p:extLst>
      <p:ext uri="{BB962C8B-B14F-4D97-AF65-F5344CB8AC3E}">
        <p14:creationId xmlns:p14="http://schemas.microsoft.com/office/powerpoint/2010/main" val="687217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7CE5FD-0889-F0BE-301D-28B58551FF2A}"/>
              </a:ext>
            </a:extLst>
          </p:cNvPr>
          <p:cNvSpPr>
            <a:spLocks noGrp="1"/>
          </p:cNvSpPr>
          <p:nvPr>
            <p:ph type="title"/>
          </p:nvPr>
        </p:nvSpPr>
        <p:spPr/>
        <p:txBody>
          <a:bodyPr/>
          <a:lstStyle/>
          <a:p>
            <a:r>
              <a:rPr kumimoji="1" lang="ja-JP" altLang="en-US" dirty="0"/>
              <a:t>活用事例</a:t>
            </a:r>
            <a:r>
              <a:rPr lang="ja-JP" altLang="en-US" dirty="0"/>
              <a:t>９</a:t>
            </a:r>
            <a:r>
              <a:rPr kumimoji="1" lang="ja-JP" altLang="en-US" dirty="0"/>
              <a:t>｜メッシュ農業気象データ（農研機構）</a:t>
            </a:r>
          </a:p>
        </p:txBody>
      </p:sp>
      <p:sp>
        <p:nvSpPr>
          <p:cNvPr id="3" name="コンテンツ プレースホルダー 2">
            <a:extLst>
              <a:ext uri="{FF2B5EF4-FFF2-40B4-BE49-F238E27FC236}">
                <a16:creationId xmlns:a16="http://schemas.microsoft.com/office/drawing/2014/main" id="{F31C09E0-6B18-AC6E-C911-DDFCBB9B041D}"/>
              </a:ext>
            </a:extLst>
          </p:cNvPr>
          <p:cNvSpPr>
            <a:spLocks noGrp="1"/>
          </p:cNvSpPr>
          <p:nvPr>
            <p:ph idx="1"/>
          </p:nvPr>
        </p:nvSpPr>
        <p:spPr/>
        <p:txBody>
          <a:bodyPr/>
          <a:lstStyle/>
          <a:p>
            <a:r>
              <a:rPr kumimoji="1" lang="ja-JP" altLang="en-US" dirty="0"/>
              <a:t>農研機構が開発・整備した日別気象データ</a:t>
            </a:r>
          </a:p>
        </p:txBody>
      </p:sp>
      <p:sp>
        <p:nvSpPr>
          <p:cNvPr id="4" name="テキスト ボックス 3">
            <a:extLst>
              <a:ext uri="{FF2B5EF4-FFF2-40B4-BE49-F238E27FC236}">
                <a16:creationId xmlns:a16="http://schemas.microsoft.com/office/drawing/2014/main" id="{562D1D23-CB8A-368E-7E75-C34583DAA3F0}"/>
              </a:ext>
            </a:extLst>
          </p:cNvPr>
          <p:cNvSpPr txBox="1"/>
          <p:nvPr/>
        </p:nvSpPr>
        <p:spPr>
          <a:xfrm>
            <a:off x="250825" y="1172955"/>
            <a:ext cx="8642350" cy="2443746"/>
          </a:xfrm>
          <a:prstGeom prst="rect">
            <a:avLst/>
          </a:prstGeom>
          <a:noFill/>
        </p:spPr>
        <p:txBody>
          <a:bodyPr wrap="square">
            <a:spAutoFit/>
          </a:bodyPr>
          <a:lstStyle/>
          <a:p>
            <a:pPr marL="285750" indent="-285750">
              <a:lnSpc>
                <a:spcPct val="120000"/>
              </a:lnSpc>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解像度：約</a:t>
            </a:r>
            <a:r>
              <a:rPr lang="en-US" altLang="ja-JP" sz="1600" dirty="0">
                <a:latin typeface="メイリオ" panose="020B0604030504040204" pitchFamily="50" charset="-128"/>
                <a:ea typeface="メイリオ" panose="020B0604030504040204" pitchFamily="50" charset="-128"/>
                <a:cs typeface="メイリオ" panose="020B0604030504040204" pitchFamily="50" charset="-128"/>
              </a:rPr>
              <a:t>1km</a:t>
            </a: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四方</a:t>
            </a:r>
            <a:endParaRPr lang="en-US" altLang="ja-JP" sz="1600" dirty="0">
              <a:solidFill>
                <a:prstClr val="black"/>
              </a:solidFill>
              <a:latin typeface="メイリオ" panose="020B0604030504040204" pitchFamily="50" charset="-128"/>
              <a:ea typeface="メイリオ" panose="020B0604030504040204" pitchFamily="50" charset="-128"/>
            </a:endParaRPr>
          </a:p>
          <a:p>
            <a:pPr marL="285750" indent="-285750">
              <a:lnSpc>
                <a:spcPct val="120000"/>
              </a:lnSpc>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期間：</a:t>
            </a:r>
            <a:r>
              <a:rPr lang="en-US" altLang="ja-JP" sz="1600" dirty="0">
                <a:latin typeface="メイリオ" panose="020B0604030504040204" pitchFamily="50" charset="-128"/>
                <a:ea typeface="メイリオ" panose="020B0604030504040204" pitchFamily="50" charset="-128"/>
              </a:rPr>
              <a:t>1980</a:t>
            </a:r>
            <a:r>
              <a:rPr lang="ja-JP" altLang="en-US" sz="1600" dirty="0">
                <a:latin typeface="メイリオ" panose="020B0604030504040204" pitchFamily="50" charset="-128"/>
                <a:ea typeface="メイリオ" panose="020B0604030504040204" pitchFamily="50" charset="-128"/>
              </a:rPr>
              <a:t>年から翌年の年末まで</a:t>
            </a:r>
            <a:endParaRPr lang="en-US" altLang="ja-JP" sz="1600" dirty="0">
              <a:latin typeface="メイリオ" panose="020B0604030504040204" pitchFamily="50" charset="-128"/>
              <a:ea typeface="メイリオ" panose="020B0604030504040204" pitchFamily="50" charset="-128"/>
            </a:endParaRPr>
          </a:p>
          <a:p>
            <a:pPr marL="285750" indent="-285750">
              <a:lnSpc>
                <a:spcPct val="120000"/>
              </a:lnSpc>
              <a:spcBef>
                <a:spcPct val="0"/>
              </a:spcBef>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要素：気温（日平均、最高、最低）、降水量、日照時間、全天日射量等</a:t>
            </a:r>
            <a:endParaRPr lang="en-US" altLang="ja-JP" sz="1600" dirty="0">
              <a:latin typeface="メイリオ" panose="020B0604030504040204" pitchFamily="50" charset="-128"/>
              <a:ea typeface="メイリオ" panose="020B0604030504040204" pitchFamily="50" charset="-128"/>
              <a:cs typeface="メイリオ" panose="020B0604030504040204" pitchFamily="50" charset="-128"/>
            </a:endParaRPr>
          </a:p>
          <a:p>
            <a:pPr marL="742950" lvl="1" indent="-285750">
              <a:lnSpc>
                <a:spcPct val="120000"/>
              </a:lnSpc>
              <a:spcBef>
                <a:spcPct val="0"/>
              </a:spcBef>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気温予測値には「確からしさ」もあり。</a:t>
            </a:r>
            <a:endParaRPr lang="en-US" altLang="ja-JP" sz="1600" dirty="0">
              <a:latin typeface="メイリオ" panose="020B0604030504040204" pitchFamily="50" charset="-128"/>
              <a:ea typeface="メイリオ" panose="020B0604030504040204" pitchFamily="50" charset="-128"/>
              <a:cs typeface="メイリオ" panose="020B0604030504040204" pitchFamily="50" charset="-128"/>
            </a:endParaRPr>
          </a:p>
          <a:p>
            <a:pPr marL="285750" indent="-285750">
              <a:lnSpc>
                <a:spcPct val="120000"/>
              </a:lnSpc>
              <a:spcBef>
                <a:spcPct val="0"/>
              </a:spcBef>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利用データ：アメダス、</a:t>
            </a:r>
            <a:r>
              <a:rPr lang="en-US" altLang="ja-JP" sz="1600" dirty="0">
                <a:latin typeface="メイリオ" panose="020B0604030504040204" pitchFamily="50" charset="-128"/>
                <a:ea typeface="メイリオ" panose="020B0604030504040204" pitchFamily="50" charset="-128"/>
                <a:cs typeface="メイリオ" panose="020B0604030504040204" pitchFamily="50" charset="-128"/>
              </a:rPr>
              <a:t>MSM</a:t>
            </a: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600" dirty="0">
                <a:latin typeface="メイリオ" panose="020B0604030504040204" pitchFamily="50" charset="-128"/>
                <a:ea typeface="メイリオ" panose="020B0604030504040204" pitchFamily="50" charset="-128"/>
                <a:cs typeface="メイリオ" panose="020B0604030504040204" pitchFamily="50" charset="-128"/>
              </a:rPr>
              <a:t>GSM</a:t>
            </a: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（気象庁数値予報モデル</a:t>
            </a:r>
            <a:r>
              <a:rPr lang="en-US" altLang="ja-JP" sz="1600" dirty="0">
                <a:latin typeface="メイリオ" panose="020B0604030504040204" pitchFamily="50" charset="-128"/>
                <a:ea typeface="メイリオ" panose="020B0604030504040204" pitchFamily="50" charset="-128"/>
                <a:cs typeface="メイリオ" panose="020B0604030504040204" pitchFamily="50" charset="-128"/>
              </a:rPr>
              <a:t>GPV</a:t>
            </a: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600" dirty="0">
              <a:latin typeface="メイリオ" panose="020B0604030504040204" pitchFamily="50" charset="-128"/>
              <a:ea typeface="メイリオ" panose="020B0604030504040204" pitchFamily="50" charset="-128"/>
              <a:cs typeface="メイリオ" panose="020B0604030504040204" pitchFamily="50" charset="-128"/>
            </a:endParaRPr>
          </a:p>
          <a:p>
            <a:pPr>
              <a:lnSpc>
                <a:spcPct val="120000"/>
              </a:lnSpc>
              <a:spcBef>
                <a:spcPct val="0"/>
              </a:spcBef>
            </a:pP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　　　　　　　２週間気温予報・</a:t>
            </a:r>
            <a:r>
              <a:rPr lang="en-US" altLang="ja-JP" sz="1600"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か月予報ガイダンス</a:t>
            </a:r>
            <a:endParaRPr lang="en-US" altLang="ja-JP" sz="1600" dirty="0">
              <a:latin typeface="メイリオ" panose="020B0604030504040204" pitchFamily="50" charset="-128"/>
              <a:ea typeface="メイリオ" panose="020B0604030504040204" pitchFamily="50" charset="-128"/>
              <a:cs typeface="メイリオ" panose="020B0604030504040204" pitchFamily="50" charset="-128"/>
            </a:endParaRPr>
          </a:p>
          <a:p>
            <a:pPr marL="285750" indent="-285750">
              <a:lnSpc>
                <a:spcPct val="120000"/>
              </a:lnSpc>
              <a:spcBef>
                <a:spcPct val="0"/>
              </a:spcBef>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cs typeface="メイリオ" panose="020B0604030504040204" pitchFamily="50" charset="-128"/>
              </a:rPr>
              <a:t>他に、気候変化シナリオデータ、時別値データも提供</a:t>
            </a:r>
            <a:endParaRPr lang="en-US" altLang="ja-JP" sz="1600" dirty="0">
              <a:latin typeface="メイリオ" panose="020B0604030504040204" pitchFamily="50" charset="-128"/>
              <a:ea typeface="メイリオ" panose="020B0604030504040204" pitchFamily="50" charset="-128"/>
              <a:cs typeface="メイリオ" panose="020B0604030504040204" pitchFamily="50" charset="-128"/>
            </a:endParaRPr>
          </a:p>
          <a:p>
            <a:pPr>
              <a:lnSpc>
                <a:spcPct val="120000"/>
              </a:lnSpc>
              <a:spcBef>
                <a:spcPct val="0"/>
              </a:spcBef>
            </a:pPr>
            <a:r>
              <a:rPr lang="en-US" altLang="ja-JP" sz="1600" dirty="0">
                <a:solidFill>
                  <a:schemeClr val="accent2"/>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dirty="0">
                <a:solidFill>
                  <a:schemeClr val="accent2"/>
                </a:solidFill>
                <a:latin typeface="メイリオ" panose="020B0604030504040204" pitchFamily="50" charset="-128"/>
                <a:ea typeface="メイリオ" panose="020B0604030504040204" pitchFamily="50" charset="-128"/>
                <a:cs typeface="メイリオ" panose="020B0604030504040204" pitchFamily="50" charset="-128"/>
              </a:rPr>
              <a:t>気象庁は技術的情報の提供、予測値の精度検証などで協力</a:t>
            </a:r>
            <a:endParaRPr lang="en-US" altLang="ja-JP" sz="1600" dirty="0">
              <a:solidFill>
                <a:schemeClr val="accent2"/>
              </a:solidFill>
              <a:latin typeface="メイリオ" panose="020B0604030504040204" pitchFamily="50" charset="-128"/>
              <a:ea typeface="メイリオ" panose="020B0604030504040204" pitchFamily="50" charset="-128"/>
              <a:cs typeface="メイリオ" panose="020B0604030504040204" pitchFamily="50" charset="-128"/>
            </a:endParaRPr>
          </a:p>
        </p:txBody>
      </p:sp>
      <p:pic>
        <p:nvPicPr>
          <p:cNvPr id="5" name="図 4">
            <a:extLst>
              <a:ext uri="{FF2B5EF4-FFF2-40B4-BE49-F238E27FC236}">
                <a16:creationId xmlns:a16="http://schemas.microsoft.com/office/drawing/2014/main" id="{72EE0A15-2852-4D2A-FE8C-92BC6061F495}"/>
              </a:ext>
            </a:extLst>
          </p:cNvPr>
          <p:cNvPicPr>
            <a:picLocks noChangeAspect="1"/>
          </p:cNvPicPr>
          <p:nvPr/>
        </p:nvPicPr>
        <p:blipFill>
          <a:blip r:embed="rId3"/>
          <a:stretch>
            <a:fillRect/>
          </a:stretch>
        </p:blipFill>
        <p:spPr>
          <a:xfrm>
            <a:off x="2099487" y="3496887"/>
            <a:ext cx="5935121" cy="2935523"/>
          </a:xfrm>
          <a:prstGeom prst="rect">
            <a:avLst/>
          </a:prstGeom>
        </p:spPr>
      </p:pic>
      <p:sp>
        <p:nvSpPr>
          <p:cNvPr id="7" name="矢印: 五方向 6">
            <a:extLst>
              <a:ext uri="{FF2B5EF4-FFF2-40B4-BE49-F238E27FC236}">
                <a16:creationId xmlns:a16="http://schemas.microsoft.com/office/drawing/2014/main" id="{CAA0D70F-E669-78F8-31C7-C334766A35A4}"/>
              </a:ext>
            </a:extLst>
          </p:cNvPr>
          <p:cNvSpPr/>
          <p:nvPr/>
        </p:nvSpPr>
        <p:spPr>
          <a:xfrm>
            <a:off x="538930" y="4138564"/>
            <a:ext cx="1560557" cy="441726"/>
          </a:xfrm>
          <a:prstGeom prst="homePlate">
            <a:avLst>
              <a:gd name="adj" fmla="val 39752"/>
            </a:avLst>
          </a:prstGeom>
          <a:solidFill>
            <a:schemeClr val="tx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ja-JP" altLang="en-US" sz="1100" dirty="0"/>
              <a:t>作成に使用する気象資料と処理の概要</a:t>
            </a:r>
          </a:p>
        </p:txBody>
      </p:sp>
      <p:sp>
        <p:nvSpPr>
          <p:cNvPr id="8" name="矢印: 五方向 7">
            <a:extLst>
              <a:ext uri="{FF2B5EF4-FFF2-40B4-BE49-F238E27FC236}">
                <a16:creationId xmlns:a16="http://schemas.microsoft.com/office/drawing/2014/main" id="{E6F0C551-073B-0B35-E5DC-D7EB0016A43B}"/>
              </a:ext>
            </a:extLst>
          </p:cNvPr>
          <p:cNvSpPr/>
          <p:nvPr/>
        </p:nvSpPr>
        <p:spPr>
          <a:xfrm>
            <a:off x="538930" y="5389950"/>
            <a:ext cx="1651623" cy="441726"/>
          </a:xfrm>
          <a:prstGeom prst="homePlate">
            <a:avLst>
              <a:gd name="adj" fmla="val 26814"/>
            </a:avLst>
          </a:prstGeom>
          <a:solidFill>
            <a:schemeClr val="tx2"/>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ja-JP" altLang="en-US" sz="1100" dirty="0"/>
              <a:t>作成されたメッシュ農業気象データの例</a:t>
            </a:r>
          </a:p>
        </p:txBody>
      </p:sp>
      <p:sp>
        <p:nvSpPr>
          <p:cNvPr id="9" name="スライド番号プレースホルダー 8">
            <a:extLst>
              <a:ext uri="{FF2B5EF4-FFF2-40B4-BE49-F238E27FC236}">
                <a16:creationId xmlns:a16="http://schemas.microsoft.com/office/drawing/2014/main" id="{3016DABA-9354-74F7-83F0-E06F9D2A14D6}"/>
              </a:ext>
            </a:extLst>
          </p:cNvPr>
          <p:cNvSpPr>
            <a:spLocks noGrp="1"/>
          </p:cNvSpPr>
          <p:nvPr>
            <p:ph type="sldNum" sz="quarter" idx="12"/>
          </p:nvPr>
        </p:nvSpPr>
        <p:spPr/>
        <p:txBody>
          <a:bodyPr/>
          <a:lstStyle/>
          <a:p>
            <a:fld id="{5F9F9204-6EDA-41A6-81B7-5E8491083ADF}" type="slidenum">
              <a:rPr kumimoji="1" lang="ja-JP" altLang="en-US" smtClean="0"/>
              <a:t>15</a:t>
            </a:fld>
            <a:endParaRPr kumimoji="1" lang="ja-JP" altLang="en-US" dirty="0"/>
          </a:p>
        </p:txBody>
      </p:sp>
      <p:sp>
        <p:nvSpPr>
          <p:cNvPr id="10" name="テキスト ボックス 9">
            <a:extLst>
              <a:ext uri="{FF2B5EF4-FFF2-40B4-BE49-F238E27FC236}">
                <a16:creationId xmlns:a16="http://schemas.microsoft.com/office/drawing/2014/main" id="{6730EB19-1151-5D02-CA30-B467E452F271}"/>
              </a:ext>
            </a:extLst>
          </p:cNvPr>
          <p:cNvSpPr txBox="1"/>
          <p:nvPr/>
        </p:nvSpPr>
        <p:spPr>
          <a:xfrm>
            <a:off x="2099487" y="6517979"/>
            <a:ext cx="6620434" cy="200055"/>
          </a:xfrm>
          <a:prstGeom prst="rect">
            <a:avLst/>
          </a:prstGeom>
          <a:noFill/>
        </p:spPr>
        <p:txBody>
          <a:bodyPr wrap="square">
            <a:spAutoFit/>
          </a:bodyPr>
          <a:lstStyle/>
          <a:p>
            <a:r>
              <a:rPr lang="ja-JP" altLang="en-US" sz="700" dirty="0"/>
              <a:t>出典：農研機構「メッシュ農業気象データ利用マニュアル」</a:t>
            </a:r>
            <a:r>
              <a:rPr lang="en-US" altLang="ja-JP" sz="700" dirty="0">
                <a:hlinkClick r:id="rId4"/>
              </a:rPr>
              <a:t>https://www.naro.go.jp/publicity_report/publication/files/3f7c9bb6537fe89b7cb9de5122c7b59c_1.pdf</a:t>
            </a:r>
            <a:endParaRPr lang="ja-JP" altLang="en-US" sz="700" dirty="0"/>
          </a:p>
        </p:txBody>
      </p:sp>
    </p:spTree>
    <p:extLst>
      <p:ext uri="{BB962C8B-B14F-4D97-AF65-F5344CB8AC3E}">
        <p14:creationId xmlns:p14="http://schemas.microsoft.com/office/powerpoint/2010/main" val="2155717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2BC1E51C-32E7-451A-9A4C-F042D8D7764D}"/>
              </a:ext>
            </a:extLst>
          </p:cNvPr>
          <p:cNvSpPr>
            <a:spLocks noGrp="1"/>
          </p:cNvSpPr>
          <p:nvPr>
            <p:ph type="title"/>
          </p:nvPr>
        </p:nvSpPr>
        <p:spPr>
          <a:xfrm>
            <a:off x="1091762" y="3125308"/>
            <a:ext cx="7423588" cy="607384"/>
          </a:xfrm>
        </p:spPr>
        <p:txBody>
          <a:bodyPr>
            <a:noAutofit/>
          </a:bodyPr>
          <a:lstStyle/>
          <a:p>
            <a:pPr>
              <a:lnSpc>
                <a:spcPct val="120000"/>
              </a:lnSpc>
            </a:pPr>
            <a:r>
              <a:rPr kumimoji="1" lang="ja-JP" altLang="en-US" sz="4000" dirty="0">
                <a:solidFill>
                  <a:schemeClr val="tx2"/>
                </a:solidFill>
              </a:rPr>
              <a:t>気象データの取得方法</a:t>
            </a:r>
            <a:endParaRPr lang="ja-JP" altLang="en-US" sz="4800" dirty="0"/>
          </a:p>
        </p:txBody>
      </p:sp>
      <p:sp>
        <p:nvSpPr>
          <p:cNvPr id="6" name="テキスト ボックス 5">
            <a:extLst>
              <a:ext uri="{FF2B5EF4-FFF2-40B4-BE49-F238E27FC236}">
                <a16:creationId xmlns:a16="http://schemas.microsoft.com/office/drawing/2014/main" id="{BFC0F40F-1061-A758-9F6A-FA55E8CE7198}"/>
              </a:ext>
            </a:extLst>
          </p:cNvPr>
          <p:cNvSpPr txBox="1"/>
          <p:nvPr/>
        </p:nvSpPr>
        <p:spPr>
          <a:xfrm>
            <a:off x="1091762" y="2663643"/>
            <a:ext cx="4559738" cy="461665"/>
          </a:xfrm>
          <a:prstGeom prst="rect">
            <a:avLst/>
          </a:prstGeom>
          <a:noFill/>
        </p:spPr>
        <p:txBody>
          <a:bodyPr wrap="square">
            <a:spAutoFit/>
          </a:bodyPr>
          <a:lstStyle/>
          <a:p>
            <a:r>
              <a:rPr lang="ja-JP" altLang="en-US" sz="2400" b="1" dirty="0">
                <a:solidFill>
                  <a:schemeClr val="tx2"/>
                </a:solidFill>
              </a:rPr>
              <a:t>気象</a:t>
            </a:r>
            <a:r>
              <a:rPr kumimoji="1" lang="ja-JP" altLang="en-US" sz="2400" b="1" dirty="0">
                <a:solidFill>
                  <a:schemeClr val="tx2"/>
                </a:solidFill>
              </a:rPr>
              <a:t>データを活用するために</a:t>
            </a:r>
            <a:endParaRPr lang="ja-JP" altLang="en-US" sz="2400" b="1" dirty="0"/>
          </a:p>
        </p:txBody>
      </p:sp>
    </p:spTree>
    <p:extLst>
      <p:ext uri="{BB962C8B-B14F-4D97-AF65-F5344CB8AC3E}">
        <p14:creationId xmlns:p14="http://schemas.microsoft.com/office/powerpoint/2010/main" val="3378951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9AB642-1513-E521-C761-48FF9B137AA4}"/>
              </a:ext>
            </a:extLst>
          </p:cNvPr>
          <p:cNvSpPr>
            <a:spLocks noGrp="1"/>
          </p:cNvSpPr>
          <p:nvPr>
            <p:ph type="title"/>
          </p:nvPr>
        </p:nvSpPr>
        <p:spPr/>
        <p:txBody>
          <a:bodyPr/>
          <a:lstStyle/>
          <a:p>
            <a:r>
              <a:rPr kumimoji="1" lang="ja-JP" altLang="en-US" dirty="0"/>
              <a:t>気候リスク管理のポータルサイト</a:t>
            </a:r>
          </a:p>
        </p:txBody>
      </p:sp>
      <p:sp>
        <p:nvSpPr>
          <p:cNvPr id="3" name="コンテンツ プレースホルダー 2">
            <a:extLst>
              <a:ext uri="{FF2B5EF4-FFF2-40B4-BE49-F238E27FC236}">
                <a16:creationId xmlns:a16="http://schemas.microsoft.com/office/drawing/2014/main" id="{0976146E-1F27-FD34-8B31-1D571F4891F8}"/>
              </a:ext>
            </a:extLst>
          </p:cNvPr>
          <p:cNvSpPr>
            <a:spLocks noGrp="1"/>
          </p:cNvSpPr>
          <p:nvPr>
            <p:ph idx="1"/>
          </p:nvPr>
        </p:nvSpPr>
        <p:spPr/>
        <p:txBody>
          <a:bodyPr/>
          <a:lstStyle/>
          <a:p>
            <a:r>
              <a:rPr kumimoji="1" lang="ja-JP" altLang="en-US" dirty="0"/>
              <a:t>気象情報を活用して気候の影響を軽減してみませんか？</a:t>
            </a:r>
          </a:p>
        </p:txBody>
      </p:sp>
      <p:sp>
        <p:nvSpPr>
          <p:cNvPr id="4" name="テキスト ボックス 3">
            <a:extLst>
              <a:ext uri="{FF2B5EF4-FFF2-40B4-BE49-F238E27FC236}">
                <a16:creationId xmlns:a16="http://schemas.microsoft.com/office/drawing/2014/main" id="{A8AFD680-0A09-75FA-A234-4F7D88BEADD6}"/>
              </a:ext>
            </a:extLst>
          </p:cNvPr>
          <p:cNvSpPr txBox="1"/>
          <p:nvPr/>
        </p:nvSpPr>
        <p:spPr>
          <a:xfrm>
            <a:off x="250825" y="1205323"/>
            <a:ext cx="7968342" cy="369332"/>
          </a:xfrm>
          <a:prstGeom prst="rect">
            <a:avLst/>
          </a:prstGeom>
          <a:noFill/>
        </p:spPr>
        <p:txBody>
          <a:bodyPr wrap="square" rtlCol="0">
            <a:spAutoFit/>
          </a:bodyPr>
          <a:lstStyle/>
          <a:p>
            <a:r>
              <a:rPr lang="ja-JP" altLang="en-US" dirty="0">
                <a:latin typeface="+mn-ea"/>
              </a:rPr>
              <a:t>気候リスク管理の詳しい解説や必要な情報へのリンクを公開しています。</a:t>
            </a:r>
            <a:endParaRPr lang="ja-JP" altLang="ja-JP" dirty="0">
              <a:latin typeface="+mn-ea"/>
            </a:endParaRPr>
          </a:p>
        </p:txBody>
      </p:sp>
      <p:pic>
        <p:nvPicPr>
          <p:cNvPr id="5" name="図 4">
            <a:extLst>
              <a:ext uri="{FF2B5EF4-FFF2-40B4-BE49-F238E27FC236}">
                <a16:creationId xmlns:a16="http://schemas.microsoft.com/office/drawing/2014/main" id="{1FB39728-6345-C902-A559-67096FA2A90A}"/>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840676" y="1791719"/>
            <a:ext cx="5024802" cy="4234384"/>
          </a:xfrm>
          <a:prstGeom prst="rect">
            <a:avLst/>
          </a:prstGeom>
          <a:ln>
            <a:solidFill>
              <a:schemeClr val="bg2">
                <a:lumMod val="90000"/>
              </a:schemeClr>
            </a:solidFill>
          </a:ln>
        </p:spPr>
      </p:pic>
      <p:sp>
        <p:nvSpPr>
          <p:cNvPr id="6" name="四角形: 角を丸くする 5">
            <a:extLst>
              <a:ext uri="{FF2B5EF4-FFF2-40B4-BE49-F238E27FC236}">
                <a16:creationId xmlns:a16="http://schemas.microsoft.com/office/drawing/2014/main" id="{3D0F05D5-B5D9-85B3-FAC9-85417F84C414}"/>
              </a:ext>
            </a:extLst>
          </p:cNvPr>
          <p:cNvSpPr/>
          <p:nvPr/>
        </p:nvSpPr>
        <p:spPr>
          <a:xfrm>
            <a:off x="1983183" y="3918857"/>
            <a:ext cx="2375065" cy="985652"/>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 name="矢印: 五方向 6">
            <a:extLst>
              <a:ext uri="{FF2B5EF4-FFF2-40B4-BE49-F238E27FC236}">
                <a16:creationId xmlns:a16="http://schemas.microsoft.com/office/drawing/2014/main" id="{B6647708-B85E-E07C-F5A2-8CFBC4EC93F7}"/>
              </a:ext>
            </a:extLst>
          </p:cNvPr>
          <p:cNvSpPr/>
          <p:nvPr/>
        </p:nvSpPr>
        <p:spPr>
          <a:xfrm>
            <a:off x="629397" y="4625005"/>
            <a:ext cx="1995055" cy="332510"/>
          </a:xfrm>
          <a:prstGeom prst="homePlate">
            <a:avLst>
              <a:gd name="adj" fmla="val 3928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t>過去の気象データを取得</a:t>
            </a:r>
          </a:p>
        </p:txBody>
      </p:sp>
      <p:sp>
        <p:nvSpPr>
          <p:cNvPr id="8" name="四角形: 角を丸くする 7">
            <a:extLst>
              <a:ext uri="{FF2B5EF4-FFF2-40B4-BE49-F238E27FC236}">
                <a16:creationId xmlns:a16="http://schemas.microsoft.com/office/drawing/2014/main" id="{57D8EDC7-BDD9-9F90-4A42-2750AA71F47D}"/>
              </a:ext>
            </a:extLst>
          </p:cNvPr>
          <p:cNvSpPr/>
          <p:nvPr/>
        </p:nvSpPr>
        <p:spPr>
          <a:xfrm>
            <a:off x="1983182" y="5010521"/>
            <a:ext cx="2375065" cy="985652"/>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9" name="矢印: 五方向 8">
            <a:extLst>
              <a:ext uri="{FF2B5EF4-FFF2-40B4-BE49-F238E27FC236}">
                <a16:creationId xmlns:a16="http://schemas.microsoft.com/office/drawing/2014/main" id="{7F6CEFC5-85F6-F62A-6BE1-7300717FDA9F}"/>
              </a:ext>
            </a:extLst>
          </p:cNvPr>
          <p:cNvSpPr/>
          <p:nvPr/>
        </p:nvSpPr>
        <p:spPr>
          <a:xfrm>
            <a:off x="629397" y="5704446"/>
            <a:ext cx="2045525" cy="332510"/>
          </a:xfrm>
          <a:prstGeom prst="homePlate">
            <a:avLst>
              <a:gd name="adj" fmla="val 3214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t>気温予測データを取得</a:t>
            </a:r>
          </a:p>
        </p:txBody>
      </p:sp>
      <p:sp>
        <p:nvSpPr>
          <p:cNvPr id="10" name="四角形: 角を丸くする 9">
            <a:extLst>
              <a:ext uri="{FF2B5EF4-FFF2-40B4-BE49-F238E27FC236}">
                <a16:creationId xmlns:a16="http://schemas.microsoft.com/office/drawing/2014/main" id="{7EED6ED7-0BE2-1605-C448-1F3C2FC571A9}"/>
              </a:ext>
            </a:extLst>
          </p:cNvPr>
          <p:cNvSpPr/>
          <p:nvPr/>
        </p:nvSpPr>
        <p:spPr>
          <a:xfrm>
            <a:off x="4424332" y="3908915"/>
            <a:ext cx="2375065" cy="834539"/>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accent6"/>
              </a:solidFill>
            </a:endParaRPr>
          </a:p>
        </p:txBody>
      </p:sp>
      <p:sp>
        <p:nvSpPr>
          <p:cNvPr id="11" name="矢印: 五方向 10">
            <a:extLst>
              <a:ext uri="{FF2B5EF4-FFF2-40B4-BE49-F238E27FC236}">
                <a16:creationId xmlns:a16="http://schemas.microsoft.com/office/drawing/2014/main" id="{6D71A357-DE3C-7731-F87B-BABBACE46DB9}"/>
              </a:ext>
            </a:extLst>
          </p:cNvPr>
          <p:cNvSpPr/>
          <p:nvPr/>
        </p:nvSpPr>
        <p:spPr>
          <a:xfrm flipH="1">
            <a:off x="6023401" y="4563710"/>
            <a:ext cx="2274840" cy="332510"/>
          </a:xfrm>
          <a:prstGeom prst="homePlate">
            <a:avLst>
              <a:gd name="adj" fmla="val 3928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t>気候リスク管理の実例紹介</a:t>
            </a:r>
          </a:p>
        </p:txBody>
      </p:sp>
      <p:sp>
        <p:nvSpPr>
          <p:cNvPr id="12" name="四角形: 角を丸くする 11">
            <a:extLst>
              <a:ext uri="{FF2B5EF4-FFF2-40B4-BE49-F238E27FC236}">
                <a16:creationId xmlns:a16="http://schemas.microsoft.com/office/drawing/2014/main" id="{89BB7933-C019-9CCD-180F-E77D40E132E4}"/>
              </a:ext>
            </a:extLst>
          </p:cNvPr>
          <p:cNvSpPr/>
          <p:nvPr/>
        </p:nvSpPr>
        <p:spPr>
          <a:xfrm>
            <a:off x="4424332" y="5010525"/>
            <a:ext cx="2375065" cy="1026435"/>
          </a:xfrm>
          <a:prstGeom prst="round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accent6"/>
              </a:solidFill>
            </a:endParaRPr>
          </a:p>
        </p:txBody>
      </p:sp>
      <p:sp>
        <p:nvSpPr>
          <p:cNvPr id="13" name="矢印: 五方向 12">
            <a:extLst>
              <a:ext uri="{FF2B5EF4-FFF2-40B4-BE49-F238E27FC236}">
                <a16:creationId xmlns:a16="http://schemas.microsoft.com/office/drawing/2014/main" id="{F0CBA6DD-58F6-AF27-BBF9-2C55AE1F72A2}"/>
              </a:ext>
            </a:extLst>
          </p:cNvPr>
          <p:cNvSpPr/>
          <p:nvPr/>
        </p:nvSpPr>
        <p:spPr>
          <a:xfrm flipH="1">
            <a:off x="6023401" y="5769978"/>
            <a:ext cx="2274840" cy="332510"/>
          </a:xfrm>
          <a:prstGeom prst="homePlate">
            <a:avLst>
              <a:gd name="adj" fmla="val 39286"/>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t>気候リスク管理の調査報告</a:t>
            </a:r>
          </a:p>
        </p:txBody>
      </p:sp>
      <p:sp>
        <p:nvSpPr>
          <p:cNvPr id="15" name="テキスト ボックス 14">
            <a:extLst>
              <a:ext uri="{FF2B5EF4-FFF2-40B4-BE49-F238E27FC236}">
                <a16:creationId xmlns:a16="http://schemas.microsoft.com/office/drawing/2014/main" id="{8B8C97AF-D076-118E-FFEB-501BD7035134}"/>
              </a:ext>
            </a:extLst>
          </p:cNvPr>
          <p:cNvSpPr txBox="1"/>
          <p:nvPr/>
        </p:nvSpPr>
        <p:spPr>
          <a:xfrm>
            <a:off x="2135874" y="6246955"/>
            <a:ext cx="4576916" cy="369332"/>
          </a:xfrm>
          <a:prstGeom prst="rect">
            <a:avLst/>
          </a:prstGeom>
          <a:noFill/>
        </p:spPr>
        <p:txBody>
          <a:bodyPr wrap="square">
            <a:spAutoFit/>
          </a:bodyPr>
          <a:lstStyle/>
          <a:p>
            <a:r>
              <a:rPr lang="ja-JP" altLang="en-US" dirty="0"/>
              <a:t>https://www.data.jma.go.jp/risk/index.html</a:t>
            </a:r>
          </a:p>
        </p:txBody>
      </p:sp>
      <p:sp>
        <p:nvSpPr>
          <p:cNvPr id="14" name="スライド番号プレースホルダー 13">
            <a:extLst>
              <a:ext uri="{FF2B5EF4-FFF2-40B4-BE49-F238E27FC236}">
                <a16:creationId xmlns:a16="http://schemas.microsoft.com/office/drawing/2014/main" id="{81B27074-6056-2ED4-8BA9-16FBF7BFC742}"/>
              </a:ext>
            </a:extLst>
          </p:cNvPr>
          <p:cNvSpPr>
            <a:spLocks noGrp="1"/>
          </p:cNvSpPr>
          <p:nvPr>
            <p:ph type="sldNum" sz="quarter" idx="12"/>
          </p:nvPr>
        </p:nvSpPr>
        <p:spPr/>
        <p:txBody>
          <a:bodyPr/>
          <a:lstStyle/>
          <a:p>
            <a:fld id="{5F9F9204-6EDA-41A6-81B7-5E8491083ADF}" type="slidenum">
              <a:rPr kumimoji="1" lang="ja-JP" altLang="en-US" smtClean="0"/>
              <a:t>17</a:t>
            </a:fld>
            <a:endParaRPr kumimoji="1" lang="ja-JP" altLang="en-US" dirty="0"/>
          </a:p>
        </p:txBody>
      </p:sp>
    </p:spTree>
    <p:extLst>
      <p:ext uri="{BB962C8B-B14F-4D97-AF65-F5344CB8AC3E}">
        <p14:creationId xmlns:p14="http://schemas.microsoft.com/office/powerpoint/2010/main" val="2802146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663FE7A5-A39B-BC4E-E5C8-60A6FF7844AD}"/>
              </a:ext>
            </a:extLst>
          </p:cNvPr>
          <p:cNvPicPr>
            <a:picLocks noChangeAspect="1"/>
          </p:cNvPicPr>
          <p:nvPr/>
        </p:nvPicPr>
        <p:blipFill>
          <a:blip r:embed="rId3"/>
          <a:stretch>
            <a:fillRect/>
          </a:stretch>
        </p:blipFill>
        <p:spPr>
          <a:xfrm>
            <a:off x="1395874" y="2178158"/>
            <a:ext cx="6056416" cy="3771978"/>
          </a:xfrm>
          <a:prstGeom prst="rect">
            <a:avLst/>
          </a:prstGeom>
          <a:ln>
            <a:solidFill>
              <a:schemeClr val="bg1">
                <a:lumMod val="75000"/>
              </a:schemeClr>
            </a:solidFill>
          </a:ln>
        </p:spPr>
      </p:pic>
      <p:sp>
        <p:nvSpPr>
          <p:cNvPr id="2" name="タイトル 1">
            <a:extLst>
              <a:ext uri="{FF2B5EF4-FFF2-40B4-BE49-F238E27FC236}">
                <a16:creationId xmlns:a16="http://schemas.microsoft.com/office/drawing/2014/main" id="{A515ABAA-100D-2E03-1AAB-EE03892EDC13}"/>
              </a:ext>
            </a:extLst>
          </p:cNvPr>
          <p:cNvSpPr>
            <a:spLocks noGrp="1"/>
          </p:cNvSpPr>
          <p:nvPr>
            <p:ph type="title"/>
          </p:nvPr>
        </p:nvSpPr>
        <p:spPr/>
        <p:txBody>
          <a:bodyPr/>
          <a:lstStyle/>
          <a:p>
            <a:r>
              <a:rPr kumimoji="1" lang="ja-JP" altLang="en-US" dirty="0"/>
              <a:t>過去の気象データ・ダウンロード</a:t>
            </a:r>
          </a:p>
        </p:txBody>
      </p:sp>
      <p:sp>
        <p:nvSpPr>
          <p:cNvPr id="3" name="コンテンツ プレースホルダー 2">
            <a:extLst>
              <a:ext uri="{FF2B5EF4-FFF2-40B4-BE49-F238E27FC236}">
                <a16:creationId xmlns:a16="http://schemas.microsoft.com/office/drawing/2014/main" id="{8FC1AFD6-EEF4-7CF6-7A82-5FED272397A6}"/>
              </a:ext>
            </a:extLst>
          </p:cNvPr>
          <p:cNvSpPr>
            <a:spLocks noGrp="1"/>
          </p:cNvSpPr>
          <p:nvPr>
            <p:ph idx="1"/>
          </p:nvPr>
        </p:nvSpPr>
        <p:spPr/>
        <p:txBody>
          <a:bodyPr/>
          <a:lstStyle/>
          <a:p>
            <a:r>
              <a:rPr kumimoji="1" lang="ja-JP" altLang="en-US" dirty="0"/>
              <a:t>過去の観測値による分析を行い、気候リスク</a:t>
            </a:r>
            <a:r>
              <a:rPr lang="ja-JP" altLang="en-US" dirty="0"/>
              <a:t>の</a:t>
            </a:r>
            <a:r>
              <a:rPr kumimoji="1" lang="ja-JP" altLang="en-US" dirty="0"/>
              <a:t>評価へ</a:t>
            </a:r>
          </a:p>
        </p:txBody>
      </p:sp>
      <p:sp>
        <p:nvSpPr>
          <p:cNvPr id="4" name="テキスト ボックス 3">
            <a:extLst>
              <a:ext uri="{FF2B5EF4-FFF2-40B4-BE49-F238E27FC236}">
                <a16:creationId xmlns:a16="http://schemas.microsoft.com/office/drawing/2014/main" id="{206EAD2F-0F3D-6A83-22D8-FE3552508DD3}"/>
              </a:ext>
            </a:extLst>
          </p:cNvPr>
          <p:cNvSpPr txBox="1"/>
          <p:nvPr/>
        </p:nvSpPr>
        <p:spPr>
          <a:xfrm>
            <a:off x="250825" y="1175819"/>
            <a:ext cx="8642350" cy="410882"/>
          </a:xfrm>
          <a:prstGeom prst="rect">
            <a:avLst/>
          </a:prstGeom>
          <a:noFill/>
        </p:spPr>
        <p:txBody>
          <a:bodyPr wrap="square" rtlCol="0">
            <a:spAutoFit/>
          </a:bodyPr>
          <a:lstStyle/>
          <a:p>
            <a:pPr marL="285750" indent="-285750">
              <a:lnSpc>
                <a:spcPct val="120000"/>
              </a:lnSpc>
              <a:buFont typeface="Arial" panose="020B0604020202020204" pitchFamily="34" charset="0"/>
              <a:buChar char="•"/>
            </a:pPr>
            <a:r>
              <a:rPr lang="ja-JP" altLang="en-US" dirty="0"/>
              <a:t>アメダス地点の過去の観測データを</a:t>
            </a:r>
            <a:r>
              <a:rPr lang="en-US" altLang="ja-JP" dirty="0"/>
              <a:t>CSV</a:t>
            </a:r>
            <a:r>
              <a:rPr lang="ja-JP" altLang="en-US" dirty="0"/>
              <a:t>形式でダウンロード可能</a:t>
            </a:r>
            <a:endParaRPr lang="en-US" altLang="ja-JP" dirty="0"/>
          </a:p>
        </p:txBody>
      </p:sp>
      <p:sp>
        <p:nvSpPr>
          <p:cNvPr id="6" name="テキスト ボックス 5">
            <a:extLst>
              <a:ext uri="{FF2B5EF4-FFF2-40B4-BE49-F238E27FC236}">
                <a16:creationId xmlns:a16="http://schemas.microsoft.com/office/drawing/2014/main" id="{78BEF548-C4AC-362E-4BD0-272CE1832208}"/>
              </a:ext>
            </a:extLst>
          </p:cNvPr>
          <p:cNvSpPr txBox="1"/>
          <p:nvPr/>
        </p:nvSpPr>
        <p:spPr>
          <a:xfrm>
            <a:off x="2286000" y="6299760"/>
            <a:ext cx="3544784" cy="307777"/>
          </a:xfrm>
          <a:prstGeom prst="rect">
            <a:avLst/>
          </a:prstGeom>
          <a:noFill/>
        </p:spPr>
        <p:txBody>
          <a:bodyPr wrap="square">
            <a:spAutoFit/>
          </a:bodyPr>
          <a:lstStyle/>
          <a:p>
            <a:pPr algn="ctr"/>
            <a:r>
              <a:rPr lang="ja-JP" altLang="en-US" sz="1400" dirty="0"/>
              <a:t>https://www.data.jma.go.jp/risk/obsdl/</a:t>
            </a:r>
          </a:p>
        </p:txBody>
      </p:sp>
      <p:sp>
        <p:nvSpPr>
          <p:cNvPr id="7" name="スライド番号プレースホルダー 6">
            <a:extLst>
              <a:ext uri="{FF2B5EF4-FFF2-40B4-BE49-F238E27FC236}">
                <a16:creationId xmlns:a16="http://schemas.microsoft.com/office/drawing/2014/main" id="{0E19D995-AC27-5768-8724-3CBF770F18AF}"/>
              </a:ext>
            </a:extLst>
          </p:cNvPr>
          <p:cNvSpPr>
            <a:spLocks noGrp="1"/>
          </p:cNvSpPr>
          <p:nvPr>
            <p:ph type="sldNum" sz="quarter" idx="12"/>
          </p:nvPr>
        </p:nvSpPr>
        <p:spPr/>
        <p:txBody>
          <a:bodyPr/>
          <a:lstStyle/>
          <a:p>
            <a:fld id="{5F9F9204-6EDA-41A6-81B7-5E8491083ADF}" type="slidenum">
              <a:rPr kumimoji="1" lang="ja-JP" altLang="en-US" smtClean="0"/>
              <a:t>18</a:t>
            </a:fld>
            <a:endParaRPr kumimoji="1" lang="ja-JP" altLang="en-US" dirty="0"/>
          </a:p>
        </p:txBody>
      </p:sp>
    </p:spTree>
    <p:extLst>
      <p:ext uri="{BB962C8B-B14F-4D97-AF65-F5344CB8AC3E}">
        <p14:creationId xmlns:p14="http://schemas.microsoft.com/office/powerpoint/2010/main" val="1555137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095AC2-7B68-B7EC-58C0-EE5ECB51BA34}"/>
              </a:ext>
            </a:extLst>
          </p:cNvPr>
          <p:cNvSpPr>
            <a:spLocks noGrp="1"/>
          </p:cNvSpPr>
          <p:nvPr>
            <p:ph type="title"/>
          </p:nvPr>
        </p:nvSpPr>
        <p:spPr/>
        <p:txBody>
          <a:bodyPr/>
          <a:lstStyle/>
          <a:p>
            <a:r>
              <a:rPr kumimoji="1" lang="ja-JP" altLang="en-US" dirty="0"/>
              <a:t>向こう２週間・１か月の予測資料</a:t>
            </a:r>
          </a:p>
        </p:txBody>
      </p:sp>
      <p:sp>
        <p:nvSpPr>
          <p:cNvPr id="11" name="コンテンツ プレースホルダー 10">
            <a:extLst>
              <a:ext uri="{FF2B5EF4-FFF2-40B4-BE49-F238E27FC236}">
                <a16:creationId xmlns:a16="http://schemas.microsoft.com/office/drawing/2014/main" id="{277A1BC7-122E-84E8-468F-82F1435564F3}"/>
              </a:ext>
            </a:extLst>
          </p:cNvPr>
          <p:cNvSpPr>
            <a:spLocks noGrp="1"/>
          </p:cNvSpPr>
          <p:nvPr>
            <p:ph idx="1"/>
          </p:nvPr>
        </p:nvSpPr>
        <p:spPr/>
        <p:txBody>
          <a:bodyPr/>
          <a:lstStyle/>
          <a:p>
            <a:r>
              <a:rPr lang="ja-JP" altLang="en-US" dirty="0"/>
              <a:t>確率予測資料の取得（</a:t>
            </a:r>
            <a:r>
              <a:rPr lang="en-US" altLang="ja-JP" dirty="0"/>
              <a:t>CSV</a:t>
            </a:r>
            <a:r>
              <a:rPr lang="ja-JP" altLang="en-US" dirty="0"/>
              <a:t>形式）やグラフ表示が可能</a:t>
            </a:r>
          </a:p>
        </p:txBody>
      </p:sp>
      <p:sp>
        <p:nvSpPr>
          <p:cNvPr id="3" name="スライド番号プレースホルダー 2">
            <a:extLst>
              <a:ext uri="{FF2B5EF4-FFF2-40B4-BE49-F238E27FC236}">
                <a16:creationId xmlns:a16="http://schemas.microsoft.com/office/drawing/2014/main" id="{B550B647-EEC3-EF29-AA40-8C21698F08E2}"/>
              </a:ext>
            </a:extLst>
          </p:cNvPr>
          <p:cNvSpPr>
            <a:spLocks noGrp="1"/>
          </p:cNvSpPr>
          <p:nvPr>
            <p:ph type="sldNum" sz="quarter" idx="12"/>
          </p:nvPr>
        </p:nvSpPr>
        <p:spPr/>
        <p:txBody>
          <a:bodyPr/>
          <a:lstStyle/>
          <a:p>
            <a:fld id="{5F9F9204-6EDA-41A6-81B7-5E8491083ADF}" type="slidenum">
              <a:rPr kumimoji="1" lang="ja-JP" altLang="en-US" smtClean="0"/>
              <a:t>19</a:t>
            </a:fld>
            <a:endParaRPr kumimoji="1" lang="ja-JP" altLang="en-US" dirty="0"/>
          </a:p>
        </p:txBody>
      </p:sp>
      <p:pic>
        <p:nvPicPr>
          <p:cNvPr id="5" name="図 4">
            <a:extLst>
              <a:ext uri="{FF2B5EF4-FFF2-40B4-BE49-F238E27FC236}">
                <a16:creationId xmlns:a16="http://schemas.microsoft.com/office/drawing/2014/main" id="{568B2EDB-A78A-9C3C-0578-1B04BFDD2150}"/>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247702" y="1282595"/>
            <a:ext cx="6498978" cy="5284470"/>
          </a:xfrm>
          <a:prstGeom prst="rect">
            <a:avLst/>
          </a:prstGeom>
          <a:ln>
            <a:solidFill>
              <a:schemeClr val="bg2">
                <a:lumMod val="90000"/>
              </a:schemeClr>
            </a:solidFill>
          </a:ln>
        </p:spPr>
      </p:pic>
      <p:sp>
        <p:nvSpPr>
          <p:cNvPr id="4" name="矢印: 五方向 3">
            <a:extLst>
              <a:ext uri="{FF2B5EF4-FFF2-40B4-BE49-F238E27FC236}">
                <a16:creationId xmlns:a16="http://schemas.microsoft.com/office/drawing/2014/main" id="{6ECA8DB1-D091-65FF-389C-4CA7E05EAF44}"/>
              </a:ext>
            </a:extLst>
          </p:cNvPr>
          <p:cNvSpPr/>
          <p:nvPr/>
        </p:nvSpPr>
        <p:spPr>
          <a:xfrm flipH="1">
            <a:off x="5042224" y="2173473"/>
            <a:ext cx="1937173" cy="332510"/>
          </a:xfrm>
          <a:prstGeom prst="homePlate">
            <a:avLst>
              <a:gd name="adj" fmla="val 3928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t>CSV</a:t>
            </a:r>
            <a:r>
              <a:rPr lang="ja-JP" altLang="en-US" sz="1200" dirty="0"/>
              <a:t>ファイルの取得</a:t>
            </a:r>
          </a:p>
        </p:txBody>
      </p:sp>
      <p:sp>
        <p:nvSpPr>
          <p:cNvPr id="6" name="矢印: 五方向 5">
            <a:extLst>
              <a:ext uri="{FF2B5EF4-FFF2-40B4-BE49-F238E27FC236}">
                <a16:creationId xmlns:a16="http://schemas.microsoft.com/office/drawing/2014/main" id="{E9F9B57B-9A5B-F01E-9C13-909AC151CA75}"/>
              </a:ext>
            </a:extLst>
          </p:cNvPr>
          <p:cNvSpPr/>
          <p:nvPr/>
        </p:nvSpPr>
        <p:spPr>
          <a:xfrm flipH="1">
            <a:off x="5042220" y="3230606"/>
            <a:ext cx="1256980" cy="332510"/>
          </a:xfrm>
          <a:prstGeom prst="homePlate">
            <a:avLst>
              <a:gd name="adj" fmla="val 3928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t>グラフ表示</a:t>
            </a:r>
          </a:p>
        </p:txBody>
      </p:sp>
      <p:sp>
        <p:nvSpPr>
          <p:cNvPr id="7" name="矢印: 五方向 6">
            <a:extLst>
              <a:ext uri="{FF2B5EF4-FFF2-40B4-BE49-F238E27FC236}">
                <a16:creationId xmlns:a16="http://schemas.microsoft.com/office/drawing/2014/main" id="{0FBBCA44-1B2F-1900-FEC0-1855F4D838AD}"/>
              </a:ext>
            </a:extLst>
          </p:cNvPr>
          <p:cNvSpPr/>
          <p:nvPr/>
        </p:nvSpPr>
        <p:spPr>
          <a:xfrm flipH="1">
            <a:off x="5308924" y="4540498"/>
            <a:ext cx="1937173" cy="332510"/>
          </a:xfrm>
          <a:prstGeom prst="homePlate">
            <a:avLst>
              <a:gd name="adj" fmla="val 3928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t>CSV</a:t>
            </a:r>
            <a:r>
              <a:rPr lang="ja-JP" altLang="en-US" sz="1200" dirty="0"/>
              <a:t>ファイルの取得</a:t>
            </a:r>
          </a:p>
        </p:txBody>
      </p:sp>
      <p:sp>
        <p:nvSpPr>
          <p:cNvPr id="8" name="矢印: 五方向 7">
            <a:extLst>
              <a:ext uri="{FF2B5EF4-FFF2-40B4-BE49-F238E27FC236}">
                <a16:creationId xmlns:a16="http://schemas.microsoft.com/office/drawing/2014/main" id="{D73B6372-B1D3-3163-1409-DF0E3175F125}"/>
              </a:ext>
            </a:extLst>
          </p:cNvPr>
          <p:cNvSpPr/>
          <p:nvPr/>
        </p:nvSpPr>
        <p:spPr>
          <a:xfrm flipH="1">
            <a:off x="5308920" y="5597631"/>
            <a:ext cx="1256980" cy="332510"/>
          </a:xfrm>
          <a:prstGeom prst="homePlate">
            <a:avLst>
              <a:gd name="adj" fmla="val 3928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t>グラフ表示</a:t>
            </a:r>
          </a:p>
        </p:txBody>
      </p:sp>
      <p:sp>
        <p:nvSpPr>
          <p:cNvPr id="9" name="四角形: 角を丸くする 8">
            <a:extLst>
              <a:ext uri="{FF2B5EF4-FFF2-40B4-BE49-F238E27FC236}">
                <a16:creationId xmlns:a16="http://schemas.microsoft.com/office/drawing/2014/main" id="{4F891637-DD33-3451-7813-82A9D2A33704}"/>
              </a:ext>
            </a:extLst>
          </p:cNvPr>
          <p:cNvSpPr/>
          <p:nvPr/>
        </p:nvSpPr>
        <p:spPr>
          <a:xfrm>
            <a:off x="1247702" y="1846902"/>
            <a:ext cx="6359598" cy="2209082"/>
          </a:xfrm>
          <a:prstGeom prst="roundRect">
            <a:avLst>
              <a:gd name="adj" fmla="val 4594"/>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0" name="四角形: 角を丸くする 9">
            <a:extLst>
              <a:ext uri="{FF2B5EF4-FFF2-40B4-BE49-F238E27FC236}">
                <a16:creationId xmlns:a16="http://schemas.microsoft.com/office/drawing/2014/main" id="{564725C1-F5FF-31EB-E88B-2A7C87911780}"/>
              </a:ext>
            </a:extLst>
          </p:cNvPr>
          <p:cNvSpPr/>
          <p:nvPr/>
        </p:nvSpPr>
        <p:spPr>
          <a:xfrm>
            <a:off x="1247702" y="4198001"/>
            <a:ext cx="6359598" cy="2369067"/>
          </a:xfrm>
          <a:prstGeom prst="roundRect">
            <a:avLst>
              <a:gd name="adj" fmla="val 4594"/>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Tree>
    <p:extLst>
      <p:ext uri="{BB962C8B-B14F-4D97-AF65-F5344CB8AC3E}">
        <p14:creationId xmlns:p14="http://schemas.microsoft.com/office/powerpoint/2010/main" val="1066223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図 11">
            <a:extLst>
              <a:ext uri="{FF2B5EF4-FFF2-40B4-BE49-F238E27FC236}">
                <a16:creationId xmlns:a16="http://schemas.microsoft.com/office/drawing/2014/main" id="{4BA0E655-15D5-7F28-D8A7-B7A6665E3E00}"/>
              </a:ext>
            </a:extLst>
          </p:cNvPr>
          <p:cNvPicPr>
            <a:picLocks noChangeAspect="1"/>
          </p:cNvPicPr>
          <p:nvPr/>
        </p:nvPicPr>
        <p:blipFill>
          <a:blip r:embed="rId3"/>
          <a:stretch>
            <a:fillRect/>
          </a:stretch>
        </p:blipFill>
        <p:spPr>
          <a:xfrm>
            <a:off x="671372" y="2703150"/>
            <a:ext cx="5944115" cy="3389670"/>
          </a:xfrm>
          <a:prstGeom prst="rect">
            <a:avLst/>
          </a:prstGeom>
        </p:spPr>
      </p:pic>
      <p:sp>
        <p:nvSpPr>
          <p:cNvPr id="2" name="タイトル 1">
            <a:extLst>
              <a:ext uri="{FF2B5EF4-FFF2-40B4-BE49-F238E27FC236}">
                <a16:creationId xmlns:a16="http://schemas.microsoft.com/office/drawing/2014/main" id="{D6B3AEB6-0B2F-26DA-5673-A2C24C1B0DB3}"/>
              </a:ext>
            </a:extLst>
          </p:cNvPr>
          <p:cNvSpPr>
            <a:spLocks noGrp="1"/>
          </p:cNvSpPr>
          <p:nvPr>
            <p:ph type="title"/>
          </p:nvPr>
        </p:nvSpPr>
        <p:spPr/>
        <p:txBody>
          <a:bodyPr/>
          <a:lstStyle/>
          <a:p>
            <a:r>
              <a:rPr lang="ja-JP" altLang="en-US" dirty="0"/>
              <a:t>確率予測資料とは？</a:t>
            </a:r>
            <a:endParaRPr kumimoji="1" lang="ja-JP" altLang="en-US" dirty="0"/>
          </a:p>
        </p:txBody>
      </p:sp>
      <p:sp>
        <p:nvSpPr>
          <p:cNvPr id="3" name="コンテンツ プレースホルダー 2">
            <a:extLst>
              <a:ext uri="{FF2B5EF4-FFF2-40B4-BE49-F238E27FC236}">
                <a16:creationId xmlns:a16="http://schemas.microsoft.com/office/drawing/2014/main" id="{10670FD3-3FBC-1E07-CFB0-0188FA812CA6}"/>
              </a:ext>
            </a:extLst>
          </p:cNvPr>
          <p:cNvSpPr>
            <a:spLocks noGrp="1"/>
          </p:cNvSpPr>
          <p:nvPr>
            <p:ph idx="1"/>
          </p:nvPr>
        </p:nvSpPr>
        <p:spPr/>
        <p:txBody>
          <a:bodyPr/>
          <a:lstStyle/>
          <a:p>
            <a:r>
              <a:rPr lang="en-US" altLang="ja-JP" dirty="0"/>
              <a:t>2 </a:t>
            </a:r>
            <a:r>
              <a:rPr lang="ja-JP" altLang="en-US" dirty="0"/>
              <a:t>週間気温予報、</a:t>
            </a:r>
            <a:r>
              <a:rPr lang="en-US" altLang="ja-JP" dirty="0"/>
              <a:t>1 </a:t>
            </a:r>
            <a:r>
              <a:rPr lang="ja-JP" altLang="en-US" dirty="0"/>
              <a:t>か月予報の基礎資料である数値予報の計算結果</a:t>
            </a:r>
            <a:endParaRPr lang="en-US" altLang="ja-JP" dirty="0">
              <a:latin typeface="+mn-ea"/>
            </a:endParaRPr>
          </a:p>
        </p:txBody>
      </p:sp>
      <p:sp>
        <p:nvSpPr>
          <p:cNvPr id="4" name="正方形/長方形 10">
            <a:extLst>
              <a:ext uri="{FF2B5EF4-FFF2-40B4-BE49-F238E27FC236}">
                <a16:creationId xmlns:a16="http://schemas.microsoft.com/office/drawing/2014/main" id="{777A962F-3BAD-55FF-B639-5B29D4EE3EDC}"/>
              </a:ext>
            </a:extLst>
          </p:cNvPr>
          <p:cNvSpPr/>
          <p:nvPr/>
        </p:nvSpPr>
        <p:spPr>
          <a:xfrm>
            <a:off x="250825" y="1170345"/>
            <a:ext cx="8642350" cy="1852815"/>
          </a:xfrm>
          <a:prstGeom prst="rect">
            <a:avLst/>
          </a:prstGeom>
          <a:ln>
            <a:noFill/>
          </a:ln>
        </p:spPr>
        <p:txBody>
          <a:bodyPr wrap="square" lIns="91440" tIns="45720" rIns="91440" bIns="4572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285750" indent="-285750">
              <a:lnSpc>
                <a:spcPct val="120000"/>
              </a:lnSpc>
              <a:buFont typeface="Arial" panose="020B0604020202020204" pitchFamily="34" charset="0"/>
              <a:buChar char="•"/>
            </a:pPr>
            <a:r>
              <a:rPr lang="ja-JP" altLang="en-US" sz="1600" dirty="0">
                <a:latin typeface="+mn-ea"/>
              </a:rPr>
              <a:t>気象の予測には不確定さがあり、予報期間が長くなるにつれて予測の不確定さも大きくなっていく。</a:t>
            </a:r>
            <a:endParaRPr lang="en-US" altLang="ja-JP" sz="1600" dirty="0">
              <a:latin typeface="+mn-ea"/>
            </a:endParaRPr>
          </a:p>
          <a:p>
            <a:pPr marL="285750" indent="-285750">
              <a:lnSpc>
                <a:spcPct val="120000"/>
              </a:lnSpc>
              <a:buFont typeface="Arial" panose="020B0604020202020204" pitchFamily="34" charset="0"/>
              <a:buChar char="•"/>
            </a:pPr>
            <a:r>
              <a:rPr lang="ja-JP" altLang="en-US" sz="1600" dirty="0">
                <a:latin typeface="+mn-ea"/>
              </a:rPr>
              <a:t>予報時間が長い</a:t>
            </a:r>
            <a:r>
              <a:rPr lang="en-US" altLang="ja-JP" sz="1600" dirty="0">
                <a:latin typeface="+mn-ea"/>
              </a:rPr>
              <a:t>2</a:t>
            </a:r>
            <a:r>
              <a:rPr lang="ja-JP" altLang="en-US" sz="1600" dirty="0">
                <a:latin typeface="+mn-ea"/>
              </a:rPr>
              <a:t>週間気温予報、</a:t>
            </a:r>
            <a:r>
              <a:rPr lang="en-US" altLang="ja-JP" sz="1600" dirty="0">
                <a:latin typeface="+mn-ea"/>
              </a:rPr>
              <a:t>1</a:t>
            </a:r>
            <a:r>
              <a:rPr lang="ja-JP" altLang="en-US" sz="1600" dirty="0">
                <a:latin typeface="+mn-ea"/>
              </a:rPr>
              <a:t>か月予報では、初期状態がわずかに異なる約</a:t>
            </a:r>
            <a:r>
              <a:rPr lang="en-US" altLang="ja-JP" sz="1600" dirty="0">
                <a:latin typeface="+mn-ea"/>
              </a:rPr>
              <a:t>50</a:t>
            </a:r>
            <a:r>
              <a:rPr lang="ja-JP" altLang="en-US" sz="1600" dirty="0">
                <a:latin typeface="+mn-ea"/>
              </a:rPr>
              <a:t>通りの数値予報を行い、その結果を統計的に処理することで、不確定さを考慮した確率的な予測を実施（アンサンブル予報）。</a:t>
            </a:r>
            <a:endParaRPr lang="en-US" altLang="ja-JP" sz="1600" dirty="0">
              <a:latin typeface="+mn-ea"/>
            </a:endParaRPr>
          </a:p>
          <a:p>
            <a:pPr marL="285750" indent="-285750">
              <a:lnSpc>
                <a:spcPct val="120000"/>
              </a:lnSpc>
              <a:buFont typeface="Arial" panose="020B0604020202020204" pitchFamily="34" charset="0"/>
              <a:buChar char="•"/>
            </a:pPr>
            <a:endParaRPr lang="ja-JP" altLang="en-US" sz="1600" dirty="0">
              <a:latin typeface="+mn-ea"/>
            </a:endParaRPr>
          </a:p>
        </p:txBody>
      </p:sp>
      <p:sp>
        <p:nvSpPr>
          <p:cNvPr id="6" name="テキスト ボックス 5">
            <a:extLst>
              <a:ext uri="{FF2B5EF4-FFF2-40B4-BE49-F238E27FC236}">
                <a16:creationId xmlns:a16="http://schemas.microsoft.com/office/drawing/2014/main" id="{EE332FBB-64F8-9330-C262-FF1324E378FD}"/>
              </a:ext>
            </a:extLst>
          </p:cNvPr>
          <p:cNvSpPr txBox="1"/>
          <p:nvPr/>
        </p:nvSpPr>
        <p:spPr>
          <a:xfrm>
            <a:off x="5296570" y="3292682"/>
            <a:ext cx="993742" cy="488201"/>
          </a:xfrm>
          <a:prstGeom prst="rect">
            <a:avLst/>
          </a:prstGeom>
          <a:solidFill>
            <a:schemeClr val="bg1"/>
          </a:solidFill>
          <a:ln>
            <a:solidFill>
              <a:schemeClr val="accent1">
                <a:shade val="50000"/>
              </a:schemeClr>
            </a:solidFill>
          </a:ln>
        </p:spPr>
        <p:txBody>
          <a:bodyPr wrap="square" tIns="72000" rtlCol="0">
            <a:spAutoFit/>
          </a:bodyPr>
          <a:lstStyle/>
          <a:p>
            <a:pPr algn="ctr"/>
            <a:r>
              <a:rPr lang="ja-JP" altLang="en-US" sz="1200" dirty="0"/>
              <a:t>ばらつき大</a:t>
            </a:r>
            <a:endParaRPr lang="en-US" altLang="ja-JP" sz="1200" dirty="0"/>
          </a:p>
          <a:p>
            <a:pPr algn="ctr"/>
            <a:r>
              <a:rPr lang="ja-JP" altLang="en-US" sz="1200" dirty="0"/>
              <a:t>（信頼小）</a:t>
            </a:r>
          </a:p>
        </p:txBody>
      </p:sp>
      <p:sp>
        <p:nvSpPr>
          <p:cNvPr id="7" name="テキスト ボックス 6">
            <a:extLst>
              <a:ext uri="{FF2B5EF4-FFF2-40B4-BE49-F238E27FC236}">
                <a16:creationId xmlns:a16="http://schemas.microsoft.com/office/drawing/2014/main" id="{DC49198C-5521-6D9F-2A9D-66597B17308C}"/>
              </a:ext>
            </a:extLst>
          </p:cNvPr>
          <p:cNvSpPr txBox="1"/>
          <p:nvPr/>
        </p:nvSpPr>
        <p:spPr>
          <a:xfrm>
            <a:off x="3372741" y="4693693"/>
            <a:ext cx="993742" cy="488201"/>
          </a:xfrm>
          <a:prstGeom prst="rect">
            <a:avLst/>
          </a:prstGeom>
          <a:solidFill>
            <a:schemeClr val="bg1"/>
          </a:solidFill>
          <a:ln>
            <a:solidFill>
              <a:schemeClr val="accent1">
                <a:shade val="50000"/>
              </a:schemeClr>
            </a:solidFill>
          </a:ln>
        </p:spPr>
        <p:txBody>
          <a:bodyPr wrap="square" tIns="72000" rtlCol="0">
            <a:spAutoFit/>
          </a:bodyPr>
          <a:lstStyle/>
          <a:p>
            <a:pPr algn="ctr"/>
            <a:r>
              <a:rPr lang="ja-JP" altLang="en-US" sz="1200" dirty="0"/>
              <a:t>ばらつき小</a:t>
            </a:r>
            <a:endParaRPr lang="en-US" altLang="ja-JP" sz="1200" dirty="0"/>
          </a:p>
          <a:p>
            <a:pPr algn="ctr"/>
            <a:r>
              <a:rPr lang="ja-JP" altLang="en-US" sz="1200" dirty="0"/>
              <a:t>（信頼大）</a:t>
            </a:r>
          </a:p>
        </p:txBody>
      </p:sp>
      <p:sp>
        <p:nvSpPr>
          <p:cNvPr id="8" name="テキスト ボックス 7">
            <a:extLst>
              <a:ext uri="{FF2B5EF4-FFF2-40B4-BE49-F238E27FC236}">
                <a16:creationId xmlns:a16="http://schemas.microsoft.com/office/drawing/2014/main" id="{86FEF16D-F2C5-A23C-3F3E-0046E014044C}"/>
              </a:ext>
            </a:extLst>
          </p:cNvPr>
          <p:cNvSpPr txBox="1"/>
          <p:nvPr/>
        </p:nvSpPr>
        <p:spPr>
          <a:xfrm>
            <a:off x="1925842" y="6172496"/>
            <a:ext cx="4585446" cy="338554"/>
          </a:xfrm>
          <a:prstGeom prst="rect">
            <a:avLst/>
          </a:prstGeom>
          <a:noFill/>
        </p:spPr>
        <p:txBody>
          <a:bodyPr wrap="square">
            <a:spAutoFit/>
          </a:bodyPr>
          <a:lstStyle/>
          <a:p>
            <a:r>
              <a:rPr lang="ja-JP" altLang="en-US" sz="1600" b="1" dirty="0"/>
              <a:t>１か月予報におけるアンサンブル予報の例</a:t>
            </a:r>
          </a:p>
        </p:txBody>
      </p:sp>
      <p:cxnSp>
        <p:nvCxnSpPr>
          <p:cNvPr id="9" name="直線矢印コネクタ 8">
            <a:extLst>
              <a:ext uri="{FF2B5EF4-FFF2-40B4-BE49-F238E27FC236}">
                <a16:creationId xmlns:a16="http://schemas.microsoft.com/office/drawing/2014/main" id="{40E61889-61DE-0DBD-730A-5E58C40F6881}"/>
              </a:ext>
            </a:extLst>
          </p:cNvPr>
          <p:cNvCxnSpPr>
            <a:cxnSpLocks/>
          </p:cNvCxnSpPr>
          <p:nvPr/>
        </p:nvCxnSpPr>
        <p:spPr>
          <a:xfrm flipH="1">
            <a:off x="6164135" y="4150953"/>
            <a:ext cx="460112" cy="376518"/>
          </a:xfrm>
          <a:prstGeom prst="straightConnector1">
            <a:avLst/>
          </a:prstGeom>
          <a:ln w="254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E74DF23C-D4C6-E812-4DF2-65FFD10826BD}"/>
              </a:ext>
            </a:extLst>
          </p:cNvPr>
          <p:cNvSpPr txBox="1"/>
          <p:nvPr/>
        </p:nvSpPr>
        <p:spPr>
          <a:xfrm>
            <a:off x="6511292" y="3788807"/>
            <a:ext cx="2115253" cy="523220"/>
          </a:xfrm>
          <a:prstGeom prst="rect">
            <a:avLst/>
          </a:prstGeom>
          <a:noFill/>
        </p:spPr>
        <p:txBody>
          <a:bodyPr wrap="square" rtlCol="0">
            <a:spAutoFit/>
          </a:bodyPr>
          <a:lstStyle/>
          <a:p>
            <a:pPr algn="ctr"/>
            <a:r>
              <a:rPr lang="ja-JP" altLang="en-US" sz="1400" dirty="0">
                <a:solidFill>
                  <a:schemeClr val="tx2"/>
                </a:solidFill>
              </a:rPr>
              <a:t>約</a:t>
            </a:r>
            <a:r>
              <a:rPr lang="en-US" altLang="ja-JP" sz="1400" dirty="0">
                <a:solidFill>
                  <a:schemeClr val="tx2"/>
                </a:solidFill>
              </a:rPr>
              <a:t>50</a:t>
            </a:r>
            <a:r>
              <a:rPr lang="ja-JP" altLang="en-US" sz="1400" dirty="0">
                <a:solidFill>
                  <a:schemeClr val="tx2"/>
                </a:solidFill>
              </a:rPr>
              <a:t>通りの予測の平均</a:t>
            </a:r>
            <a:endParaRPr lang="en-US" altLang="ja-JP" sz="1400" dirty="0">
              <a:solidFill>
                <a:schemeClr val="tx2"/>
              </a:solidFill>
            </a:endParaRPr>
          </a:p>
          <a:p>
            <a:pPr algn="ctr"/>
            <a:r>
              <a:rPr lang="ja-JP" altLang="en-US" sz="1400" dirty="0">
                <a:solidFill>
                  <a:schemeClr val="tx2"/>
                </a:solidFill>
              </a:rPr>
              <a:t>＝アンサンブル平均</a:t>
            </a:r>
          </a:p>
        </p:txBody>
      </p:sp>
      <p:sp>
        <p:nvSpPr>
          <p:cNvPr id="11" name="スライド番号プレースホルダー 10">
            <a:extLst>
              <a:ext uri="{FF2B5EF4-FFF2-40B4-BE49-F238E27FC236}">
                <a16:creationId xmlns:a16="http://schemas.microsoft.com/office/drawing/2014/main" id="{94C3DF6F-869F-93BF-E929-1B0C42F3798A}"/>
              </a:ext>
            </a:extLst>
          </p:cNvPr>
          <p:cNvSpPr>
            <a:spLocks noGrp="1"/>
          </p:cNvSpPr>
          <p:nvPr>
            <p:ph type="sldNum" sz="quarter" idx="12"/>
          </p:nvPr>
        </p:nvSpPr>
        <p:spPr/>
        <p:txBody>
          <a:bodyPr/>
          <a:lstStyle/>
          <a:p>
            <a:fld id="{5F9F9204-6EDA-41A6-81B7-5E8491083ADF}" type="slidenum">
              <a:rPr kumimoji="1" lang="ja-JP" altLang="en-US" smtClean="0"/>
              <a:t>20</a:t>
            </a:fld>
            <a:endParaRPr kumimoji="1" lang="ja-JP" altLang="en-US" dirty="0"/>
          </a:p>
        </p:txBody>
      </p:sp>
    </p:spTree>
    <p:extLst>
      <p:ext uri="{BB962C8B-B14F-4D97-AF65-F5344CB8AC3E}">
        <p14:creationId xmlns:p14="http://schemas.microsoft.com/office/powerpoint/2010/main" val="15396546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図 18" descr="グラフィカル ユーザー インターフェイス, テキスト, アプリケーション, メール&#10;&#10;AI 生成コンテンツは誤りを含む可能性があります。">
            <a:extLst>
              <a:ext uri="{FF2B5EF4-FFF2-40B4-BE49-F238E27FC236}">
                <a16:creationId xmlns:a16="http://schemas.microsoft.com/office/drawing/2014/main" id="{11E0D226-1685-EA6B-00B6-AC99D71F6872}"/>
              </a:ext>
            </a:extLst>
          </p:cNvPr>
          <p:cNvPicPr>
            <a:picLocks noChangeAspect="1"/>
          </p:cNvPicPr>
          <p:nvPr/>
        </p:nvPicPr>
        <p:blipFill>
          <a:blip r:embed="rId3"/>
          <a:stretch>
            <a:fillRect/>
          </a:stretch>
        </p:blipFill>
        <p:spPr>
          <a:xfrm>
            <a:off x="912893" y="1272973"/>
            <a:ext cx="7039867" cy="4747066"/>
          </a:xfrm>
          <a:prstGeom prst="rect">
            <a:avLst/>
          </a:prstGeom>
        </p:spPr>
      </p:pic>
      <p:sp>
        <p:nvSpPr>
          <p:cNvPr id="2" name="タイトル 1">
            <a:extLst>
              <a:ext uri="{FF2B5EF4-FFF2-40B4-BE49-F238E27FC236}">
                <a16:creationId xmlns:a16="http://schemas.microsoft.com/office/drawing/2014/main" id="{4C79E020-630F-795E-D3F4-67BF5A3C0501}"/>
              </a:ext>
            </a:extLst>
          </p:cNvPr>
          <p:cNvSpPr>
            <a:spLocks noGrp="1"/>
          </p:cNvSpPr>
          <p:nvPr>
            <p:ph type="title"/>
          </p:nvPr>
        </p:nvSpPr>
        <p:spPr/>
        <p:txBody>
          <a:bodyPr/>
          <a:lstStyle/>
          <a:p>
            <a:r>
              <a:rPr kumimoji="1" lang="ja-JP" altLang="en-US" dirty="0"/>
              <a:t>確率予測資料提供ページ</a:t>
            </a:r>
          </a:p>
        </p:txBody>
      </p:sp>
      <p:sp>
        <p:nvSpPr>
          <p:cNvPr id="18" name="コンテンツ プレースホルダー 17">
            <a:extLst>
              <a:ext uri="{FF2B5EF4-FFF2-40B4-BE49-F238E27FC236}">
                <a16:creationId xmlns:a16="http://schemas.microsoft.com/office/drawing/2014/main" id="{C6817FA9-6477-8FAB-1B95-F4852D31B819}"/>
              </a:ext>
            </a:extLst>
          </p:cNvPr>
          <p:cNvSpPr>
            <a:spLocks noGrp="1"/>
          </p:cNvSpPr>
          <p:nvPr>
            <p:ph idx="1"/>
          </p:nvPr>
        </p:nvSpPr>
        <p:spPr/>
        <p:txBody>
          <a:bodyPr>
            <a:normAutofit/>
          </a:bodyPr>
          <a:lstStyle/>
          <a:p>
            <a:r>
              <a:rPr lang="en-US" altLang="ja-JP" dirty="0"/>
              <a:t>2</a:t>
            </a:r>
            <a:r>
              <a:rPr lang="ja-JP" altLang="en-US" dirty="0"/>
              <a:t>週間気温予報、</a:t>
            </a:r>
            <a:r>
              <a:rPr lang="en-US" altLang="ja-JP" dirty="0"/>
              <a:t>1</a:t>
            </a:r>
            <a:r>
              <a:rPr lang="ja-JP" altLang="en-US" dirty="0"/>
              <a:t>か月予報の最新データ等（</a:t>
            </a:r>
            <a:r>
              <a:rPr lang="en-US" altLang="ja-JP" dirty="0"/>
              <a:t>CSV</a:t>
            </a:r>
            <a:r>
              <a:rPr lang="ja-JP" altLang="en-US" dirty="0"/>
              <a:t>形式）が取得可能</a:t>
            </a:r>
          </a:p>
        </p:txBody>
      </p:sp>
      <p:sp>
        <p:nvSpPr>
          <p:cNvPr id="4" name="テキスト ボックス 3">
            <a:extLst>
              <a:ext uri="{FF2B5EF4-FFF2-40B4-BE49-F238E27FC236}">
                <a16:creationId xmlns:a16="http://schemas.microsoft.com/office/drawing/2014/main" id="{39EADC8D-16C1-105D-AEBA-5FBD1169171E}"/>
              </a:ext>
            </a:extLst>
          </p:cNvPr>
          <p:cNvSpPr txBox="1"/>
          <p:nvPr/>
        </p:nvSpPr>
        <p:spPr>
          <a:xfrm>
            <a:off x="1392201" y="6048325"/>
            <a:ext cx="5942826" cy="461665"/>
          </a:xfrm>
          <a:prstGeom prst="rect">
            <a:avLst/>
          </a:prstGeom>
          <a:noFill/>
        </p:spPr>
        <p:txBody>
          <a:bodyPr wrap="square">
            <a:spAutoFit/>
          </a:bodyPr>
          <a:lstStyle/>
          <a:p>
            <a:r>
              <a:rPr lang="en-US" altLang="ja-JP" sz="1200" dirty="0"/>
              <a:t>2</a:t>
            </a:r>
            <a:r>
              <a:rPr lang="ja-JP" altLang="en-US" sz="1200" dirty="0"/>
              <a:t>週間気温予報：</a:t>
            </a:r>
            <a:r>
              <a:rPr lang="en-US" altLang="ja-JP" sz="1200" dirty="0"/>
              <a:t>https://www.data.jma.go.jp/risk/probability/guidance/csv_k2w.php</a:t>
            </a:r>
          </a:p>
          <a:p>
            <a:r>
              <a:rPr lang="en-US" altLang="ja-JP" sz="1200" dirty="0"/>
              <a:t>1</a:t>
            </a:r>
            <a:r>
              <a:rPr lang="ja-JP" altLang="en-US" sz="1200" dirty="0"/>
              <a:t>か月予報：https://www.data.jma.go.jp/risk/probability/guidance/csv_k1.php</a:t>
            </a:r>
          </a:p>
        </p:txBody>
      </p:sp>
      <p:sp>
        <p:nvSpPr>
          <p:cNvPr id="6" name="四角形: 角を丸くする 5">
            <a:extLst>
              <a:ext uri="{FF2B5EF4-FFF2-40B4-BE49-F238E27FC236}">
                <a16:creationId xmlns:a16="http://schemas.microsoft.com/office/drawing/2014/main" id="{C38ECFE5-5990-1669-8C87-079463E0C1AB}"/>
              </a:ext>
            </a:extLst>
          </p:cNvPr>
          <p:cNvSpPr/>
          <p:nvPr/>
        </p:nvSpPr>
        <p:spPr>
          <a:xfrm>
            <a:off x="953715" y="2050053"/>
            <a:ext cx="5298442" cy="443925"/>
          </a:xfrm>
          <a:prstGeom prst="roundRect">
            <a:avLst>
              <a:gd name="adj" fmla="val 4594"/>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 name="矢印: 五方向 6">
            <a:extLst>
              <a:ext uri="{FF2B5EF4-FFF2-40B4-BE49-F238E27FC236}">
                <a16:creationId xmlns:a16="http://schemas.microsoft.com/office/drawing/2014/main" id="{49A62748-3800-91BD-8519-F41FEA56E90A}"/>
              </a:ext>
            </a:extLst>
          </p:cNvPr>
          <p:cNvSpPr/>
          <p:nvPr/>
        </p:nvSpPr>
        <p:spPr>
          <a:xfrm flipH="1">
            <a:off x="6252157" y="2089671"/>
            <a:ext cx="1937173" cy="332510"/>
          </a:xfrm>
          <a:prstGeom prst="homePlate">
            <a:avLst>
              <a:gd name="adj" fmla="val 3928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t>①地域・地点を選択</a:t>
            </a:r>
          </a:p>
        </p:txBody>
      </p:sp>
      <p:sp>
        <p:nvSpPr>
          <p:cNvPr id="8" name="四角形: 角を丸くする 7">
            <a:extLst>
              <a:ext uri="{FF2B5EF4-FFF2-40B4-BE49-F238E27FC236}">
                <a16:creationId xmlns:a16="http://schemas.microsoft.com/office/drawing/2014/main" id="{B42BDBC3-8E04-BA17-509F-D386E1E17E4C}"/>
              </a:ext>
            </a:extLst>
          </p:cNvPr>
          <p:cNvSpPr/>
          <p:nvPr/>
        </p:nvSpPr>
        <p:spPr>
          <a:xfrm>
            <a:off x="1190285" y="2910837"/>
            <a:ext cx="1350784" cy="288000"/>
          </a:xfrm>
          <a:prstGeom prst="roundRect">
            <a:avLst>
              <a:gd name="adj" fmla="val 4594"/>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9" name="矢印: 五方向 8">
            <a:extLst>
              <a:ext uri="{FF2B5EF4-FFF2-40B4-BE49-F238E27FC236}">
                <a16:creationId xmlns:a16="http://schemas.microsoft.com/office/drawing/2014/main" id="{8EBEFA05-7E65-4198-E2EA-2D4F2613EF55}"/>
              </a:ext>
            </a:extLst>
          </p:cNvPr>
          <p:cNvSpPr/>
          <p:nvPr/>
        </p:nvSpPr>
        <p:spPr>
          <a:xfrm flipH="1">
            <a:off x="2540053" y="2885590"/>
            <a:ext cx="1514811" cy="332510"/>
          </a:xfrm>
          <a:prstGeom prst="homePlate">
            <a:avLst>
              <a:gd name="adj" fmla="val 3928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t>②初期値を選択</a:t>
            </a:r>
          </a:p>
        </p:txBody>
      </p:sp>
      <p:sp>
        <p:nvSpPr>
          <p:cNvPr id="10" name="四角形: 角を丸くする 9">
            <a:extLst>
              <a:ext uri="{FF2B5EF4-FFF2-40B4-BE49-F238E27FC236}">
                <a16:creationId xmlns:a16="http://schemas.microsoft.com/office/drawing/2014/main" id="{301CBE5E-60EB-8CC3-05F2-4ACF506182F9}"/>
              </a:ext>
            </a:extLst>
          </p:cNvPr>
          <p:cNvSpPr/>
          <p:nvPr/>
        </p:nvSpPr>
        <p:spPr>
          <a:xfrm>
            <a:off x="1181676" y="3201941"/>
            <a:ext cx="691523" cy="332510"/>
          </a:xfrm>
          <a:prstGeom prst="roundRect">
            <a:avLst>
              <a:gd name="adj" fmla="val 4594"/>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1" name="矢印: 五方向 10">
            <a:extLst>
              <a:ext uri="{FF2B5EF4-FFF2-40B4-BE49-F238E27FC236}">
                <a16:creationId xmlns:a16="http://schemas.microsoft.com/office/drawing/2014/main" id="{DE66BF1F-AE97-729E-D627-557DA617D863}"/>
              </a:ext>
            </a:extLst>
          </p:cNvPr>
          <p:cNvSpPr/>
          <p:nvPr/>
        </p:nvSpPr>
        <p:spPr>
          <a:xfrm flipH="1">
            <a:off x="1942839" y="3238317"/>
            <a:ext cx="2725269" cy="332510"/>
          </a:xfrm>
          <a:prstGeom prst="homePlate">
            <a:avLst>
              <a:gd name="adj" fmla="val 3928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t>③最新予報データをダウンロード</a:t>
            </a:r>
          </a:p>
        </p:txBody>
      </p:sp>
      <p:sp>
        <p:nvSpPr>
          <p:cNvPr id="12" name="四角形: 角を丸くする 11">
            <a:extLst>
              <a:ext uri="{FF2B5EF4-FFF2-40B4-BE49-F238E27FC236}">
                <a16:creationId xmlns:a16="http://schemas.microsoft.com/office/drawing/2014/main" id="{278B677C-0FFE-0859-A9F6-C8FF760916DB}"/>
              </a:ext>
            </a:extLst>
          </p:cNvPr>
          <p:cNvSpPr/>
          <p:nvPr/>
        </p:nvSpPr>
        <p:spPr>
          <a:xfrm>
            <a:off x="1392201" y="3780616"/>
            <a:ext cx="5942826" cy="777804"/>
          </a:xfrm>
          <a:prstGeom prst="roundRect">
            <a:avLst>
              <a:gd name="adj" fmla="val 4594"/>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4" name="四角形: 角を丸くする 13">
            <a:extLst>
              <a:ext uri="{FF2B5EF4-FFF2-40B4-BE49-F238E27FC236}">
                <a16:creationId xmlns:a16="http://schemas.microsoft.com/office/drawing/2014/main" id="{4F8E37BB-16E8-2985-902E-196EBE127540}"/>
              </a:ext>
            </a:extLst>
          </p:cNvPr>
          <p:cNvSpPr/>
          <p:nvPr/>
        </p:nvSpPr>
        <p:spPr>
          <a:xfrm>
            <a:off x="1147557" y="5095089"/>
            <a:ext cx="759759" cy="293823"/>
          </a:xfrm>
          <a:prstGeom prst="roundRect">
            <a:avLst>
              <a:gd name="adj" fmla="val 4594"/>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6" name="矢印: 五方向 15">
            <a:extLst>
              <a:ext uri="{FF2B5EF4-FFF2-40B4-BE49-F238E27FC236}">
                <a16:creationId xmlns:a16="http://schemas.microsoft.com/office/drawing/2014/main" id="{3CC2CB7B-296F-F356-9AD9-445F889DB1BB}"/>
              </a:ext>
            </a:extLst>
          </p:cNvPr>
          <p:cNvSpPr/>
          <p:nvPr/>
        </p:nvSpPr>
        <p:spPr>
          <a:xfrm flipH="1">
            <a:off x="1942839" y="5095088"/>
            <a:ext cx="2629161" cy="293823"/>
          </a:xfrm>
          <a:prstGeom prst="homePlate">
            <a:avLst>
              <a:gd name="adj" fmla="val 3928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t>③再予報データをダウンロード</a:t>
            </a:r>
          </a:p>
        </p:txBody>
      </p:sp>
      <p:sp>
        <p:nvSpPr>
          <p:cNvPr id="3" name="四角形: 角を丸くする 2">
            <a:extLst>
              <a:ext uri="{FF2B5EF4-FFF2-40B4-BE49-F238E27FC236}">
                <a16:creationId xmlns:a16="http://schemas.microsoft.com/office/drawing/2014/main" id="{266D8074-E93B-7EDE-25F5-65527E2989DE}"/>
              </a:ext>
            </a:extLst>
          </p:cNvPr>
          <p:cNvSpPr/>
          <p:nvPr/>
        </p:nvSpPr>
        <p:spPr>
          <a:xfrm>
            <a:off x="5025148" y="2824561"/>
            <a:ext cx="2801308" cy="73006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bg1"/>
                </a:solidFill>
              </a:rPr>
              <a:t>最新のデータ（</a:t>
            </a:r>
            <a:r>
              <a:rPr lang="en-US" altLang="ja-JP" sz="1200" dirty="0">
                <a:solidFill>
                  <a:schemeClr val="bg1"/>
                </a:solidFill>
              </a:rPr>
              <a:t>2</a:t>
            </a:r>
            <a:r>
              <a:rPr lang="ja-JP" altLang="en-US" sz="1200" dirty="0">
                <a:solidFill>
                  <a:schemeClr val="bg1"/>
                </a:solidFill>
              </a:rPr>
              <a:t>週間気温予報用）をグラフ 表示できる</a:t>
            </a:r>
            <a:r>
              <a:rPr lang="en-US" altLang="ja-JP" sz="1200" dirty="0">
                <a:solidFill>
                  <a:schemeClr val="bg1"/>
                </a:solidFill>
              </a:rPr>
              <a:t>Excel</a:t>
            </a:r>
            <a:r>
              <a:rPr lang="ja-JP" altLang="en-US" sz="1200" dirty="0">
                <a:solidFill>
                  <a:schemeClr val="bg1"/>
                </a:solidFill>
              </a:rPr>
              <a:t>用のワークブックを提供</a:t>
            </a:r>
            <a:endParaRPr lang="en-US" altLang="ja-JP" sz="1200" dirty="0">
              <a:solidFill>
                <a:schemeClr val="bg1"/>
              </a:solidFill>
            </a:endParaRPr>
          </a:p>
        </p:txBody>
      </p:sp>
      <p:sp>
        <p:nvSpPr>
          <p:cNvPr id="13" name="二等辺三角形 12">
            <a:extLst>
              <a:ext uri="{FF2B5EF4-FFF2-40B4-BE49-F238E27FC236}">
                <a16:creationId xmlns:a16="http://schemas.microsoft.com/office/drawing/2014/main" id="{70B865BB-C9AE-CC6A-B458-66F8330CEF33}"/>
              </a:ext>
            </a:extLst>
          </p:cNvPr>
          <p:cNvSpPr/>
          <p:nvPr/>
        </p:nvSpPr>
        <p:spPr>
          <a:xfrm rot="10800000">
            <a:off x="6442326" y="3522869"/>
            <a:ext cx="180024" cy="285712"/>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5" name="スライド番号プレースホルダー 14">
            <a:extLst>
              <a:ext uri="{FF2B5EF4-FFF2-40B4-BE49-F238E27FC236}">
                <a16:creationId xmlns:a16="http://schemas.microsoft.com/office/drawing/2014/main" id="{A6CA0F4E-C7B9-ED9B-A7A6-7FE8A8E784FC}"/>
              </a:ext>
            </a:extLst>
          </p:cNvPr>
          <p:cNvSpPr>
            <a:spLocks noGrp="1"/>
          </p:cNvSpPr>
          <p:nvPr>
            <p:ph type="sldNum" sz="quarter" idx="12"/>
          </p:nvPr>
        </p:nvSpPr>
        <p:spPr/>
        <p:txBody>
          <a:bodyPr/>
          <a:lstStyle/>
          <a:p>
            <a:fld id="{5F9F9204-6EDA-41A6-81B7-5E8491083ADF}" type="slidenum">
              <a:rPr kumimoji="1" lang="ja-JP" altLang="en-US" smtClean="0"/>
              <a:t>21</a:t>
            </a:fld>
            <a:endParaRPr kumimoji="1" lang="ja-JP" altLang="en-US" dirty="0"/>
          </a:p>
        </p:txBody>
      </p:sp>
    </p:spTree>
    <p:extLst>
      <p:ext uri="{BB962C8B-B14F-4D97-AF65-F5344CB8AC3E}">
        <p14:creationId xmlns:p14="http://schemas.microsoft.com/office/powerpoint/2010/main" val="39175042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785180-F812-A6E0-15B4-B863D5515C85}"/>
              </a:ext>
            </a:extLst>
          </p:cNvPr>
          <p:cNvSpPr>
            <a:spLocks noGrp="1"/>
          </p:cNvSpPr>
          <p:nvPr>
            <p:ph type="title"/>
          </p:nvPr>
        </p:nvSpPr>
        <p:spPr/>
        <p:txBody>
          <a:bodyPr/>
          <a:lstStyle/>
          <a:p>
            <a:r>
              <a:rPr kumimoji="1" lang="ja-JP" altLang="en-US" dirty="0"/>
              <a:t>確率予測資料</a:t>
            </a:r>
            <a:r>
              <a:rPr kumimoji="1" lang="en-US" altLang="ja-JP" dirty="0"/>
              <a:t>CSV</a:t>
            </a:r>
            <a:r>
              <a:rPr kumimoji="1" lang="ja-JP" altLang="en-US" dirty="0"/>
              <a:t>ファイル形式：</a:t>
            </a:r>
            <a:r>
              <a:rPr lang="en-US" altLang="ja-JP" sz="2400" dirty="0"/>
              <a:t> 2</a:t>
            </a:r>
            <a:r>
              <a:rPr lang="ja-JP" altLang="en-US" sz="2400" dirty="0"/>
              <a:t>週間気温予報</a:t>
            </a:r>
            <a:endParaRPr kumimoji="1" lang="ja-JP" altLang="en-US" dirty="0"/>
          </a:p>
        </p:txBody>
      </p:sp>
      <p:graphicFrame>
        <p:nvGraphicFramePr>
          <p:cNvPr id="17" name="表 5">
            <a:extLst>
              <a:ext uri="{FF2B5EF4-FFF2-40B4-BE49-F238E27FC236}">
                <a16:creationId xmlns:a16="http://schemas.microsoft.com/office/drawing/2014/main" id="{05A656B7-B528-D390-CD04-64F6B3D7929C}"/>
              </a:ext>
            </a:extLst>
          </p:cNvPr>
          <p:cNvGraphicFramePr>
            <a:graphicFrameLocks noGrp="1"/>
          </p:cNvGraphicFramePr>
          <p:nvPr>
            <p:extLst>
              <p:ext uri="{D42A27DB-BD31-4B8C-83A1-F6EECF244321}">
                <p14:modId xmlns:p14="http://schemas.microsoft.com/office/powerpoint/2010/main" val="3198983738"/>
              </p:ext>
            </p:extLst>
          </p:nvPr>
        </p:nvGraphicFramePr>
        <p:xfrm>
          <a:off x="3321724" y="4530566"/>
          <a:ext cx="5436000" cy="2113712"/>
        </p:xfrm>
        <a:graphic>
          <a:graphicData uri="http://schemas.openxmlformats.org/drawingml/2006/table">
            <a:tbl>
              <a:tblPr firstRow="1" bandRow="1">
                <a:tableStyleId>{5C22544A-7EE6-4342-B048-85BDC9FD1C3A}</a:tableStyleId>
              </a:tblPr>
              <a:tblGrid>
                <a:gridCol w="763601">
                  <a:extLst>
                    <a:ext uri="{9D8B030D-6E8A-4147-A177-3AD203B41FA5}">
                      <a16:colId xmlns:a16="http://schemas.microsoft.com/office/drawing/2014/main" val="22310263"/>
                    </a:ext>
                  </a:extLst>
                </a:gridCol>
                <a:gridCol w="4144213">
                  <a:extLst>
                    <a:ext uri="{9D8B030D-6E8A-4147-A177-3AD203B41FA5}">
                      <a16:colId xmlns:a16="http://schemas.microsoft.com/office/drawing/2014/main" val="230675405"/>
                    </a:ext>
                  </a:extLst>
                </a:gridCol>
                <a:gridCol w="528186">
                  <a:extLst>
                    <a:ext uri="{9D8B030D-6E8A-4147-A177-3AD203B41FA5}">
                      <a16:colId xmlns:a16="http://schemas.microsoft.com/office/drawing/2014/main" val="3772934908"/>
                    </a:ext>
                  </a:extLst>
                </a:gridCol>
              </a:tblGrid>
              <a:tr h="83454">
                <a:tc>
                  <a:txBody>
                    <a:bodyPr/>
                    <a:lstStyle/>
                    <a:p>
                      <a:pPr algn="ctr"/>
                      <a:r>
                        <a:rPr lang="ja-JP" altLang="en-US" sz="800" dirty="0"/>
                        <a:t>カラム</a:t>
                      </a:r>
                    </a:p>
                  </a:txBody>
                  <a:tcPr marL="45068" marR="45068" marT="22534" marB="22534" anchor="ctr">
                    <a:solidFill>
                      <a:schemeClr val="tx2"/>
                    </a:solidFill>
                  </a:tcPr>
                </a:tc>
                <a:tc>
                  <a:txBody>
                    <a:bodyPr/>
                    <a:lstStyle/>
                    <a:p>
                      <a:pPr algn="ctr"/>
                      <a:r>
                        <a:rPr lang="ja-JP" altLang="en-US" sz="800" dirty="0"/>
                        <a:t>要素</a:t>
                      </a:r>
                    </a:p>
                  </a:txBody>
                  <a:tcPr marL="45068" marR="45068" marT="22534" marB="22534" anchor="ctr">
                    <a:solidFill>
                      <a:schemeClr val="tx2"/>
                    </a:solidFill>
                  </a:tcPr>
                </a:tc>
                <a:tc>
                  <a:txBody>
                    <a:bodyPr/>
                    <a:lstStyle/>
                    <a:p>
                      <a:pPr algn="ctr"/>
                      <a:r>
                        <a:rPr lang="ja-JP" altLang="en-US" sz="800" dirty="0"/>
                        <a:t>単位</a:t>
                      </a:r>
                    </a:p>
                  </a:txBody>
                  <a:tcPr marL="45068" marR="45068" marT="22534" marB="22534" anchor="ctr">
                    <a:solidFill>
                      <a:schemeClr val="tx2"/>
                    </a:solidFill>
                  </a:tcPr>
                </a:tc>
                <a:extLst>
                  <a:ext uri="{0D108BD9-81ED-4DB2-BD59-A6C34878D82A}">
                    <a16:rowId xmlns:a16="http://schemas.microsoft.com/office/drawing/2014/main" val="2227192188"/>
                  </a:ext>
                </a:extLst>
              </a:tr>
              <a:tr h="216000">
                <a:tc>
                  <a:txBody>
                    <a:bodyPr/>
                    <a:lstStyle/>
                    <a:p>
                      <a:pPr algn="ctr"/>
                      <a:r>
                        <a:rPr lang="en-US" altLang="ja-JP" sz="800" dirty="0"/>
                        <a:t>9</a:t>
                      </a:r>
                    </a:p>
                  </a:txBody>
                  <a:tcPr marL="45068" marR="45068" marT="22534" marB="22534" anchor="ctr">
                    <a:noFill/>
                  </a:tcPr>
                </a:tc>
                <a:tc>
                  <a:txBody>
                    <a:bodyPr/>
                    <a:lstStyle/>
                    <a:p>
                      <a:r>
                        <a:rPr lang="ja-JP" altLang="en-US" sz="800" dirty="0"/>
                        <a:t>予報対象要素を表す番号　日平均気温：</a:t>
                      </a:r>
                      <a:r>
                        <a:rPr lang="en-US" altLang="ja-JP" sz="800" dirty="0"/>
                        <a:t>1</a:t>
                      </a:r>
                      <a:r>
                        <a:rPr lang="ja-JP" altLang="en-US" sz="800" dirty="0"/>
                        <a:t>　日最高気温：</a:t>
                      </a:r>
                      <a:r>
                        <a:rPr lang="en-US" altLang="ja-JP" sz="800" dirty="0"/>
                        <a:t>2</a:t>
                      </a:r>
                      <a:r>
                        <a:rPr lang="ja-JP" altLang="en-US" sz="800" dirty="0"/>
                        <a:t>　日最低気温：</a:t>
                      </a:r>
                      <a:r>
                        <a:rPr lang="en-US" altLang="ja-JP" sz="800" dirty="0"/>
                        <a:t>3</a:t>
                      </a:r>
                      <a:endParaRPr lang="ja-JP" altLang="en-US" sz="800" dirty="0"/>
                    </a:p>
                  </a:txBody>
                  <a:tcPr marL="45068" marR="45068" marT="22534" marB="22534" anchor="ctr">
                    <a:noFill/>
                  </a:tcPr>
                </a:tc>
                <a:tc>
                  <a:txBody>
                    <a:bodyPr/>
                    <a:lstStyle/>
                    <a:p>
                      <a:pPr algn="ctr"/>
                      <a:endParaRPr lang="ja-JP" altLang="en-US" sz="800" dirty="0"/>
                    </a:p>
                  </a:txBody>
                  <a:tcPr marL="45068" marR="45068" marT="22534" marB="22534" anchor="ctr">
                    <a:noFill/>
                  </a:tcPr>
                </a:tc>
                <a:extLst>
                  <a:ext uri="{0D108BD9-81ED-4DB2-BD59-A6C34878D82A}">
                    <a16:rowId xmlns:a16="http://schemas.microsoft.com/office/drawing/2014/main" val="3918724977"/>
                  </a:ext>
                </a:extLst>
              </a:tr>
              <a:tr h="216000">
                <a:tc>
                  <a:txBody>
                    <a:bodyPr/>
                    <a:lstStyle/>
                    <a:p>
                      <a:pPr algn="ctr"/>
                      <a:r>
                        <a:rPr lang="en-US" altLang="ja-JP" sz="800" dirty="0"/>
                        <a:t>10</a:t>
                      </a:r>
                    </a:p>
                  </a:txBody>
                  <a:tcPr marL="45068" marR="45068" marT="22534" marB="22534" anchor="ctr">
                    <a:solidFill>
                      <a:schemeClr val="bg1">
                        <a:lumMod val="95000"/>
                      </a:schemeClr>
                    </a:solidFill>
                  </a:tcPr>
                </a:tc>
                <a:tc>
                  <a:txBody>
                    <a:bodyPr/>
                    <a:lstStyle/>
                    <a:p>
                      <a:r>
                        <a:rPr lang="ja-JP" altLang="en-US" sz="800" dirty="0"/>
                        <a:t>ガイダンスを表す番号：３</a:t>
                      </a:r>
                    </a:p>
                  </a:txBody>
                  <a:tcPr marL="45068" marR="45068" marT="22534" marB="22534" anchor="ctr">
                    <a:solidFill>
                      <a:schemeClr val="bg1">
                        <a:lumMod val="95000"/>
                      </a:schemeClr>
                    </a:solidFill>
                  </a:tcPr>
                </a:tc>
                <a:tc>
                  <a:txBody>
                    <a:bodyPr/>
                    <a:lstStyle/>
                    <a:p>
                      <a:pPr algn="ctr"/>
                      <a:endParaRPr lang="ja-JP" altLang="en-US" sz="800" dirty="0"/>
                    </a:p>
                  </a:txBody>
                  <a:tcPr marL="45068" marR="45068" marT="22534" marB="22534" anchor="ctr">
                    <a:solidFill>
                      <a:schemeClr val="bg1">
                        <a:lumMod val="95000"/>
                      </a:schemeClr>
                    </a:solidFill>
                  </a:tcPr>
                </a:tc>
                <a:extLst>
                  <a:ext uri="{0D108BD9-81ED-4DB2-BD59-A6C34878D82A}">
                    <a16:rowId xmlns:a16="http://schemas.microsoft.com/office/drawing/2014/main" val="241538418"/>
                  </a:ext>
                </a:extLst>
              </a:tr>
              <a:tr h="216000">
                <a:tc>
                  <a:txBody>
                    <a:bodyPr/>
                    <a:lstStyle/>
                    <a:p>
                      <a:pPr algn="ctr"/>
                      <a:r>
                        <a:rPr lang="en-US" altLang="ja-JP" sz="800" dirty="0"/>
                        <a:t>11</a:t>
                      </a:r>
                    </a:p>
                  </a:txBody>
                  <a:tcPr marL="45068" marR="45068" marT="22534" marB="22534" anchor="ctr">
                    <a:noFill/>
                  </a:tcPr>
                </a:tc>
                <a:tc>
                  <a:txBody>
                    <a:bodyPr/>
                    <a:lstStyle/>
                    <a:p>
                      <a:r>
                        <a:rPr lang="ja-JP" altLang="en-US" sz="800" dirty="0"/>
                        <a:t>予測値の平年差（</a:t>
                      </a:r>
                      <a:r>
                        <a:rPr lang="ja-JP" altLang="en-US" sz="800" dirty="0">
                          <a:hlinkClick r:id="rId3"/>
                        </a:rPr>
                        <a:t>アンサンブル平均</a:t>
                      </a:r>
                      <a:r>
                        <a:rPr lang="ja-JP" altLang="en-US" sz="800" dirty="0"/>
                        <a:t>）</a:t>
                      </a:r>
                    </a:p>
                  </a:txBody>
                  <a:tcPr marL="45068" marR="45068" marT="22534" marB="22534" anchor="ctr">
                    <a:noFill/>
                  </a:tcPr>
                </a:tc>
                <a:tc>
                  <a:txBody>
                    <a:bodyPr/>
                    <a:lstStyle/>
                    <a:p>
                      <a:pPr algn="ctr"/>
                      <a:r>
                        <a:rPr lang="en-US" altLang="ja-JP" sz="800" dirty="0"/>
                        <a:t>0.1℃</a:t>
                      </a:r>
                    </a:p>
                  </a:txBody>
                  <a:tcPr marL="45068" marR="45068" marT="22534" marB="22534" anchor="ctr">
                    <a:noFill/>
                  </a:tcPr>
                </a:tc>
                <a:extLst>
                  <a:ext uri="{0D108BD9-81ED-4DB2-BD59-A6C34878D82A}">
                    <a16:rowId xmlns:a16="http://schemas.microsoft.com/office/drawing/2014/main" val="3799705290"/>
                  </a:ext>
                </a:extLst>
              </a:tr>
              <a:tr h="216000">
                <a:tc>
                  <a:txBody>
                    <a:bodyPr/>
                    <a:lstStyle/>
                    <a:p>
                      <a:pPr algn="ctr"/>
                      <a:r>
                        <a:rPr lang="en-US" altLang="ja-JP" sz="800" dirty="0"/>
                        <a:t>12</a:t>
                      </a:r>
                      <a:r>
                        <a:rPr lang="ja-JP" altLang="en-US" sz="800" dirty="0"/>
                        <a:t>～</a:t>
                      </a:r>
                      <a:r>
                        <a:rPr lang="en-US" altLang="ja-JP" sz="800" dirty="0"/>
                        <a:t>212</a:t>
                      </a:r>
                    </a:p>
                  </a:txBody>
                  <a:tcPr marL="45068" marR="45068" marT="22534" marB="22534" anchor="ctr">
                    <a:solidFill>
                      <a:schemeClr val="bg1">
                        <a:lumMod val="95000"/>
                      </a:schemeClr>
                    </a:solidFill>
                  </a:tcPr>
                </a:tc>
                <a:tc>
                  <a:txBody>
                    <a:bodyPr/>
                    <a:lstStyle/>
                    <a:p>
                      <a:r>
                        <a:rPr lang="ja-JP" altLang="en-US" sz="800" dirty="0"/>
                        <a:t>予測値の平年差について　</a:t>
                      </a:r>
                      <a:r>
                        <a:rPr lang="en-US" altLang="ja-JP" sz="800" dirty="0"/>
                        <a:t>-10.0</a:t>
                      </a:r>
                      <a:r>
                        <a:rPr lang="ja-JP" altLang="en-US" sz="800" dirty="0"/>
                        <a:t>～</a:t>
                      </a:r>
                      <a:r>
                        <a:rPr lang="en-US" altLang="ja-JP" sz="800" dirty="0"/>
                        <a:t>+10.0℃</a:t>
                      </a:r>
                      <a:r>
                        <a:rPr lang="ja-JP" altLang="en-US" sz="800" dirty="0"/>
                        <a:t>（</a:t>
                      </a:r>
                      <a:r>
                        <a:rPr lang="en-US" altLang="ja-JP" sz="800" dirty="0"/>
                        <a:t>0.1℃</a:t>
                      </a:r>
                      <a:r>
                        <a:rPr lang="ja-JP" altLang="en-US" sz="800" dirty="0"/>
                        <a:t>間隔）の累積確率</a:t>
                      </a:r>
                    </a:p>
                  </a:txBody>
                  <a:tcPr marL="45068" marR="45068" marT="22534" marB="22534" anchor="ctr">
                    <a:solidFill>
                      <a:schemeClr val="bg1">
                        <a:lumMod val="95000"/>
                      </a:schemeClr>
                    </a:solidFill>
                  </a:tcPr>
                </a:tc>
                <a:tc>
                  <a:txBody>
                    <a:bodyPr/>
                    <a:lstStyle/>
                    <a:p>
                      <a:pPr algn="ctr"/>
                      <a:r>
                        <a:rPr lang="en-US" altLang="ja-JP" sz="800" dirty="0"/>
                        <a:t>%</a:t>
                      </a:r>
                    </a:p>
                  </a:txBody>
                  <a:tcPr marL="45068" marR="45068" marT="22534" marB="22534" anchor="ctr">
                    <a:solidFill>
                      <a:schemeClr val="bg1">
                        <a:lumMod val="95000"/>
                      </a:schemeClr>
                    </a:solidFill>
                  </a:tcPr>
                </a:tc>
                <a:extLst>
                  <a:ext uri="{0D108BD9-81ED-4DB2-BD59-A6C34878D82A}">
                    <a16:rowId xmlns:a16="http://schemas.microsoft.com/office/drawing/2014/main" val="1182664027"/>
                  </a:ext>
                </a:extLst>
              </a:tr>
              <a:tr h="216000">
                <a:tc>
                  <a:txBody>
                    <a:bodyPr/>
                    <a:lstStyle/>
                    <a:p>
                      <a:pPr algn="ctr"/>
                      <a:r>
                        <a:rPr lang="en-US" altLang="ja-JP" sz="800" dirty="0"/>
                        <a:t>213</a:t>
                      </a:r>
                    </a:p>
                  </a:txBody>
                  <a:tcPr marL="45068" marR="45068" marT="22534" marB="22534" anchor="ctr">
                    <a:noFill/>
                  </a:tcPr>
                </a:tc>
                <a:tc>
                  <a:txBody>
                    <a:bodyPr/>
                    <a:lstStyle/>
                    <a:p>
                      <a:r>
                        <a:rPr lang="ja-JP" altLang="en-US" sz="800" dirty="0"/>
                        <a:t>昨年の実況値の平年差</a:t>
                      </a:r>
                      <a:r>
                        <a:rPr lang="en-US" altLang="ja-JP" sz="800" baseline="30000" dirty="0"/>
                        <a:t>※1※2</a:t>
                      </a:r>
                      <a:r>
                        <a:rPr lang="en-US" altLang="ja-JP" sz="800" dirty="0"/>
                        <a:t>(</a:t>
                      </a:r>
                      <a:r>
                        <a:rPr lang="ja-JP" altLang="en-US" sz="800" dirty="0"/>
                        <a:t>「地域」を選択した場合）</a:t>
                      </a:r>
                      <a:endParaRPr lang="en-US" altLang="ja-JP" sz="800" dirty="0"/>
                    </a:p>
                    <a:p>
                      <a:r>
                        <a:rPr lang="ja-JP" altLang="en-US" sz="800" dirty="0"/>
                        <a:t>昨年の実況値</a:t>
                      </a:r>
                      <a:r>
                        <a:rPr lang="en-US" altLang="ja-JP" sz="800" baseline="30000" dirty="0"/>
                        <a:t>※1※2</a:t>
                      </a:r>
                      <a:r>
                        <a:rPr lang="ja-JP" altLang="en-US" sz="800" dirty="0"/>
                        <a:t>（「地点」を選択した場合）</a:t>
                      </a:r>
                    </a:p>
                  </a:txBody>
                  <a:tcPr marL="45068" marR="45068" marT="22534" marB="22534" anchor="ctr">
                    <a:noFill/>
                  </a:tcPr>
                </a:tc>
                <a:tc>
                  <a:txBody>
                    <a:bodyPr/>
                    <a:lstStyle/>
                    <a:p>
                      <a:pPr algn="ctr"/>
                      <a:r>
                        <a:rPr lang="en-US" altLang="ja-JP" sz="800" dirty="0"/>
                        <a:t>0.1℃</a:t>
                      </a:r>
                    </a:p>
                  </a:txBody>
                  <a:tcPr marL="45068" marR="45068" marT="22534" marB="22534" anchor="ctr">
                    <a:noFill/>
                  </a:tcPr>
                </a:tc>
                <a:extLst>
                  <a:ext uri="{0D108BD9-81ED-4DB2-BD59-A6C34878D82A}">
                    <a16:rowId xmlns:a16="http://schemas.microsoft.com/office/drawing/2014/main" val="1961501359"/>
                  </a:ext>
                </a:extLst>
              </a:tr>
              <a:tr h="216000">
                <a:tc>
                  <a:txBody>
                    <a:bodyPr/>
                    <a:lstStyle/>
                    <a:p>
                      <a:pPr algn="ctr"/>
                      <a:r>
                        <a:rPr lang="en-US" altLang="ja-JP" sz="800" dirty="0"/>
                        <a:t>214</a:t>
                      </a:r>
                    </a:p>
                  </a:txBody>
                  <a:tcPr marL="45068" marR="45068" marT="22534" marB="22534" anchor="ctr">
                    <a:solidFill>
                      <a:schemeClr val="bg1">
                        <a:lumMod val="95000"/>
                      </a:schemeClr>
                    </a:solidFill>
                  </a:tcPr>
                </a:tc>
                <a:tc>
                  <a:txBody>
                    <a:bodyPr/>
                    <a:lstStyle/>
                    <a:p>
                      <a:r>
                        <a:rPr lang="ja-JP" altLang="en-US" sz="800" dirty="0"/>
                        <a:t>過去</a:t>
                      </a:r>
                      <a:r>
                        <a:rPr lang="en-US" altLang="ja-JP" sz="800" dirty="0"/>
                        <a:t>10</a:t>
                      </a:r>
                      <a:r>
                        <a:rPr lang="ja-JP" altLang="en-US" sz="800" dirty="0"/>
                        <a:t>年の平年差の平均値</a:t>
                      </a:r>
                      <a:r>
                        <a:rPr lang="en-US" altLang="ja-JP" sz="800" baseline="30000" dirty="0"/>
                        <a:t>※1※2 </a:t>
                      </a:r>
                      <a:r>
                        <a:rPr lang="en-US" altLang="ja-JP" sz="800" dirty="0"/>
                        <a:t>(</a:t>
                      </a:r>
                      <a:r>
                        <a:rPr lang="ja-JP" altLang="en-US" sz="800" dirty="0"/>
                        <a:t>「地域」を選択した場合</a:t>
                      </a:r>
                      <a:r>
                        <a:rPr lang="en-US" altLang="ja-JP" sz="800" dirty="0"/>
                        <a:t>)</a:t>
                      </a:r>
                    </a:p>
                    <a:p>
                      <a:r>
                        <a:rPr lang="ja-JP" altLang="en-US" sz="800" dirty="0"/>
                        <a:t>過去</a:t>
                      </a:r>
                      <a:r>
                        <a:rPr lang="en-US" altLang="ja-JP" sz="800" dirty="0"/>
                        <a:t>10</a:t>
                      </a:r>
                      <a:r>
                        <a:rPr lang="ja-JP" altLang="en-US" sz="800" dirty="0"/>
                        <a:t>年の平均値</a:t>
                      </a:r>
                      <a:r>
                        <a:rPr lang="en-US" altLang="ja-JP" sz="800" baseline="30000" dirty="0"/>
                        <a:t>※1※2</a:t>
                      </a:r>
                      <a:r>
                        <a:rPr lang="ja-JP" altLang="en-US" sz="800" dirty="0"/>
                        <a:t>（「地点」を選択した場合）</a:t>
                      </a:r>
                    </a:p>
                  </a:txBody>
                  <a:tcPr marL="45068" marR="45068" marT="22534" marB="22534" anchor="ctr">
                    <a:solidFill>
                      <a:schemeClr val="bg1">
                        <a:lumMod val="95000"/>
                      </a:schemeClr>
                    </a:solidFill>
                  </a:tcPr>
                </a:tc>
                <a:tc>
                  <a:txBody>
                    <a:bodyPr/>
                    <a:lstStyle/>
                    <a:p>
                      <a:pPr algn="ctr"/>
                      <a:r>
                        <a:rPr lang="en-US" altLang="ja-JP" sz="800" dirty="0"/>
                        <a:t>0.1℃</a:t>
                      </a:r>
                    </a:p>
                  </a:txBody>
                  <a:tcPr marL="45068" marR="45068" marT="22534" marB="22534" anchor="ctr">
                    <a:solidFill>
                      <a:schemeClr val="bg1">
                        <a:lumMod val="95000"/>
                      </a:schemeClr>
                    </a:solidFill>
                  </a:tcPr>
                </a:tc>
                <a:extLst>
                  <a:ext uri="{0D108BD9-81ED-4DB2-BD59-A6C34878D82A}">
                    <a16:rowId xmlns:a16="http://schemas.microsoft.com/office/drawing/2014/main" val="2397379435"/>
                  </a:ext>
                </a:extLst>
              </a:tr>
              <a:tr h="216000">
                <a:tc>
                  <a:txBody>
                    <a:bodyPr/>
                    <a:lstStyle/>
                    <a:p>
                      <a:pPr algn="ctr"/>
                      <a:r>
                        <a:rPr lang="en-US" altLang="ja-JP" sz="800" dirty="0"/>
                        <a:t>215</a:t>
                      </a:r>
                    </a:p>
                  </a:txBody>
                  <a:tcPr marL="45068" marR="45068" marT="22534" marB="22534" anchor="ctr">
                    <a:noFill/>
                  </a:tcPr>
                </a:tc>
                <a:tc>
                  <a:txBody>
                    <a:bodyPr/>
                    <a:lstStyle/>
                    <a:p>
                      <a:r>
                        <a:rPr lang="ja-JP" altLang="en-US" sz="800" dirty="0"/>
                        <a:t>空き</a:t>
                      </a:r>
                      <a:r>
                        <a:rPr lang="en-US" altLang="ja-JP" sz="800" baseline="30000" dirty="0"/>
                        <a:t>※2</a:t>
                      </a:r>
                      <a:r>
                        <a:rPr lang="ja-JP" altLang="en-US" sz="800" dirty="0"/>
                        <a:t>（「地域」を選択した場合）　平年値（「地点」を選択した場合）</a:t>
                      </a:r>
                    </a:p>
                  </a:txBody>
                  <a:tcPr marL="45068" marR="45068" marT="22534" marB="22534" anchor="ctr">
                    <a:noFill/>
                  </a:tcPr>
                </a:tc>
                <a:tc>
                  <a:txBody>
                    <a:bodyPr/>
                    <a:lstStyle/>
                    <a:p>
                      <a:pPr algn="ctr"/>
                      <a:r>
                        <a:rPr lang="en-US" altLang="ja-JP" sz="800" dirty="0"/>
                        <a:t>0.1℃</a:t>
                      </a:r>
                    </a:p>
                  </a:txBody>
                  <a:tcPr marL="45068" marR="45068" marT="22534" marB="22534" anchor="ctr">
                    <a:noFill/>
                  </a:tcPr>
                </a:tc>
                <a:extLst>
                  <a:ext uri="{0D108BD9-81ED-4DB2-BD59-A6C34878D82A}">
                    <a16:rowId xmlns:a16="http://schemas.microsoft.com/office/drawing/2014/main" val="3463478662"/>
                  </a:ext>
                </a:extLst>
              </a:tr>
              <a:tr h="216000">
                <a:tc>
                  <a:txBody>
                    <a:bodyPr/>
                    <a:lstStyle/>
                    <a:p>
                      <a:pPr algn="ctr"/>
                      <a:r>
                        <a:rPr lang="en-US" altLang="ja-JP" sz="800" dirty="0"/>
                        <a:t>216</a:t>
                      </a:r>
                    </a:p>
                  </a:txBody>
                  <a:tcPr marL="45068" marR="45068" marT="22534" marB="22534" anchor="ctr">
                    <a:solidFill>
                      <a:schemeClr val="bg1">
                        <a:lumMod val="95000"/>
                      </a:schemeClr>
                    </a:solidFill>
                  </a:tcPr>
                </a:tc>
                <a:tc>
                  <a:txBody>
                    <a:bodyPr/>
                    <a:lstStyle/>
                    <a:p>
                      <a:r>
                        <a:rPr lang="ja-JP" altLang="en-US" sz="800" dirty="0"/>
                        <a:t>実況値の平年差に準ずる検証用データ</a:t>
                      </a:r>
                      <a:r>
                        <a:rPr lang="en-US" altLang="ja-JP" sz="800" baseline="30000" dirty="0"/>
                        <a:t>※3</a:t>
                      </a:r>
                      <a:r>
                        <a:rPr lang="ja-JP" altLang="en-US" sz="800" dirty="0"/>
                        <a:t>（「地域」を選択した場合）</a:t>
                      </a:r>
                    </a:p>
                    <a:p>
                      <a:r>
                        <a:rPr lang="ja-JP" altLang="en-US" sz="800" dirty="0"/>
                        <a:t>実況値に準ずる検証用データ</a:t>
                      </a:r>
                      <a:r>
                        <a:rPr lang="en-US" altLang="ja-JP" sz="800" baseline="30000" dirty="0"/>
                        <a:t>※3</a:t>
                      </a:r>
                      <a:r>
                        <a:rPr lang="ja-JP" altLang="en-US" sz="800" dirty="0"/>
                        <a:t>（「地点」を選択した場合）</a:t>
                      </a:r>
                      <a:endParaRPr lang="en-US" altLang="ja-JP" sz="800" dirty="0"/>
                    </a:p>
                  </a:txBody>
                  <a:tcPr marL="45068" marR="45068" marT="22534" marB="22534" anchor="ctr">
                    <a:solidFill>
                      <a:schemeClr val="bg1">
                        <a:lumMod val="95000"/>
                      </a:schemeClr>
                    </a:solidFill>
                  </a:tcPr>
                </a:tc>
                <a:tc>
                  <a:txBody>
                    <a:bodyPr/>
                    <a:lstStyle/>
                    <a:p>
                      <a:pPr algn="ctr"/>
                      <a:r>
                        <a:rPr lang="en-US" altLang="ja-JP" sz="800" dirty="0"/>
                        <a:t>0.1℃</a:t>
                      </a:r>
                    </a:p>
                  </a:txBody>
                  <a:tcPr marL="45068" marR="45068" marT="22534" marB="22534" anchor="ctr">
                    <a:solidFill>
                      <a:schemeClr val="bg1">
                        <a:lumMod val="95000"/>
                      </a:schemeClr>
                    </a:solidFill>
                  </a:tcPr>
                </a:tc>
                <a:extLst>
                  <a:ext uri="{0D108BD9-81ED-4DB2-BD59-A6C34878D82A}">
                    <a16:rowId xmlns:a16="http://schemas.microsoft.com/office/drawing/2014/main" val="923442170"/>
                  </a:ext>
                </a:extLst>
              </a:tr>
            </a:tbl>
          </a:graphicData>
        </a:graphic>
      </p:graphicFrame>
      <p:graphicFrame>
        <p:nvGraphicFramePr>
          <p:cNvPr id="19" name="表 5">
            <a:extLst>
              <a:ext uri="{FF2B5EF4-FFF2-40B4-BE49-F238E27FC236}">
                <a16:creationId xmlns:a16="http://schemas.microsoft.com/office/drawing/2014/main" id="{7F11CEF0-492C-E139-3AFB-9B66F6FB463C}"/>
              </a:ext>
            </a:extLst>
          </p:cNvPr>
          <p:cNvGraphicFramePr>
            <a:graphicFrameLocks noGrp="1"/>
          </p:cNvGraphicFramePr>
          <p:nvPr>
            <p:extLst>
              <p:ext uri="{D42A27DB-BD31-4B8C-83A1-F6EECF244321}">
                <p14:modId xmlns:p14="http://schemas.microsoft.com/office/powerpoint/2010/main" val="3584847974"/>
              </p:ext>
            </p:extLst>
          </p:nvPr>
        </p:nvGraphicFramePr>
        <p:xfrm>
          <a:off x="321888" y="4523828"/>
          <a:ext cx="2808000" cy="1981367"/>
        </p:xfrm>
        <a:graphic>
          <a:graphicData uri="http://schemas.openxmlformats.org/drawingml/2006/table">
            <a:tbl>
              <a:tblPr firstRow="1" bandRow="1">
                <a:tableStyleId>{5C22544A-7EE6-4342-B048-85BDC9FD1C3A}</a:tableStyleId>
              </a:tblPr>
              <a:tblGrid>
                <a:gridCol w="463665">
                  <a:extLst>
                    <a:ext uri="{9D8B030D-6E8A-4147-A177-3AD203B41FA5}">
                      <a16:colId xmlns:a16="http://schemas.microsoft.com/office/drawing/2014/main" val="22310263"/>
                    </a:ext>
                  </a:extLst>
                </a:gridCol>
                <a:gridCol w="1852781">
                  <a:extLst>
                    <a:ext uri="{9D8B030D-6E8A-4147-A177-3AD203B41FA5}">
                      <a16:colId xmlns:a16="http://schemas.microsoft.com/office/drawing/2014/main" val="230675405"/>
                    </a:ext>
                  </a:extLst>
                </a:gridCol>
                <a:gridCol w="491554">
                  <a:extLst>
                    <a:ext uri="{9D8B030D-6E8A-4147-A177-3AD203B41FA5}">
                      <a16:colId xmlns:a16="http://schemas.microsoft.com/office/drawing/2014/main" val="3772934908"/>
                    </a:ext>
                  </a:extLst>
                </a:gridCol>
              </a:tblGrid>
              <a:tr h="253367">
                <a:tc>
                  <a:txBody>
                    <a:bodyPr/>
                    <a:lstStyle/>
                    <a:p>
                      <a:pPr algn="ctr"/>
                      <a:r>
                        <a:rPr lang="ja-JP" altLang="en-US" sz="800" dirty="0"/>
                        <a:t>カラム</a:t>
                      </a:r>
                    </a:p>
                  </a:txBody>
                  <a:tcPr marL="45068" marR="45068" marT="22534" marB="22534" anchor="ctr">
                    <a:solidFill>
                      <a:schemeClr val="tx2"/>
                    </a:solidFill>
                  </a:tcPr>
                </a:tc>
                <a:tc>
                  <a:txBody>
                    <a:bodyPr/>
                    <a:lstStyle/>
                    <a:p>
                      <a:pPr algn="ctr"/>
                      <a:r>
                        <a:rPr lang="ja-JP" altLang="en-US" sz="800" dirty="0"/>
                        <a:t>要素</a:t>
                      </a:r>
                    </a:p>
                  </a:txBody>
                  <a:tcPr marL="45068" marR="45068" marT="22534" marB="22534" anchor="ctr">
                    <a:solidFill>
                      <a:schemeClr val="tx2"/>
                    </a:solidFill>
                  </a:tcPr>
                </a:tc>
                <a:tc>
                  <a:txBody>
                    <a:bodyPr/>
                    <a:lstStyle/>
                    <a:p>
                      <a:pPr algn="ctr"/>
                      <a:r>
                        <a:rPr lang="ja-JP" altLang="en-US" sz="800" dirty="0"/>
                        <a:t>単位</a:t>
                      </a:r>
                    </a:p>
                  </a:txBody>
                  <a:tcPr marL="45068" marR="45068" marT="22534" marB="22534" anchor="ctr">
                    <a:solidFill>
                      <a:schemeClr val="tx2"/>
                    </a:solidFill>
                  </a:tcPr>
                </a:tc>
                <a:extLst>
                  <a:ext uri="{0D108BD9-81ED-4DB2-BD59-A6C34878D82A}">
                    <a16:rowId xmlns:a16="http://schemas.microsoft.com/office/drawing/2014/main" val="2227192188"/>
                  </a:ext>
                </a:extLst>
              </a:tr>
              <a:tr h="216000">
                <a:tc>
                  <a:txBody>
                    <a:bodyPr/>
                    <a:lstStyle/>
                    <a:p>
                      <a:pPr algn="ctr"/>
                      <a:r>
                        <a:rPr lang="en-US" altLang="ja-JP" sz="800" dirty="0"/>
                        <a:t>1</a:t>
                      </a:r>
                    </a:p>
                  </a:txBody>
                  <a:tcPr marL="45068" marR="45068" marT="22534" marB="22534" anchor="ctr">
                    <a:noFill/>
                  </a:tcPr>
                </a:tc>
                <a:tc>
                  <a:txBody>
                    <a:bodyPr/>
                    <a:lstStyle/>
                    <a:p>
                      <a:r>
                        <a:rPr lang="ja-JP" altLang="en-US" sz="800" dirty="0"/>
                        <a:t>予報対象期間の初めの日の年</a:t>
                      </a:r>
                    </a:p>
                  </a:txBody>
                  <a:tcPr marL="45068" marR="45068" marT="22534" marB="22534" anchor="ctr">
                    <a:noFill/>
                  </a:tcPr>
                </a:tc>
                <a:tc>
                  <a:txBody>
                    <a:bodyPr/>
                    <a:lstStyle/>
                    <a:p>
                      <a:pPr algn="ctr"/>
                      <a:r>
                        <a:rPr lang="ja-JP" altLang="en-US" sz="800" dirty="0"/>
                        <a:t>年</a:t>
                      </a:r>
                    </a:p>
                  </a:txBody>
                  <a:tcPr marL="45068" marR="45068" marT="22534" marB="22534" anchor="ctr">
                    <a:noFill/>
                  </a:tcPr>
                </a:tc>
                <a:extLst>
                  <a:ext uri="{0D108BD9-81ED-4DB2-BD59-A6C34878D82A}">
                    <a16:rowId xmlns:a16="http://schemas.microsoft.com/office/drawing/2014/main" val="3682909892"/>
                  </a:ext>
                </a:extLst>
              </a:tr>
              <a:tr h="216000">
                <a:tc>
                  <a:txBody>
                    <a:bodyPr/>
                    <a:lstStyle/>
                    <a:p>
                      <a:pPr algn="ctr"/>
                      <a:r>
                        <a:rPr lang="en-US" altLang="ja-JP" sz="800" dirty="0"/>
                        <a:t>2</a:t>
                      </a:r>
                    </a:p>
                  </a:txBody>
                  <a:tcPr marL="45068" marR="45068" marT="22534" marB="22534" anchor="ctr">
                    <a:solidFill>
                      <a:schemeClr val="bg1">
                        <a:lumMod val="95000"/>
                      </a:schemeClr>
                    </a:solidFill>
                  </a:tcPr>
                </a:tc>
                <a:tc>
                  <a:txBody>
                    <a:bodyPr/>
                    <a:lstStyle/>
                    <a:p>
                      <a:r>
                        <a:rPr lang="ja-JP" altLang="en-US" sz="800" dirty="0"/>
                        <a:t>予報対象期間の初めの日の月</a:t>
                      </a:r>
                    </a:p>
                  </a:txBody>
                  <a:tcPr marL="45068" marR="45068" marT="22534" marB="22534" anchor="ctr">
                    <a:solidFill>
                      <a:schemeClr val="bg1">
                        <a:lumMod val="95000"/>
                      </a:schemeClr>
                    </a:solidFill>
                  </a:tcPr>
                </a:tc>
                <a:tc>
                  <a:txBody>
                    <a:bodyPr/>
                    <a:lstStyle/>
                    <a:p>
                      <a:pPr algn="ctr"/>
                      <a:r>
                        <a:rPr lang="ja-JP" altLang="en-US" sz="800" dirty="0"/>
                        <a:t>月</a:t>
                      </a:r>
                    </a:p>
                  </a:txBody>
                  <a:tcPr marL="45068" marR="45068" marT="22534" marB="22534" anchor="ctr">
                    <a:solidFill>
                      <a:schemeClr val="bg1">
                        <a:lumMod val="95000"/>
                      </a:schemeClr>
                    </a:solidFill>
                  </a:tcPr>
                </a:tc>
                <a:extLst>
                  <a:ext uri="{0D108BD9-81ED-4DB2-BD59-A6C34878D82A}">
                    <a16:rowId xmlns:a16="http://schemas.microsoft.com/office/drawing/2014/main" val="2711627421"/>
                  </a:ext>
                </a:extLst>
              </a:tr>
              <a:tr h="216000">
                <a:tc>
                  <a:txBody>
                    <a:bodyPr/>
                    <a:lstStyle/>
                    <a:p>
                      <a:pPr algn="ctr"/>
                      <a:r>
                        <a:rPr lang="en-US" altLang="ja-JP" sz="800" dirty="0"/>
                        <a:t>3</a:t>
                      </a:r>
                    </a:p>
                  </a:txBody>
                  <a:tcPr marL="45068" marR="45068" marT="22534" marB="22534" anchor="ctr">
                    <a:noFill/>
                  </a:tcPr>
                </a:tc>
                <a:tc>
                  <a:txBody>
                    <a:bodyPr/>
                    <a:lstStyle/>
                    <a:p>
                      <a:r>
                        <a:rPr lang="ja-JP" altLang="en-US" sz="800" dirty="0"/>
                        <a:t>予報対象期間の初めの日の日</a:t>
                      </a:r>
                    </a:p>
                  </a:txBody>
                  <a:tcPr marL="45068" marR="45068" marT="22534" marB="22534" anchor="ctr">
                    <a:noFill/>
                  </a:tcPr>
                </a:tc>
                <a:tc>
                  <a:txBody>
                    <a:bodyPr/>
                    <a:lstStyle/>
                    <a:p>
                      <a:pPr algn="ctr"/>
                      <a:r>
                        <a:rPr lang="ja-JP" altLang="en-US" sz="800" dirty="0"/>
                        <a:t>日</a:t>
                      </a:r>
                    </a:p>
                  </a:txBody>
                  <a:tcPr marL="45068" marR="45068" marT="22534" marB="22534" anchor="ctr">
                    <a:noFill/>
                  </a:tcPr>
                </a:tc>
                <a:extLst>
                  <a:ext uri="{0D108BD9-81ED-4DB2-BD59-A6C34878D82A}">
                    <a16:rowId xmlns:a16="http://schemas.microsoft.com/office/drawing/2014/main" val="2890859261"/>
                  </a:ext>
                </a:extLst>
              </a:tr>
              <a:tr h="216000">
                <a:tc>
                  <a:txBody>
                    <a:bodyPr/>
                    <a:lstStyle/>
                    <a:p>
                      <a:pPr algn="ctr"/>
                      <a:r>
                        <a:rPr lang="en-US" altLang="ja-JP" sz="800" dirty="0"/>
                        <a:t>4</a:t>
                      </a:r>
                    </a:p>
                  </a:txBody>
                  <a:tcPr marL="45068" marR="45068" marT="22534" marB="22534" anchor="ctr">
                    <a:solidFill>
                      <a:schemeClr val="bg1">
                        <a:lumMod val="95000"/>
                      </a:schemeClr>
                    </a:solidFill>
                  </a:tcPr>
                </a:tc>
                <a:tc>
                  <a:txBody>
                    <a:bodyPr/>
                    <a:lstStyle/>
                    <a:p>
                      <a:r>
                        <a:rPr lang="ja-JP" altLang="en-US" sz="800" dirty="0"/>
                        <a:t>予報対象期間終わりの日の年</a:t>
                      </a:r>
                    </a:p>
                  </a:txBody>
                  <a:tcPr marL="45068" marR="45068" marT="22534" marB="22534" anchor="ctr">
                    <a:solidFill>
                      <a:schemeClr val="bg1">
                        <a:lumMod val="95000"/>
                      </a:schemeClr>
                    </a:solidFill>
                  </a:tcPr>
                </a:tc>
                <a:tc>
                  <a:txBody>
                    <a:bodyPr/>
                    <a:lstStyle/>
                    <a:p>
                      <a:pPr algn="ctr"/>
                      <a:r>
                        <a:rPr lang="ja-JP" altLang="en-US" sz="800" dirty="0"/>
                        <a:t>年</a:t>
                      </a:r>
                    </a:p>
                  </a:txBody>
                  <a:tcPr marL="45068" marR="45068" marT="22534" marB="22534" anchor="ctr">
                    <a:solidFill>
                      <a:schemeClr val="bg1">
                        <a:lumMod val="95000"/>
                      </a:schemeClr>
                    </a:solidFill>
                  </a:tcPr>
                </a:tc>
                <a:extLst>
                  <a:ext uri="{0D108BD9-81ED-4DB2-BD59-A6C34878D82A}">
                    <a16:rowId xmlns:a16="http://schemas.microsoft.com/office/drawing/2014/main" val="3496335717"/>
                  </a:ext>
                </a:extLst>
              </a:tr>
              <a:tr h="216000">
                <a:tc>
                  <a:txBody>
                    <a:bodyPr/>
                    <a:lstStyle/>
                    <a:p>
                      <a:pPr algn="ctr"/>
                      <a:r>
                        <a:rPr lang="en-US" altLang="ja-JP" sz="800" dirty="0"/>
                        <a:t>5</a:t>
                      </a:r>
                    </a:p>
                  </a:txBody>
                  <a:tcPr marL="45068" marR="45068" marT="22534" marB="22534" anchor="ctr">
                    <a:noFill/>
                  </a:tcPr>
                </a:tc>
                <a:tc>
                  <a:txBody>
                    <a:bodyPr/>
                    <a:lstStyle/>
                    <a:p>
                      <a:r>
                        <a:rPr lang="ja-JP" altLang="en-US" sz="800" dirty="0"/>
                        <a:t>予報対象期間終わりの日の月</a:t>
                      </a:r>
                    </a:p>
                  </a:txBody>
                  <a:tcPr marL="45068" marR="45068" marT="22534" marB="22534" anchor="ctr">
                    <a:noFill/>
                  </a:tcPr>
                </a:tc>
                <a:tc>
                  <a:txBody>
                    <a:bodyPr/>
                    <a:lstStyle/>
                    <a:p>
                      <a:pPr algn="ctr"/>
                      <a:r>
                        <a:rPr lang="ja-JP" altLang="en-US" sz="800" dirty="0"/>
                        <a:t>月</a:t>
                      </a:r>
                    </a:p>
                  </a:txBody>
                  <a:tcPr marL="45068" marR="45068" marT="22534" marB="22534" anchor="ctr">
                    <a:noFill/>
                  </a:tcPr>
                </a:tc>
                <a:extLst>
                  <a:ext uri="{0D108BD9-81ED-4DB2-BD59-A6C34878D82A}">
                    <a16:rowId xmlns:a16="http://schemas.microsoft.com/office/drawing/2014/main" val="2566591500"/>
                  </a:ext>
                </a:extLst>
              </a:tr>
              <a:tr h="216000">
                <a:tc>
                  <a:txBody>
                    <a:bodyPr/>
                    <a:lstStyle/>
                    <a:p>
                      <a:pPr algn="ctr"/>
                      <a:r>
                        <a:rPr lang="en-US" altLang="ja-JP" sz="800" dirty="0"/>
                        <a:t>6</a:t>
                      </a:r>
                    </a:p>
                  </a:txBody>
                  <a:tcPr marL="45068" marR="45068" marT="22534" marB="22534" anchor="ctr">
                    <a:solidFill>
                      <a:schemeClr val="bg1">
                        <a:lumMod val="95000"/>
                      </a:schemeClr>
                    </a:solidFill>
                  </a:tcPr>
                </a:tc>
                <a:tc>
                  <a:txBody>
                    <a:bodyPr/>
                    <a:lstStyle/>
                    <a:p>
                      <a:r>
                        <a:rPr lang="ja-JP" altLang="en-US" sz="800" dirty="0"/>
                        <a:t>予報対象期間終わりの日の日</a:t>
                      </a:r>
                    </a:p>
                  </a:txBody>
                  <a:tcPr marL="45068" marR="45068" marT="22534" marB="22534" anchor="ctr">
                    <a:solidFill>
                      <a:schemeClr val="bg1">
                        <a:lumMod val="95000"/>
                      </a:schemeClr>
                    </a:solidFill>
                  </a:tcPr>
                </a:tc>
                <a:tc>
                  <a:txBody>
                    <a:bodyPr/>
                    <a:lstStyle/>
                    <a:p>
                      <a:pPr algn="ctr"/>
                      <a:r>
                        <a:rPr lang="ja-JP" altLang="en-US" sz="800" dirty="0"/>
                        <a:t>日</a:t>
                      </a:r>
                    </a:p>
                  </a:txBody>
                  <a:tcPr marL="45068" marR="45068" marT="22534" marB="22534" anchor="ctr">
                    <a:solidFill>
                      <a:schemeClr val="bg1">
                        <a:lumMod val="95000"/>
                      </a:schemeClr>
                    </a:solidFill>
                  </a:tcPr>
                </a:tc>
                <a:extLst>
                  <a:ext uri="{0D108BD9-81ED-4DB2-BD59-A6C34878D82A}">
                    <a16:rowId xmlns:a16="http://schemas.microsoft.com/office/drawing/2014/main" val="1390296455"/>
                  </a:ext>
                </a:extLst>
              </a:tr>
              <a:tr h="216000">
                <a:tc>
                  <a:txBody>
                    <a:bodyPr/>
                    <a:lstStyle/>
                    <a:p>
                      <a:pPr algn="ctr"/>
                      <a:r>
                        <a:rPr lang="en-US" altLang="ja-JP" sz="800" dirty="0"/>
                        <a:t>7</a:t>
                      </a:r>
                    </a:p>
                  </a:txBody>
                  <a:tcPr marL="45068" marR="45068" marT="22534" marB="22534" anchor="ctr">
                    <a:noFill/>
                  </a:tcPr>
                </a:tc>
                <a:tc>
                  <a:txBody>
                    <a:bodyPr/>
                    <a:lstStyle/>
                    <a:p>
                      <a:r>
                        <a:rPr lang="ja-JP" altLang="en-US" sz="800" dirty="0"/>
                        <a:t>予報対象期間の日数</a:t>
                      </a:r>
                    </a:p>
                  </a:txBody>
                  <a:tcPr marL="45068" marR="45068" marT="22534" marB="22534" anchor="ctr">
                    <a:noFill/>
                  </a:tcPr>
                </a:tc>
                <a:tc>
                  <a:txBody>
                    <a:bodyPr/>
                    <a:lstStyle/>
                    <a:p>
                      <a:pPr algn="ctr"/>
                      <a:r>
                        <a:rPr lang="ja-JP" altLang="en-US" sz="800" dirty="0"/>
                        <a:t>日</a:t>
                      </a:r>
                    </a:p>
                  </a:txBody>
                  <a:tcPr marL="45068" marR="45068" marT="22534" marB="22534" anchor="ctr">
                    <a:noFill/>
                  </a:tcPr>
                </a:tc>
                <a:extLst>
                  <a:ext uri="{0D108BD9-81ED-4DB2-BD59-A6C34878D82A}">
                    <a16:rowId xmlns:a16="http://schemas.microsoft.com/office/drawing/2014/main" val="2835805808"/>
                  </a:ext>
                </a:extLst>
              </a:tr>
              <a:tr h="216000">
                <a:tc>
                  <a:txBody>
                    <a:bodyPr/>
                    <a:lstStyle/>
                    <a:p>
                      <a:pPr algn="ctr"/>
                      <a:r>
                        <a:rPr lang="en-US" altLang="ja-JP" sz="800" dirty="0"/>
                        <a:t>8</a:t>
                      </a:r>
                    </a:p>
                  </a:txBody>
                  <a:tcPr marL="45068" marR="45068" marT="22534" marB="22534" anchor="ctr">
                    <a:solidFill>
                      <a:schemeClr val="bg1">
                        <a:lumMod val="95000"/>
                      </a:schemeClr>
                    </a:solidFill>
                  </a:tcPr>
                </a:tc>
                <a:tc>
                  <a:txBody>
                    <a:bodyPr/>
                    <a:lstStyle/>
                    <a:p>
                      <a:r>
                        <a:rPr lang="ja-JP" altLang="en-US" sz="800" dirty="0">
                          <a:hlinkClick r:id="rId4"/>
                        </a:rPr>
                        <a:t>予報対象の地域（地点番号</a:t>
                      </a:r>
                      <a:r>
                        <a:rPr lang="ja-JP" altLang="en-US" sz="800" dirty="0"/>
                        <a:t>）</a:t>
                      </a:r>
                    </a:p>
                  </a:txBody>
                  <a:tcPr marL="45068" marR="45068" marT="22534" marB="22534" anchor="ctr">
                    <a:solidFill>
                      <a:schemeClr val="bg1">
                        <a:lumMod val="95000"/>
                      </a:schemeClr>
                    </a:solidFill>
                  </a:tcPr>
                </a:tc>
                <a:tc>
                  <a:txBody>
                    <a:bodyPr/>
                    <a:lstStyle/>
                    <a:p>
                      <a:pPr algn="ctr"/>
                      <a:endParaRPr lang="ja-JP" altLang="en-US" sz="800" dirty="0"/>
                    </a:p>
                  </a:txBody>
                  <a:tcPr marL="45068" marR="45068" marT="22534" marB="22534" anchor="ctr">
                    <a:solidFill>
                      <a:schemeClr val="bg1">
                        <a:lumMod val="95000"/>
                      </a:schemeClr>
                    </a:solidFill>
                  </a:tcPr>
                </a:tc>
                <a:extLst>
                  <a:ext uri="{0D108BD9-81ED-4DB2-BD59-A6C34878D82A}">
                    <a16:rowId xmlns:a16="http://schemas.microsoft.com/office/drawing/2014/main" val="1045839836"/>
                  </a:ext>
                </a:extLst>
              </a:tr>
            </a:tbl>
          </a:graphicData>
        </a:graphic>
      </p:graphicFrame>
      <p:pic>
        <p:nvPicPr>
          <p:cNvPr id="7" name="図 6">
            <a:extLst>
              <a:ext uri="{FF2B5EF4-FFF2-40B4-BE49-F238E27FC236}">
                <a16:creationId xmlns:a16="http://schemas.microsoft.com/office/drawing/2014/main" id="{1D673706-B22E-58D1-B861-717C15F18000}"/>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1193591" y="962595"/>
            <a:ext cx="3823150" cy="3488436"/>
          </a:xfrm>
          <a:prstGeom prst="rect">
            <a:avLst/>
          </a:prstGeom>
        </p:spPr>
      </p:pic>
      <p:pic>
        <p:nvPicPr>
          <p:cNvPr id="9" name="図 8">
            <a:extLst>
              <a:ext uri="{FF2B5EF4-FFF2-40B4-BE49-F238E27FC236}">
                <a16:creationId xmlns:a16="http://schemas.microsoft.com/office/drawing/2014/main" id="{5CCA0A0F-B4F9-F24E-14A4-36EE267A03E8}"/>
              </a:ext>
            </a:extLst>
          </p:cNvPr>
          <p:cNvPicPr>
            <a:picLocks noChangeAspect="1"/>
          </p:cNvPicPr>
          <p:nvPr/>
        </p:nvPicPr>
        <p:blipFill rotWithShape="1">
          <a:blip r:embed="rId6">
            <a:extLst>
              <a:ext uri="{28A0092B-C50C-407E-A947-70E740481C1C}">
                <a14:useLocalDpi xmlns:a14="http://schemas.microsoft.com/office/drawing/2010/main" val="0"/>
              </a:ext>
            </a:extLst>
          </a:blip>
          <a:srcRect/>
          <a:stretch/>
        </p:blipFill>
        <p:spPr>
          <a:xfrm>
            <a:off x="5506814" y="975723"/>
            <a:ext cx="2272866" cy="3553968"/>
          </a:xfrm>
          <a:prstGeom prst="rect">
            <a:avLst/>
          </a:prstGeom>
        </p:spPr>
      </p:pic>
      <p:cxnSp>
        <p:nvCxnSpPr>
          <p:cNvPr id="16" name="直線コネクタ 15">
            <a:extLst>
              <a:ext uri="{FF2B5EF4-FFF2-40B4-BE49-F238E27FC236}">
                <a16:creationId xmlns:a16="http://schemas.microsoft.com/office/drawing/2014/main" id="{7C79AF86-08C5-72DE-E241-FBD3949BFBBD}"/>
              </a:ext>
            </a:extLst>
          </p:cNvPr>
          <p:cNvCxnSpPr>
            <a:cxnSpLocks/>
          </p:cNvCxnSpPr>
          <p:nvPr/>
        </p:nvCxnSpPr>
        <p:spPr>
          <a:xfrm>
            <a:off x="1155104" y="1157910"/>
            <a:ext cx="0" cy="1083755"/>
          </a:xfrm>
          <a:prstGeom prst="line">
            <a:avLst/>
          </a:prstGeom>
          <a:ln w="12700">
            <a:solidFill>
              <a:schemeClr val="tx2"/>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72CA8884-5EEC-CA54-102B-F9186DB7064F}"/>
              </a:ext>
            </a:extLst>
          </p:cNvPr>
          <p:cNvCxnSpPr>
            <a:cxnSpLocks/>
          </p:cNvCxnSpPr>
          <p:nvPr/>
        </p:nvCxnSpPr>
        <p:spPr>
          <a:xfrm>
            <a:off x="1155104" y="2241665"/>
            <a:ext cx="0" cy="1085297"/>
          </a:xfrm>
          <a:prstGeom prst="line">
            <a:avLst/>
          </a:prstGeom>
          <a:ln w="12700">
            <a:solidFill>
              <a:schemeClr val="tx2"/>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28AA30B3-68A2-E626-553D-B027A9B9D574}"/>
              </a:ext>
            </a:extLst>
          </p:cNvPr>
          <p:cNvCxnSpPr>
            <a:cxnSpLocks/>
          </p:cNvCxnSpPr>
          <p:nvPr/>
        </p:nvCxnSpPr>
        <p:spPr>
          <a:xfrm>
            <a:off x="1157557" y="3332925"/>
            <a:ext cx="0" cy="1095094"/>
          </a:xfrm>
          <a:prstGeom prst="line">
            <a:avLst/>
          </a:prstGeom>
          <a:ln w="12700">
            <a:solidFill>
              <a:schemeClr val="tx2"/>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D8003E8C-648A-2D1A-E3A2-BB2820B05A8C}"/>
              </a:ext>
            </a:extLst>
          </p:cNvPr>
          <p:cNvSpPr txBox="1"/>
          <p:nvPr/>
        </p:nvSpPr>
        <p:spPr>
          <a:xfrm>
            <a:off x="823883" y="1343018"/>
            <a:ext cx="369332" cy="707886"/>
          </a:xfrm>
          <a:prstGeom prst="rect">
            <a:avLst/>
          </a:prstGeom>
          <a:noFill/>
        </p:spPr>
        <p:txBody>
          <a:bodyPr vert="eaVert" wrap="none" rtlCol="0" anchor="ctr">
            <a:spAutoFit/>
          </a:bodyPr>
          <a:lstStyle/>
          <a:p>
            <a:r>
              <a:rPr kumimoji="1" lang="ja-JP" altLang="en-US" sz="1200" dirty="0"/>
              <a:t>平均気温</a:t>
            </a:r>
          </a:p>
        </p:txBody>
      </p:sp>
      <p:sp>
        <p:nvSpPr>
          <p:cNvPr id="25" name="テキスト ボックス 24">
            <a:extLst>
              <a:ext uri="{FF2B5EF4-FFF2-40B4-BE49-F238E27FC236}">
                <a16:creationId xmlns:a16="http://schemas.microsoft.com/office/drawing/2014/main" id="{E70225FE-CD46-0654-8280-E31DDE400D8E}"/>
              </a:ext>
            </a:extLst>
          </p:cNvPr>
          <p:cNvSpPr txBox="1"/>
          <p:nvPr/>
        </p:nvSpPr>
        <p:spPr>
          <a:xfrm>
            <a:off x="816714" y="2450243"/>
            <a:ext cx="369332" cy="707886"/>
          </a:xfrm>
          <a:prstGeom prst="rect">
            <a:avLst/>
          </a:prstGeom>
          <a:noFill/>
        </p:spPr>
        <p:txBody>
          <a:bodyPr vert="eaVert" wrap="none" rtlCol="0" anchor="ctr">
            <a:spAutoFit/>
          </a:bodyPr>
          <a:lstStyle/>
          <a:p>
            <a:r>
              <a:rPr lang="ja-JP" altLang="en-US" sz="1200" dirty="0"/>
              <a:t>最高</a:t>
            </a:r>
            <a:r>
              <a:rPr kumimoji="1" lang="ja-JP" altLang="en-US" sz="1200" dirty="0"/>
              <a:t>気温</a:t>
            </a:r>
          </a:p>
        </p:txBody>
      </p:sp>
      <p:sp>
        <p:nvSpPr>
          <p:cNvPr id="27" name="テキスト ボックス 26">
            <a:extLst>
              <a:ext uri="{FF2B5EF4-FFF2-40B4-BE49-F238E27FC236}">
                <a16:creationId xmlns:a16="http://schemas.microsoft.com/office/drawing/2014/main" id="{85AF7DF2-7DFB-57CF-DD67-2514A4560D8F}"/>
              </a:ext>
            </a:extLst>
          </p:cNvPr>
          <p:cNvSpPr txBox="1"/>
          <p:nvPr/>
        </p:nvSpPr>
        <p:spPr>
          <a:xfrm>
            <a:off x="823882" y="3492699"/>
            <a:ext cx="369332" cy="707886"/>
          </a:xfrm>
          <a:prstGeom prst="rect">
            <a:avLst/>
          </a:prstGeom>
          <a:noFill/>
        </p:spPr>
        <p:txBody>
          <a:bodyPr vert="eaVert" wrap="none" rtlCol="0" anchor="ctr">
            <a:spAutoFit/>
          </a:bodyPr>
          <a:lstStyle/>
          <a:p>
            <a:r>
              <a:rPr lang="ja-JP" altLang="en-US" sz="1200" dirty="0"/>
              <a:t>最低</a:t>
            </a:r>
            <a:r>
              <a:rPr kumimoji="1" lang="ja-JP" altLang="en-US" sz="1200" dirty="0"/>
              <a:t>気温</a:t>
            </a:r>
          </a:p>
        </p:txBody>
      </p:sp>
      <p:sp>
        <p:nvSpPr>
          <p:cNvPr id="36" name="正方形/長方形 35">
            <a:extLst>
              <a:ext uri="{FF2B5EF4-FFF2-40B4-BE49-F238E27FC236}">
                <a16:creationId xmlns:a16="http://schemas.microsoft.com/office/drawing/2014/main" id="{BDDE630D-9BA7-D295-46C1-9E09432A4348}"/>
              </a:ext>
            </a:extLst>
          </p:cNvPr>
          <p:cNvSpPr/>
          <p:nvPr/>
        </p:nvSpPr>
        <p:spPr>
          <a:xfrm>
            <a:off x="3255823" y="1157910"/>
            <a:ext cx="241200" cy="3276000"/>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039AD1C9-1172-77D7-FD7E-045A0237DED6}"/>
              </a:ext>
            </a:extLst>
          </p:cNvPr>
          <p:cNvSpPr/>
          <p:nvPr/>
        </p:nvSpPr>
        <p:spPr>
          <a:xfrm>
            <a:off x="3743463" y="1164887"/>
            <a:ext cx="241200" cy="3263132"/>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正方形/長方形 39">
            <a:extLst>
              <a:ext uri="{FF2B5EF4-FFF2-40B4-BE49-F238E27FC236}">
                <a16:creationId xmlns:a16="http://schemas.microsoft.com/office/drawing/2014/main" id="{675A21F4-A94E-5CCB-400F-CCA7C14791FA}"/>
              </a:ext>
            </a:extLst>
          </p:cNvPr>
          <p:cNvSpPr/>
          <p:nvPr/>
        </p:nvSpPr>
        <p:spPr>
          <a:xfrm>
            <a:off x="7506187" y="1084133"/>
            <a:ext cx="256030" cy="3438000"/>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二等辺三角形 43">
            <a:extLst>
              <a:ext uri="{FF2B5EF4-FFF2-40B4-BE49-F238E27FC236}">
                <a16:creationId xmlns:a16="http://schemas.microsoft.com/office/drawing/2014/main" id="{D2F26D84-85B3-6FB0-15D9-A615012A8518}"/>
              </a:ext>
            </a:extLst>
          </p:cNvPr>
          <p:cNvSpPr/>
          <p:nvPr/>
        </p:nvSpPr>
        <p:spPr>
          <a:xfrm rot="13133778">
            <a:off x="4033210" y="1315146"/>
            <a:ext cx="98456" cy="285712"/>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6" name="四角形: 角を丸くする 45">
            <a:extLst>
              <a:ext uri="{FF2B5EF4-FFF2-40B4-BE49-F238E27FC236}">
                <a16:creationId xmlns:a16="http://schemas.microsoft.com/office/drawing/2014/main" id="{558A3464-83E1-9F72-8603-BB4CCD8FA8EF}"/>
              </a:ext>
            </a:extLst>
          </p:cNvPr>
          <p:cNvSpPr/>
          <p:nvPr/>
        </p:nvSpPr>
        <p:spPr>
          <a:xfrm>
            <a:off x="6207776" y="1066313"/>
            <a:ext cx="1210336" cy="423438"/>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rPr>
              <a:t>予測値の平年値</a:t>
            </a:r>
            <a:endParaRPr lang="en-US" altLang="ja-JP" sz="1100" dirty="0">
              <a:solidFill>
                <a:schemeClr val="bg1"/>
              </a:solidFill>
            </a:endParaRPr>
          </a:p>
          <a:p>
            <a:pPr algn="ctr"/>
            <a:r>
              <a:rPr lang="ja-JP" altLang="en-US" sz="1100" dirty="0">
                <a:solidFill>
                  <a:schemeClr val="bg1"/>
                </a:solidFill>
              </a:rPr>
              <a:t>（</a:t>
            </a:r>
            <a:r>
              <a:rPr lang="en-US" altLang="ja-JP" sz="1100" dirty="0">
                <a:solidFill>
                  <a:schemeClr val="bg1"/>
                </a:solidFill>
              </a:rPr>
              <a:t>0.1</a:t>
            </a:r>
            <a:r>
              <a:rPr lang="ja-JP" altLang="en-US" sz="1100" dirty="0">
                <a:solidFill>
                  <a:schemeClr val="bg1"/>
                </a:solidFill>
              </a:rPr>
              <a:t>℃単位）</a:t>
            </a:r>
            <a:endParaRPr lang="en-US" altLang="ja-JP" sz="1100" dirty="0">
              <a:solidFill>
                <a:schemeClr val="bg1"/>
              </a:solidFill>
            </a:endParaRPr>
          </a:p>
        </p:txBody>
      </p:sp>
      <p:sp>
        <p:nvSpPr>
          <p:cNvPr id="48" name="二等辺三角形 47">
            <a:extLst>
              <a:ext uri="{FF2B5EF4-FFF2-40B4-BE49-F238E27FC236}">
                <a16:creationId xmlns:a16="http://schemas.microsoft.com/office/drawing/2014/main" id="{1A5DD086-55F8-3614-8D79-2BDA1A02929A}"/>
              </a:ext>
            </a:extLst>
          </p:cNvPr>
          <p:cNvSpPr/>
          <p:nvPr/>
        </p:nvSpPr>
        <p:spPr>
          <a:xfrm rot="7838020">
            <a:off x="7320012" y="1304499"/>
            <a:ext cx="98456" cy="285712"/>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9" name="テキスト ボックス 48">
            <a:extLst>
              <a:ext uri="{FF2B5EF4-FFF2-40B4-BE49-F238E27FC236}">
                <a16:creationId xmlns:a16="http://schemas.microsoft.com/office/drawing/2014/main" id="{E136CF2A-24F2-DFDC-D5F2-E7C3BC91D8ED}"/>
              </a:ext>
            </a:extLst>
          </p:cNvPr>
          <p:cNvSpPr txBox="1"/>
          <p:nvPr/>
        </p:nvSpPr>
        <p:spPr>
          <a:xfrm>
            <a:off x="1691785" y="686024"/>
            <a:ext cx="5885639" cy="276999"/>
          </a:xfrm>
          <a:prstGeom prst="rect">
            <a:avLst/>
          </a:prstGeom>
          <a:noFill/>
        </p:spPr>
        <p:txBody>
          <a:bodyPr wrap="square" rtlCol="0">
            <a:spAutoFit/>
          </a:bodyPr>
          <a:lstStyle/>
          <a:p>
            <a:pPr algn="ctr"/>
            <a:r>
              <a:rPr kumimoji="1" lang="en-US" altLang="ja-JP" sz="1200" b="1" dirty="0"/>
              <a:t>2</a:t>
            </a:r>
            <a:r>
              <a:rPr kumimoji="1" lang="ja-JP" altLang="en-US" sz="1200" b="1" dirty="0"/>
              <a:t>週間気温予報の</a:t>
            </a:r>
            <a:r>
              <a:rPr kumimoji="1" lang="en-US" altLang="ja-JP" sz="1200" b="1" dirty="0"/>
              <a:t>CSV</a:t>
            </a:r>
            <a:r>
              <a:rPr kumimoji="1" lang="ja-JP" altLang="en-US" sz="1200" b="1" dirty="0"/>
              <a:t>ファイルの例（初期値：</a:t>
            </a:r>
            <a:r>
              <a:rPr kumimoji="1" lang="en-US" altLang="ja-JP" sz="1200" b="1" dirty="0"/>
              <a:t>2022</a:t>
            </a:r>
            <a:r>
              <a:rPr kumimoji="1" lang="ja-JP" altLang="en-US" sz="1200" b="1" dirty="0"/>
              <a:t>年</a:t>
            </a:r>
            <a:r>
              <a:rPr kumimoji="1" lang="en-US" altLang="ja-JP" sz="1200" b="1" dirty="0"/>
              <a:t>9</a:t>
            </a:r>
            <a:r>
              <a:rPr kumimoji="1" lang="ja-JP" altLang="en-US" sz="1200" b="1" dirty="0"/>
              <a:t>月</a:t>
            </a:r>
            <a:r>
              <a:rPr kumimoji="1" lang="en-US" altLang="ja-JP" sz="1200" b="1" dirty="0"/>
              <a:t>13</a:t>
            </a:r>
            <a:r>
              <a:rPr kumimoji="1" lang="ja-JP" altLang="en-US" sz="1200" b="1" dirty="0"/>
              <a:t>日、地点：東京）</a:t>
            </a:r>
          </a:p>
        </p:txBody>
      </p:sp>
      <p:sp>
        <p:nvSpPr>
          <p:cNvPr id="55" name="正方形/長方形 54">
            <a:extLst>
              <a:ext uri="{FF2B5EF4-FFF2-40B4-BE49-F238E27FC236}">
                <a16:creationId xmlns:a16="http://schemas.microsoft.com/office/drawing/2014/main" id="{95C3A626-5F29-CB4A-76B2-CC73F589DC76}"/>
              </a:ext>
            </a:extLst>
          </p:cNvPr>
          <p:cNvSpPr/>
          <p:nvPr/>
        </p:nvSpPr>
        <p:spPr>
          <a:xfrm>
            <a:off x="1194406" y="2492459"/>
            <a:ext cx="6572573" cy="90000"/>
          </a:xfrm>
          <a:prstGeom prst="rect">
            <a:avLst/>
          </a:prstGeom>
          <a:noFill/>
          <a:ln>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テキスト ボックス 60">
            <a:extLst>
              <a:ext uri="{FF2B5EF4-FFF2-40B4-BE49-F238E27FC236}">
                <a16:creationId xmlns:a16="http://schemas.microsoft.com/office/drawing/2014/main" id="{ABAE1E56-F510-CADA-C236-07E910935F20}"/>
              </a:ext>
            </a:extLst>
          </p:cNvPr>
          <p:cNvSpPr txBox="1"/>
          <p:nvPr/>
        </p:nvSpPr>
        <p:spPr>
          <a:xfrm>
            <a:off x="4928687" y="2396442"/>
            <a:ext cx="875846" cy="276999"/>
          </a:xfrm>
          <a:prstGeom prst="rect">
            <a:avLst/>
          </a:prstGeom>
          <a:noFill/>
        </p:spPr>
        <p:txBody>
          <a:bodyPr wrap="square" rtlCol="0">
            <a:spAutoFit/>
          </a:bodyPr>
          <a:lstStyle/>
          <a:p>
            <a:pPr algn="ctr"/>
            <a:r>
              <a:rPr kumimoji="1" lang="ja-JP" altLang="en-US" sz="1200" dirty="0"/>
              <a:t>・・・</a:t>
            </a:r>
          </a:p>
        </p:txBody>
      </p:sp>
      <p:sp>
        <p:nvSpPr>
          <p:cNvPr id="63" name="テキスト ボックス 62">
            <a:extLst>
              <a:ext uri="{FF2B5EF4-FFF2-40B4-BE49-F238E27FC236}">
                <a16:creationId xmlns:a16="http://schemas.microsoft.com/office/drawing/2014/main" id="{F0803E90-55E6-A284-A999-7566450A32B3}"/>
              </a:ext>
            </a:extLst>
          </p:cNvPr>
          <p:cNvSpPr txBox="1"/>
          <p:nvPr/>
        </p:nvSpPr>
        <p:spPr>
          <a:xfrm>
            <a:off x="4928687" y="1764214"/>
            <a:ext cx="875846" cy="276999"/>
          </a:xfrm>
          <a:prstGeom prst="rect">
            <a:avLst/>
          </a:prstGeom>
          <a:noFill/>
        </p:spPr>
        <p:txBody>
          <a:bodyPr wrap="square" rtlCol="0">
            <a:spAutoFit/>
          </a:bodyPr>
          <a:lstStyle/>
          <a:p>
            <a:pPr algn="ctr"/>
            <a:r>
              <a:rPr kumimoji="1" lang="ja-JP" altLang="en-US" sz="1200" dirty="0"/>
              <a:t>・・・</a:t>
            </a:r>
          </a:p>
        </p:txBody>
      </p:sp>
      <p:sp>
        <p:nvSpPr>
          <p:cNvPr id="65" name="テキスト ボックス 64">
            <a:extLst>
              <a:ext uri="{FF2B5EF4-FFF2-40B4-BE49-F238E27FC236}">
                <a16:creationId xmlns:a16="http://schemas.microsoft.com/office/drawing/2014/main" id="{F3DBBF79-9355-C03C-B6FB-D0ACF0237C43}"/>
              </a:ext>
            </a:extLst>
          </p:cNvPr>
          <p:cNvSpPr txBox="1"/>
          <p:nvPr/>
        </p:nvSpPr>
        <p:spPr>
          <a:xfrm>
            <a:off x="4928687" y="3841616"/>
            <a:ext cx="875846" cy="276999"/>
          </a:xfrm>
          <a:prstGeom prst="rect">
            <a:avLst/>
          </a:prstGeom>
          <a:noFill/>
        </p:spPr>
        <p:txBody>
          <a:bodyPr wrap="square" rtlCol="0">
            <a:spAutoFit/>
          </a:bodyPr>
          <a:lstStyle/>
          <a:p>
            <a:pPr algn="ctr"/>
            <a:r>
              <a:rPr kumimoji="1" lang="ja-JP" altLang="en-US" sz="1200" dirty="0"/>
              <a:t>・・・</a:t>
            </a:r>
          </a:p>
        </p:txBody>
      </p:sp>
      <p:sp>
        <p:nvSpPr>
          <p:cNvPr id="72" name="正方形/長方形 71">
            <a:extLst>
              <a:ext uri="{FF2B5EF4-FFF2-40B4-BE49-F238E27FC236}">
                <a16:creationId xmlns:a16="http://schemas.microsoft.com/office/drawing/2014/main" id="{C3509C13-249A-F4AF-4B69-5082770C6255}"/>
              </a:ext>
            </a:extLst>
          </p:cNvPr>
          <p:cNvSpPr/>
          <p:nvPr/>
        </p:nvSpPr>
        <p:spPr>
          <a:xfrm>
            <a:off x="1306544" y="1066313"/>
            <a:ext cx="720000" cy="90000"/>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二等辺三角形 75">
            <a:extLst>
              <a:ext uri="{FF2B5EF4-FFF2-40B4-BE49-F238E27FC236}">
                <a16:creationId xmlns:a16="http://schemas.microsoft.com/office/drawing/2014/main" id="{D341007C-15E3-770B-2245-6665BC0C462A}"/>
              </a:ext>
            </a:extLst>
          </p:cNvPr>
          <p:cNvSpPr/>
          <p:nvPr/>
        </p:nvSpPr>
        <p:spPr>
          <a:xfrm rot="19167449">
            <a:off x="1806928" y="1107418"/>
            <a:ext cx="98456" cy="285712"/>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4" name="四角形: 角を丸くする 73">
            <a:extLst>
              <a:ext uri="{FF2B5EF4-FFF2-40B4-BE49-F238E27FC236}">
                <a16:creationId xmlns:a16="http://schemas.microsoft.com/office/drawing/2014/main" id="{EA190BE1-67F4-1D70-2EFD-D06148638457}"/>
              </a:ext>
            </a:extLst>
          </p:cNvPr>
          <p:cNvSpPr/>
          <p:nvPr/>
        </p:nvSpPr>
        <p:spPr>
          <a:xfrm>
            <a:off x="1704346" y="1229183"/>
            <a:ext cx="1292665" cy="27700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rPr>
              <a:t>初期値の年月日</a:t>
            </a:r>
            <a:endParaRPr lang="en-US" altLang="ja-JP" sz="1100" dirty="0">
              <a:solidFill>
                <a:schemeClr val="bg1"/>
              </a:solidFill>
            </a:endParaRPr>
          </a:p>
        </p:txBody>
      </p:sp>
      <p:sp>
        <p:nvSpPr>
          <p:cNvPr id="78" name="二等辺三角形 77">
            <a:extLst>
              <a:ext uri="{FF2B5EF4-FFF2-40B4-BE49-F238E27FC236}">
                <a16:creationId xmlns:a16="http://schemas.microsoft.com/office/drawing/2014/main" id="{098220B2-5F69-8188-B400-86FA9CEA3378}"/>
              </a:ext>
            </a:extLst>
          </p:cNvPr>
          <p:cNvSpPr/>
          <p:nvPr/>
        </p:nvSpPr>
        <p:spPr>
          <a:xfrm rot="7235177">
            <a:off x="3109535" y="3266593"/>
            <a:ext cx="98456" cy="285712"/>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80" name="四角形: 角を丸くする 79">
            <a:extLst>
              <a:ext uri="{FF2B5EF4-FFF2-40B4-BE49-F238E27FC236}">
                <a16:creationId xmlns:a16="http://schemas.microsoft.com/office/drawing/2014/main" id="{8DFD6ADA-1011-0CBC-4AFA-1CD4B6CBCDF5}"/>
              </a:ext>
            </a:extLst>
          </p:cNvPr>
          <p:cNvSpPr/>
          <p:nvPr/>
        </p:nvSpPr>
        <p:spPr>
          <a:xfrm>
            <a:off x="1931971" y="2906279"/>
            <a:ext cx="1231222" cy="671748"/>
          </a:xfrm>
          <a:prstGeom prst="roundRect">
            <a:avLst>
              <a:gd name="adj" fmla="val 11193"/>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100" dirty="0"/>
              <a:t>1</a:t>
            </a:r>
            <a:r>
              <a:rPr lang="ja-JP" altLang="en-US" sz="1100" dirty="0"/>
              <a:t>：日平均気温</a:t>
            </a:r>
            <a:endParaRPr lang="en-US" altLang="ja-JP" sz="1100" dirty="0"/>
          </a:p>
          <a:p>
            <a:pPr algn="ctr"/>
            <a:r>
              <a:rPr lang="en-US" altLang="ja-JP" sz="1100" dirty="0"/>
              <a:t>2</a:t>
            </a:r>
            <a:r>
              <a:rPr lang="ja-JP" altLang="en-US" sz="1100" dirty="0"/>
              <a:t>：日最高気温</a:t>
            </a:r>
            <a:endParaRPr lang="en-US" altLang="ja-JP" sz="1100" dirty="0"/>
          </a:p>
          <a:p>
            <a:pPr algn="ctr"/>
            <a:r>
              <a:rPr lang="en-US" altLang="ja-JP" sz="1100" dirty="0"/>
              <a:t>3</a:t>
            </a:r>
            <a:r>
              <a:rPr lang="ja-JP" altLang="en-US" sz="1100" dirty="0"/>
              <a:t>：日最低気温</a:t>
            </a:r>
            <a:endParaRPr lang="en-US" altLang="ja-JP" sz="1100" dirty="0">
              <a:solidFill>
                <a:schemeClr val="bg1"/>
              </a:solidFill>
            </a:endParaRPr>
          </a:p>
        </p:txBody>
      </p:sp>
      <p:sp>
        <p:nvSpPr>
          <p:cNvPr id="83" name="フリーフォーム: 図形 82">
            <a:extLst>
              <a:ext uri="{FF2B5EF4-FFF2-40B4-BE49-F238E27FC236}">
                <a16:creationId xmlns:a16="http://schemas.microsoft.com/office/drawing/2014/main" id="{6AD93039-C828-4436-9F7B-7DCEF8BF6795}"/>
              </a:ext>
            </a:extLst>
          </p:cNvPr>
          <p:cNvSpPr/>
          <p:nvPr/>
        </p:nvSpPr>
        <p:spPr>
          <a:xfrm>
            <a:off x="3945183" y="2641604"/>
            <a:ext cx="3071578" cy="986639"/>
          </a:xfrm>
          <a:custGeom>
            <a:avLst/>
            <a:gdLst>
              <a:gd name="connsiteX0" fmla="*/ 1412483 w 3071578"/>
              <a:gd name="connsiteY0" fmla="*/ 0 h 986639"/>
              <a:gd name="connsiteX1" fmla="*/ 1479546 w 3071578"/>
              <a:gd name="connsiteY1" fmla="*/ 214950 h 986639"/>
              <a:gd name="connsiteX2" fmla="*/ 2981059 w 3071578"/>
              <a:gd name="connsiteY2" fmla="*/ 214950 h 986639"/>
              <a:gd name="connsiteX3" fmla="*/ 3071578 w 3071578"/>
              <a:gd name="connsiteY3" fmla="*/ 305469 h 986639"/>
              <a:gd name="connsiteX4" fmla="*/ 3071578 w 3071578"/>
              <a:gd name="connsiteY4" fmla="*/ 896120 h 986639"/>
              <a:gd name="connsiteX5" fmla="*/ 2981059 w 3071578"/>
              <a:gd name="connsiteY5" fmla="*/ 986639 h 986639"/>
              <a:gd name="connsiteX6" fmla="*/ 90519 w 3071578"/>
              <a:gd name="connsiteY6" fmla="*/ 986639 h 986639"/>
              <a:gd name="connsiteX7" fmla="*/ 0 w 3071578"/>
              <a:gd name="connsiteY7" fmla="*/ 896120 h 986639"/>
              <a:gd name="connsiteX8" fmla="*/ 0 w 3071578"/>
              <a:gd name="connsiteY8" fmla="*/ 305469 h 986639"/>
              <a:gd name="connsiteX9" fmla="*/ 90519 w 3071578"/>
              <a:gd name="connsiteY9" fmla="*/ 214950 h 986639"/>
              <a:gd name="connsiteX10" fmla="*/ 1345421 w 3071578"/>
              <a:gd name="connsiteY10" fmla="*/ 214950 h 986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71578" h="986639">
                <a:moveTo>
                  <a:pt x="1412483" y="0"/>
                </a:moveTo>
                <a:lnTo>
                  <a:pt x="1479546" y="214950"/>
                </a:lnTo>
                <a:lnTo>
                  <a:pt x="2981059" y="214950"/>
                </a:lnTo>
                <a:cubicBezTo>
                  <a:pt x="3031051" y="214950"/>
                  <a:pt x="3071578" y="255477"/>
                  <a:pt x="3071578" y="305469"/>
                </a:cubicBezTo>
                <a:lnTo>
                  <a:pt x="3071578" y="896120"/>
                </a:lnTo>
                <a:cubicBezTo>
                  <a:pt x="3071578" y="946112"/>
                  <a:pt x="3031051" y="986639"/>
                  <a:pt x="2981059" y="986639"/>
                </a:cubicBezTo>
                <a:lnTo>
                  <a:pt x="90519" y="986639"/>
                </a:lnTo>
                <a:cubicBezTo>
                  <a:pt x="40527" y="986639"/>
                  <a:pt x="0" y="946112"/>
                  <a:pt x="0" y="896120"/>
                </a:cubicBezTo>
                <a:lnTo>
                  <a:pt x="0" y="305469"/>
                </a:lnTo>
                <a:cubicBezTo>
                  <a:pt x="0" y="255477"/>
                  <a:pt x="40527" y="214950"/>
                  <a:pt x="90519" y="214950"/>
                </a:cubicBezTo>
                <a:lnTo>
                  <a:pt x="1345421" y="214950"/>
                </a:lnTo>
                <a:close/>
              </a:path>
            </a:pathLst>
          </a:custGeom>
          <a:solidFill>
            <a:schemeClr val="bg1"/>
          </a:solidFill>
          <a:ln>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58" name="テキスト ボックス 57">
            <a:extLst>
              <a:ext uri="{FF2B5EF4-FFF2-40B4-BE49-F238E27FC236}">
                <a16:creationId xmlns:a16="http://schemas.microsoft.com/office/drawing/2014/main" id="{318F079C-A9F2-732B-A1B7-FCFC3E911458}"/>
              </a:ext>
            </a:extLst>
          </p:cNvPr>
          <p:cNvSpPr txBox="1"/>
          <p:nvPr/>
        </p:nvSpPr>
        <p:spPr>
          <a:xfrm>
            <a:off x="4052349" y="2900461"/>
            <a:ext cx="2952229" cy="665952"/>
          </a:xfrm>
          <a:prstGeom prst="rect">
            <a:avLst/>
          </a:prstGeom>
          <a:noFill/>
        </p:spPr>
        <p:txBody>
          <a:bodyPr wrap="square" rtlCol="0">
            <a:spAutoFit/>
          </a:bodyPr>
          <a:lstStyle/>
          <a:p>
            <a:pPr algn="ctr">
              <a:lnSpc>
                <a:spcPct val="120000"/>
              </a:lnSpc>
            </a:pPr>
            <a:r>
              <a:rPr kumimoji="1" lang="ja-JP" altLang="en-US" sz="1050" b="1" dirty="0"/>
              <a:t>この行のデータの読み方</a:t>
            </a:r>
            <a:endParaRPr kumimoji="1" lang="en-US" altLang="ja-JP" sz="1050" b="1" dirty="0"/>
          </a:p>
          <a:p>
            <a:pPr>
              <a:lnSpc>
                <a:spcPct val="120000"/>
              </a:lnSpc>
            </a:pPr>
            <a:r>
              <a:rPr kumimoji="1" lang="ja-JP" altLang="en-US" sz="1050" dirty="0"/>
              <a:t>東京（</a:t>
            </a:r>
            <a:r>
              <a:rPr kumimoji="1" lang="en-US" altLang="ja-JP" sz="1050" dirty="0"/>
              <a:t>47662</a:t>
            </a:r>
            <a:r>
              <a:rPr kumimoji="1" lang="ja-JP" altLang="en-US" sz="1050" dirty="0"/>
              <a:t>）における</a:t>
            </a:r>
            <a:r>
              <a:rPr kumimoji="1" lang="en-US" altLang="ja-JP" sz="1050" dirty="0"/>
              <a:t>9</a:t>
            </a:r>
            <a:r>
              <a:rPr lang="en-US" altLang="ja-JP" sz="1050" dirty="0"/>
              <a:t>/</a:t>
            </a:r>
            <a:r>
              <a:rPr kumimoji="1" lang="en-US" altLang="ja-JP" sz="1050" dirty="0"/>
              <a:t>17</a:t>
            </a:r>
            <a:r>
              <a:rPr kumimoji="1" lang="ja-JP" altLang="en-US" sz="1050" dirty="0"/>
              <a:t>～</a:t>
            </a:r>
            <a:r>
              <a:rPr kumimoji="1" lang="en-US" altLang="ja-JP" sz="1050" dirty="0"/>
              <a:t>9/21</a:t>
            </a:r>
            <a:r>
              <a:rPr kumimoji="1" lang="ja-JP" altLang="en-US" sz="1050" dirty="0"/>
              <a:t>の</a:t>
            </a:r>
            <a:r>
              <a:rPr kumimoji="1" lang="en-US" altLang="ja-JP" sz="1050" dirty="0"/>
              <a:t>5</a:t>
            </a:r>
            <a:r>
              <a:rPr kumimoji="1" lang="ja-JP" altLang="en-US" sz="1050" dirty="0"/>
              <a:t>日間</a:t>
            </a:r>
            <a:r>
              <a:rPr lang="ja-JP" altLang="en-US" sz="1050" dirty="0"/>
              <a:t>の最高</a:t>
            </a:r>
            <a:r>
              <a:rPr kumimoji="1" lang="ja-JP" altLang="en-US" sz="1050" dirty="0"/>
              <a:t>気温の平年差は＋</a:t>
            </a:r>
            <a:r>
              <a:rPr kumimoji="1" lang="en-US" altLang="ja-JP" sz="1050" dirty="0"/>
              <a:t>2.0</a:t>
            </a:r>
            <a:r>
              <a:rPr kumimoji="1" lang="ja-JP" altLang="en-US" sz="1050" dirty="0"/>
              <a:t>℃、平年値は</a:t>
            </a:r>
            <a:r>
              <a:rPr kumimoji="1" lang="en-US" altLang="ja-JP" sz="1050" dirty="0"/>
              <a:t>26.8</a:t>
            </a:r>
            <a:r>
              <a:rPr kumimoji="1" lang="ja-JP" altLang="en-US" sz="1050" dirty="0"/>
              <a:t>℃</a:t>
            </a:r>
          </a:p>
        </p:txBody>
      </p:sp>
      <p:sp>
        <p:nvSpPr>
          <p:cNvPr id="42" name="四角形: 角を丸くする 41">
            <a:extLst>
              <a:ext uri="{FF2B5EF4-FFF2-40B4-BE49-F238E27FC236}">
                <a16:creationId xmlns:a16="http://schemas.microsoft.com/office/drawing/2014/main" id="{01CFC5C6-17D5-1195-F841-0547FD7C75A2}"/>
              </a:ext>
            </a:extLst>
          </p:cNvPr>
          <p:cNvSpPr/>
          <p:nvPr/>
        </p:nvSpPr>
        <p:spPr>
          <a:xfrm>
            <a:off x="4086965" y="1092608"/>
            <a:ext cx="1353480" cy="487226"/>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rPr>
              <a:t>予測値の平年差</a:t>
            </a:r>
            <a:endParaRPr lang="en-US" altLang="ja-JP" sz="1100" dirty="0">
              <a:solidFill>
                <a:schemeClr val="bg1"/>
              </a:solidFill>
            </a:endParaRPr>
          </a:p>
          <a:p>
            <a:pPr algn="ctr"/>
            <a:r>
              <a:rPr lang="ja-JP" altLang="en-US" sz="1100" dirty="0">
                <a:solidFill>
                  <a:schemeClr val="bg1"/>
                </a:solidFill>
              </a:rPr>
              <a:t>（</a:t>
            </a:r>
            <a:r>
              <a:rPr lang="en-US" altLang="ja-JP" sz="1100" dirty="0">
                <a:solidFill>
                  <a:schemeClr val="bg1"/>
                </a:solidFill>
              </a:rPr>
              <a:t>0.1</a:t>
            </a:r>
            <a:r>
              <a:rPr lang="ja-JP" altLang="en-US" sz="1100" dirty="0">
                <a:solidFill>
                  <a:schemeClr val="bg1"/>
                </a:solidFill>
              </a:rPr>
              <a:t>℃単位）</a:t>
            </a:r>
            <a:endParaRPr lang="en-US" altLang="ja-JP" sz="1100" dirty="0">
              <a:solidFill>
                <a:schemeClr val="bg1"/>
              </a:solidFill>
            </a:endParaRPr>
          </a:p>
        </p:txBody>
      </p:sp>
      <p:sp>
        <p:nvSpPr>
          <p:cNvPr id="3" name="スライド番号プレースホルダー 2">
            <a:extLst>
              <a:ext uri="{FF2B5EF4-FFF2-40B4-BE49-F238E27FC236}">
                <a16:creationId xmlns:a16="http://schemas.microsoft.com/office/drawing/2014/main" id="{422C17A3-B18C-7FF0-6199-03273988A747}"/>
              </a:ext>
            </a:extLst>
          </p:cNvPr>
          <p:cNvSpPr>
            <a:spLocks noGrp="1"/>
          </p:cNvSpPr>
          <p:nvPr>
            <p:ph type="sldNum" sz="quarter" idx="12"/>
          </p:nvPr>
        </p:nvSpPr>
        <p:spPr/>
        <p:txBody>
          <a:bodyPr/>
          <a:lstStyle/>
          <a:p>
            <a:fld id="{5F9F9204-6EDA-41A6-81B7-5E8491083ADF}" type="slidenum">
              <a:rPr kumimoji="1" lang="ja-JP" altLang="en-US" smtClean="0"/>
              <a:t>22</a:t>
            </a:fld>
            <a:endParaRPr kumimoji="1" lang="ja-JP" altLang="en-US" dirty="0"/>
          </a:p>
        </p:txBody>
      </p:sp>
    </p:spTree>
    <p:extLst>
      <p:ext uri="{BB962C8B-B14F-4D97-AF65-F5344CB8AC3E}">
        <p14:creationId xmlns:p14="http://schemas.microsoft.com/office/powerpoint/2010/main" val="3672844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表 5">
            <a:extLst>
              <a:ext uri="{FF2B5EF4-FFF2-40B4-BE49-F238E27FC236}">
                <a16:creationId xmlns:a16="http://schemas.microsoft.com/office/drawing/2014/main" id="{1E9E0E3C-96D6-81BE-8DEF-6E4791B64E23}"/>
              </a:ext>
            </a:extLst>
          </p:cNvPr>
          <p:cNvGraphicFramePr>
            <a:graphicFrameLocks noGrp="1"/>
          </p:cNvGraphicFramePr>
          <p:nvPr>
            <p:extLst>
              <p:ext uri="{D42A27DB-BD31-4B8C-83A1-F6EECF244321}">
                <p14:modId xmlns:p14="http://schemas.microsoft.com/office/powerpoint/2010/main" val="1066937364"/>
              </p:ext>
            </p:extLst>
          </p:nvPr>
        </p:nvGraphicFramePr>
        <p:xfrm>
          <a:off x="4669136" y="3042705"/>
          <a:ext cx="4068000" cy="153216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2310263"/>
                    </a:ext>
                  </a:extLst>
                </a:gridCol>
                <a:gridCol w="2880000">
                  <a:extLst>
                    <a:ext uri="{9D8B030D-6E8A-4147-A177-3AD203B41FA5}">
                      <a16:colId xmlns:a16="http://schemas.microsoft.com/office/drawing/2014/main" val="230675405"/>
                    </a:ext>
                  </a:extLst>
                </a:gridCol>
                <a:gridCol w="540000">
                  <a:extLst>
                    <a:ext uri="{9D8B030D-6E8A-4147-A177-3AD203B41FA5}">
                      <a16:colId xmlns:a16="http://schemas.microsoft.com/office/drawing/2014/main" val="3772934908"/>
                    </a:ext>
                  </a:extLst>
                </a:gridCol>
              </a:tblGrid>
              <a:tr h="252000">
                <a:tc>
                  <a:txBody>
                    <a:bodyPr/>
                    <a:lstStyle/>
                    <a:p>
                      <a:pPr algn="ctr"/>
                      <a:r>
                        <a:rPr lang="ja-JP" altLang="en-US" sz="1000" dirty="0"/>
                        <a:t>カラム</a:t>
                      </a:r>
                    </a:p>
                  </a:txBody>
                  <a:tcPr marL="45068" marR="45068" marT="22534" marB="22534" anchor="ctr">
                    <a:solidFill>
                      <a:schemeClr val="tx2"/>
                    </a:solidFill>
                  </a:tcPr>
                </a:tc>
                <a:tc>
                  <a:txBody>
                    <a:bodyPr/>
                    <a:lstStyle/>
                    <a:p>
                      <a:pPr algn="ctr"/>
                      <a:r>
                        <a:rPr lang="ja-JP" altLang="en-US" sz="1000" dirty="0"/>
                        <a:t>要素</a:t>
                      </a:r>
                    </a:p>
                  </a:txBody>
                  <a:tcPr marL="45068" marR="45068" marT="22534" marB="22534" anchor="ctr">
                    <a:solidFill>
                      <a:schemeClr val="tx2"/>
                    </a:solidFill>
                  </a:tcPr>
                </a:tc>
                <a:tc>
                  <a:txBody>
                    <a:bodyPr/>
                    <a:lstStyle/>
                    <a:p>
                      <a:pPr algn="ctr"/>
                      <a:r>
                        <a:rPr lang="ja-JP" altLang="en-US" sz="1000" dirty="0"/>
                        <a:t>単位</a:t>
                      </a:r>
                    </a:p>
                  </a:txBody>
                  <a:tcPr marL="45068" marR="45068" marT="22534" marB="22534" anchor="ctr">
                    <a:solidFill>
                      <a:schemeClr val="tx2"/>
                    </a:solidFill>
                  </a:tcPr>
                </a:tc>
                <a:extLst>
                  <a:ext uri="{0D108BD9-81ED-4DB2-BD59-A6C34878D82A}">
                    <a16:rowId xmlns:a16="http://schemas.microsoft.com/office/drawing/2014/main" val="2227192188"/>
                  </a:ext>
                </a:extLst>
              </a:tr>
              <a:tr h="198000">
                <a:tc>
                  <a:txBody>
                    <a:bodyPr/>
                    <a:lstStyle/>
                    <a:p>
                      <a:pPr algn="ctr"/>
                      <a:r>
                        <a:rPr lang="en-US" altLang="ja-JP" sz="900" dirty="0"/>
                        <a:t>12</a:t>
                      </a:r>
                      <a:r>
                        <a:rPr lang="ja-JP" altLang="en-US" sz="900" dirty="0"/>
                        <a:t>～</a:t>
                      </a:r>
                      <a:r>
                        <a:rPr lang="en-US" altLang="ja-JP" sz="900" dirty="0"/>
                        <a:t>112</a:t>
                      </a:r>
                    </a:p>
                  </a:txBody>
                  <a:tcPr anchor="ctr">
                    <a:solidFill>
                      <a:schemeClr val="bg1">
                        <a:lumMod val="95000"/>
                      </a:schemeClr>
                    </a:solidFill>
                  </a:tcPr>
                </a:tc>
                <a:tc>
                  <a:txBody>
                    <a:bodyPr/>
                    <a:lstStyle/>
                    <a:p>
                      <a:r>
                        <a:rPr lang="ja-JP" altLang="en-US" sz="900" dirty="0"/>
                        <a:t>予測値の平年値差について</a:t>
                      </a:r>
                      <a:br>
                        <a:rPr lang="ja-JP" altLang="en-US" sz="900" dirty="0"/>
                      </a:br>
                      <a:r>
                        <a:rPr lang="en-US" altLang="ja-JP" sz="900" dirty="0"/>
                        <a:t>-5.0</a:t>
                      </a:r>
                      <a:r>
                        <a:rPr lang="ja-JP" altLang="en-US" sz="900" dirty="0"/>
                        <a:t>～</a:t>
                      </a:r>
                      <a:r>
                        <a:rPr lang="en-US" altLang="ja-JP" sz="900" dirty="0"/>
                        <a:t>+5.0℃</a:t>
                      </a:r>
                      <a:r>
                        <a:rPr lang="ja-JP" altLang="en-US" sz="900" dirty="0"/>
                        <a:t>（</a:t>
                      </a:r>
                      <a:r>
                        <a:rPr lang="en-US" altLang="ja-JP" sz="900" dirty="0"/>
                        <a:t>0.1</a:t>
                      </a:r>
                      <a:r>
                        <a:rPr lang="ja-JP" altLang="en-US" sz="900" dirty="0"/>
                        <a:t>℃間隔）の累積確率</a:t>
                      </a:r>
                    </a:p>
                  </a:txBody>
                  <a:tcPr anchor="ctr">
                    <a:solidFill>
                      <a:schemeClr val="bg1">
                        <a:lumMod val="95000"/>
                      </a:schemeClr>
                    </a:solidFill>
                  </a:tcPr>
                </a:tc>
                <a:tc>
                  <a:txBody>
                    <a:bodyPr/>
                    <a:lstStyle/>
                    <a:p>
                      <a:pPr algn="ctr"/>
                      <a:r>
                        <a:rPr lang="en-US" altLang="ja-JP" sz="900" dirty="0"/>
                        <a:t>%</a:t>
                      </a:r>
                    </a:p>
                  </a:txBody>
                  <a:tcPr anchor="ctr">
                    <a:solidFill>
                      <a:schemeClr val="bg1">
                        <a:lumMod val="95000"/>
                      </a:schemeClr>
                    </a:solidFill>
                  </a:tcPr>
                </a:tc>
                <a:extLst>
                  <a:ext uri="{0D108BD9-81ED-4DB2-BD59-A6C34878D82A}">
                    <a16:rowId xmlns:a16="http://schemas.microsoft.com/office/drawing/2014/main" val="1182664027"/>
                  </a:ext>
                </a:extLst>
              </a:tr>
              <a:tr h="198000">
                <a:tc>
                  <a:txBody>
                    <a:bodyPr/>
                    <a:lstStyle/>
                    <a:p>
                      <a:pPr algn="ctr"/>
                      <a:r>
                        <a:rPr lang="en-US" altLang="ja-JP" sz="900" dirty="0"/>
                        <a:t>113</a:t>
                      </a:r>
                    </a:p>
                  </a:txBody>
                  <a:tcPr anchor="ctr">
                    <a:noFill/>
                  </a:tcPr>
                </a:tc>
                <a:tc>
                  <a:txBody>
                    <a:bodyPr/>
                    <a:lstStyle/>
                    <a:p>
                      <a:r>
                        <a:rPr lang="ja-JP" altLang="en-US" sz="900" dirty="0"/>
                        <a:t>昨年の日平均気温（実況値）平年差</a:t>
                      </a:r>
                      <a:r>
                        <a:rPr lang="en-US" altLang="ja-JP" sz="900" baseline="30000" dirty="0"/>
                        <a:t>※1※2</a:t>
                      </a:r>
                      <a:endParaRPr lang="ja-JP" altLang="en-US" sz="900" dirty="0"/>
                    </a:p>
                  </a:txBody>
                  <a:tcPr anchor="ctr">
                    <a:noFill/>
                  </a:tcPr>
                </a:tc>
                <a:tc>
                  <a:txBody>
                    <a:bodyPr/>
                    <a:lstStyle/>
                    <a:p>
                      <a:pPr algn="ctr"/>
                      <a:r>
                        <a:rPr lang="en-US" altLang="ja-JP" sz="900" dirty="0"/>
                        <a:t>0.1℃</a:t>
                      </a:r>
                    </a:p>
                  </a:txBody>
                  <a:tcPr anchor="ctr">
                    <a:noFill/>
                  </a:tcPr>
                </a:tc>
                <a:extLst>
                  <a:ext uri="{0D108BD9-81ED-4DB2-BD59-A6C34878D82A}">
                    <a16:rowId xmlns:a16="http://schemas.microsoft.com/office/drawing/2014/main" val="1961501359"/>
                  </a:ext>
                </a:extLst>
              </a:tr>
              <a:tr h="198000">
                <a:tc>
                  <a:txBody>
                    <a:bodyPr/>
                    <a:lstStyle/>
                    <a:p>
                      <a:pPr algn="ctr"/>
                      <a:r>
                        <a:rPr lang="en-US" altLang="ja-JP" sz="900" dirty="0"/>
                        <a:t>114</a:t>
                      </a:r>
                    </a:p>
                  </a:txBody>
                  <a:tcPr anchor="ctr">
                    <a:solidFill>
                      <a:schemeClr val="bg1">
                        <a:lumMod val="95000"/>
                      </a:schemeClr>
                    </a:solidFill>
                  </a:tcPr>
                </a:tc>
                <a:tc>
                  <a:txBody>
                    <a:bodyPr/>
                    <a:lstStyle/>
                    <a:p>
                      <a:r>
                        <a:rPr lang="ja-JP" altLang="en-US" sz="900" dirty="0"/>
                        <a:t>過去</a:t>
                      </a:r>
                      <a:r>
                        <a:rPr lang="en-US" altLang="ja-JP" sz="900" dirty="0"/>
                        <a:t>10</a:t>
                      </a:r>
                      <a:r>
                        <a:rPr lang="ja-JP" altLang="en-US" sz="900" dirty="0"/>
                        <a:t>年の日平均気温平年差の平均値</a:t>
                      </a:r>
                      <a:r>
                        <a:rPr lang="en-US" altLang="ja-JP" sz="900" baseline="30000" dirty="0"/>
                        <a:t>※1※2</a:t>
                      </a:r>
                      <a:endParaRPr lang="ja-JP" altLang="en-US" sz="900" dirty="0"/>
                    </a:p>
                  </a:txBody>
                  <a:tcPr anchor="ctr">
                    <a:solidFill>
                      <a:schemeClr val="bg1">
                        <a:lumMod val="95000"/>
                      </a:schemeClr>
                    </a:solidFill>
                  </a:tcPr>
                </a:tc>
                <a:tc>
                  <a:txBody>
                    <a:bodyPr/>
                    <a:lstStyle/>
                    <a:p>
                      <a:pPr algn="ctr"/>
                      <a:r>
                        <a:rPr lang="en-US" altLang="ja-JP" sz="900" dirty="0"/>
                        <a:t>0.1℃</a:t>
                      </a:r>
                    </a:p>
                  </a:txBody>
                  <a:tcPr anchor="ctr">
                    <a:solidFill>
                      <a:schemeClr val="bg1">
                        <a:lumMod val="95000"/>
                      </a:schemeClr>
                    </a:solidFill>
                  </a:tcPr>
                </a:tc>
                <a:extLst>
                  <a:ext uri="{0D108BD9-81ED-4DB2-BD59-A6C34878D82A}">
                    <a16:rowId xmlns:a16="http://schemas.microsoft.com/office/drawing/2014/main" val="2397379435"/>
                  </a:ext>
                </a:extLst>
              </a:tr>
              <a:tr h="198000">
                <a:tc>
                  <a:txBody>
                    <a:bodyPr/>
                    <a:lstStyle/>
                    <a:p>
                      <a:pPr algn="ctr"/>
                      <a:r>
                        <a:rPr lang="en-US" altLang="ja-JP" sz="900" dirty="0"/>
                        <a:t>115</a:t>
                      </a:r>
                    </a:p>
                  </a:txBody>
                  <a:tcPr anchor="ctr">
                    <a:noFill/>
                  </a:tcPr>
                </a:tc>
                <a:tc>
                  <a:txBody>
                    <a:bodyPr/>
                    <a:lstStyle/>
                    <a:p>
                      <a:r>
                        <a:rPr lang="ja-JP" altLang="en-US" sz="900" dirty="0"/>
                        <a:t>空き</a:t>
                      </a:r>
                      <a:r>
                        <a:rPr lang="en-US" altLang="ja-JP" sz="900" baseline="30000" dirty="0"/>
                        <a:t>※2</a:t>
                      </a:r>
                      <a:endParaRPr lang="ja-JP" altLang="en-US" sz="900" dirty="0"/>
                    </a:p>
                  </a:txBody>
                  <a:tcPr anchor="ctr">
                    <a:noFill/>
                  </a:tcPr>
                </a:tc>
                <a:tc>
                  <a:txBody>
                    <a:bodyPr/>
                    <a:lstStyle/>
                    <a:p>
                      <a:pPr algn="ctr"/>
                      <a:endParaRPr lang="en-US" altLang="ja-JP" sz="900" dirty="0"/>
                    </a:p>
                  </a:txBody>
                  <a:tcPr anchor="ctr">
                    <a:noFill/>
                  </a:tcPr>
                </a:tc>
                <a:extLst>
                  <a:ext uri="{0D108BD9-81ED-4DB2-BD59-A6C34878D82A}">
                    <a16:rowId xmlns:a16="http://schemas.microsoft.com/office/drawing/2014/main" val="3463478662"/>
                  </a:ext>
                </a:extLst>
              </a:tr>
              <a:tr h="198000">
                <a:tc>
                  <a:txBody>
                    <a:bodyPr/>
                    <a:lstStyle/>
                    <a:p>
                      <a:pPr algn="ctr"/>
                      <a:r>
                        <a:rPr lang="en-US" altLang="ja-JP" sz="900" dirty="0"/>
                        <a:t>116</a:t>
                      </a:r>
                    </a:p>
                  </a:txBody>
                  <a:tcPr anchor="ctr">
                    <a:solidFill>
                      <a:schemeClr val="bg1">
                        <a:lumMod val="95000"/>
                      </a:schemeClr>
                    </a:solidFill>
                  </a:tcPr>
                </a:tc>
                <a:tc>
                  <a:txBody>
                    <a:bodyPr/>
                    <a:lstStyle/>
                    <a:p>
                      <a:r>
                        <a:rPr lang="ja-JP" altLang="en-US" sz="900" dirty="0"/>
                        <a:t>実況値の平年差に準ずる検証用データ</a:t>
                      </a:r>
                      <a:r>
                        <a:rPr lang="en-US" altLang="ja-JP" sz="900" baseline="30000" dirty="0"/>
                        <a:t>※3</a:t>
                      </a:r>
                      <a:endParaRPr lang="ja-JP" altLang="en-US" sz="900" dirty="0"/>
                    </a:p>
                  </a:txBody>
                  <a:tcPr anchor="ctr">
                    <a:solidFill>
                      <a:schemeClr val="bg1">
                        <a:lumMod val="95000"/>
                      </a:schemeClr>
                    </a:solidFill>
                  </a:tcPr>
                </a:tc>
                <a:tc>
                  <a:txBody>
                    <a:bodyPr/>
                    <a:lstStyle/>
                    <a:p>
                      <a:pPr algn="ctr"/>
                      <a:r>
                        <a:rPr lang="en-US" altLang="ja-JP" sz="900" dirty="0"/>
                        <a:t>0.1℃</a:t>
                      </a:r>
                    </a:p>
                  </a:txBody>
                  <a:tcPr anchor="ctr">
                    <a:solidFill>
                      <a:schemeClr val="bg1">
                        <a:lumMod val="95000"/>
                      </a:schemeClr>
                    </a:solidFill>
                  </a:tcPr>
                </a:tc>
                <a:extLst>
                  <a:ext uri="{0D108BD9-81ED-4DB2-BD59-A6C34878D82A}">
                    <a16:rowId xmlns:a16="http://schemas.microsoft.com/office/drawing/2014/main" val="923442170"/>
                  </a:ext>
                </a:extLst>
              </a:tr>
            </a:tbl>
          </a:graphicData>
        </a:graphic>
      </p:graphicFrame>
      <p:sp>
        <p:nvSpPr>
          <p:cNvPr id="2" name="タイトル 1">
            <a:extLst>
              <a:ext uri="{FF2B5EF4-FFF2-40B4-BE49-F238E27FC236}">
                <a16:creationId xmlns:a16="http://schemas.microsoft.com/office/drawing/2014/main" id="{D6DDB218-DD58-781F-2BAE-349CB97170A8}"/>
              </a:ext>
            </a:extLst>
          </p:cNvPr>
          <p:cNvSpPr>
            <a:spLocks noGrp="1"/>
          </p:cNvSpPr>
          <p:nvPr>
            <p:ph type="title"/>
          </p:nvPr>
        </p:nvSpPr>
        <p:spPr/>
        <p:txBody>
          <a:bodyPr/>
          <a:lstStyle/>
          <a:p>
            <a:r>
              <a:rPr kumimoji="1" lang="ja-JP" altLang="en-US" dirty="0"/>
              <a:t>確率予測資料</a:t>
            </a:r>
            <a:r>
              <a:rPr kumimoji="1" lang="en-US" altLang="ja-JP" dirty="0"/>
              <a:t>CSV</a:t>
            </a:r>
            <a:r>
              <a:rPr kumimoji="1" lang="ja-JP" altLang="en-US" dirty="0"/>
              <a:t>ファイル形式：</a:t>
            </a:r>
            <a:r>
              <a:rPr lang="en-US" altLang="ja-JP" sz="2400" dirty="0"/>
              <a:t> </a:t>
            </a:r>
            <a:r>
              <a:rPr lang="ja-JP" altLang="en-US" sz="2400" dirty="0"/>
              <a:t>１か月予報気温</a:t>
            </a:r>
            <a:endParaRPr kumimoji="1" lang="ja-JP" altLang="en-US" dirty="0"/>
          </a:p>
        </p:txBody>
      </p:sp>
      <p:pic>
        <p:nvPicPr>
          <p:cNvPr id="5" name="図 4">
            <a:extLst>
              <a:ext uri="{FF2B5EF4-FFF2-40B4-BE49-F238E27FC236}">
                <a16:creationId xmlns:a16="http://schemas.microsoft.com/office/drawing/2014/main" id="{62222CB7-472F-B4D4-A40C-B9686AE8D6B7}"/>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457740" y="1202148"/>
            <a:ext cx="4601137" cy="747713"/>
          </a:xfrm>
          <a:prstGeom prst="rect">
            <a:avLst/>
          </a:prstGeom>
        </p:spPr>
      </p:pic>
      <p:pic>
        <p:nvPicPr>
          <p:cNvPr id="7" name="図 6">
            <a:extLst>
              <a:ext uri="{FF2B5EF4-FFF2-40B4-BE49-F238E27FC236}">
                <a16:creationId xmlns:a16="http://schemas.microsoft.com/office/drawing/2014/main" id="{54D876A0-1B8A-ABF5-AAFA-6C14C28387BB}"/>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6552142" y="1191341"/>
            <a:ext cx="1789363" cy="762000"/>
          </a:xfrm>
          <a:prstGeom prst="rect">
            <a:avLst/>
          </a:prstGeom>
        </p:spPr>
      </p:pic>
      <p:graphicFrame>
        <p:nvGraphicFramePr>
          <p:cNvPr id="13" name="表 5">
            <a:extLst>
              <a:ext uri="{FF2B5EF4-FFF2-40B4-BE49-F238E27FC236}">
                <a16:creationId xmlns:a16="http://schemas.microsoft.com/office/drawing/2014/main" id="{D57663D5-080E-98C3-CA7D-760396C6BDBD}"/>
              </a:ext>
            </a:extLst>
          </p:cNvPr>
          <p:cNvGraphicFramePr>
            <a:graphicFrameLocks noGrp="1"/>
          </p:cNvGraphicFramePr>
          <p:nvPr>
            <p:extLst>
              <p:ext uri="{D42A27DB-BD31-4B8C-83A1-F6EECF244321}">
                <p14:modId xmlns:p14="http://schemas.microsoft.com/office/powerpoint/2010/main" val="662257152"/>
              </p:ext>
            </p:extLst>
          </p:nvPr>
        </p:nvGraphicFramePr>
        <p:xfrm>
          <a:off x="385546" y="3042705"/>
          <a:ext cx="4068000" cy="27666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2310263"/>
                    </a:ext>
                  </a:extLst>
                </a:gridCol>
                <a:gridCol w="2880000">
                  <a:extLst>
                    <a:ext uri="{9D8B030D-6E8A-4147-A177-3AD203B41FA5}">
                      <a16:colId xmlns:a16="http://schemas.microsoft.com/office/drawing/2014/main" val="230675405"/>
                    </a:ext>
                  </a:extLst>
                </a:gridCol>
                <a:gridCol w="540000">
                  <a:extLst>
                    <a:ext uri="{9D8B030D-6E8A-4147-A177-3AD203B41FA5}">
                      <a16:colId xmlns:a16="http://schemas.microsoft.com/office/drawing/2014/main" val="3772934908"/>
                    </a:ext>
                  </a:extLst>
                </a:gridCol>
              </a:tblGrid>
              <a:tr h="252000">
                <a:tc>
                  <a:txBody>
                    <a:bodyPr/>
                    <a:lstStyle/>
                    <a:p>
                      <a:pPr algn="ctr"/>
                      <a:r>
                        <a:rPr lang="ja-JP" altLang="en-US" sz="1000" dirty="0"/>
                        <a:t>カラム</a:t>
                      </a:r>
                    </a:p>
                  </a:txBody>
                  <a:tcPr marL="45068" marR="45068" marT="22534" marB="22534" anchor="ctr">
                    <a:solidFill>
                      <a:schemeClr val="tx2"/>
                    </a:solidFill>
                  </a:tcPr>
                </a:tc>
                <a:tc>
                  <a:txBody>
                    <a:bodyPr/>
                    <a:lstStyle/>
                    <a:p>
                      <a:pPr algn="ctr"/>
                      <a:r>
                        <a:rPr lang="ja-JP" altLang="en-US" sz="1000" dirty="0"/>
                        <a:t>要素</a:t>
                      </a:r>
                    </a:p>
                  </a:txBody>
                  <a:tcPr marL="45068" marR="45068" marT="22534" marB="22534" anchor="ctr">
                    <a:solidFill>
                      <a:schemeClr val="tx2"/>
                    </a:solidFill>
                  </a:tcPr>
                </a:tc>
                <a:tc>
                  <a:txBody>
                    <a:bodyPr/>
                    <a:lstStyle/>
                    <a:p>
                      <a:pPr algn="ctr"/>
                      <a:r>
                        <a:rPr lang="ja-JP" altLang="en-US" sz="1000" dirty="0"/>
                        <a:t>単位</a:t>
                      </a:r>
                    </a:p>
                  </a:txBody>
                  <a:tcPr marL="45068" marR="45068" marT="22534" marB="22534" anchor="ctr">
                    <a:solidFill>
                      <a:schemeClr val="tx2"/>
                    </a:solidFill>
                  </a:tcPr>
                </a:tc>
                <a:extLst>
                  <a:ext uri="{0D108BD9-81ED-4DB2-BD59-A6C34878D82A}">
                    <a16:rowId xmlns:a16="http://schemas.microsoft.com/office/drawing/2014/main" val="2227192188"/>
                  </a:ext>
                </a:extLst>
              </a:tr>
              <a:tr h="198000">
                <a:tc>
                  <a:txBody>
                    <a:bodyPr/>
                    <a:lstStyle/>
                    <a:p>
                      <a:pPr algn="ctr"/>
                      <a:r>
                        <a:rPr lang="en-US" altLang="ja-JP" sz="900" dirty="0"/>
                        <a:t>1</a:t>
                      </a:r>
                    </a:p>
                  </a:txBody>
                  <a:tcPr anchor="ctr">
                    <a:solidFill>
                      <a:schemeClr val="bg1">
                        <a:lumMod val="95000"/>
                      </a:schemeClr>
                    </a:solidFill>
                  </a:tcPr>
                </a:tc>
                <a:tc>
                  <a:txBody>
                    <a:bodyPr/>
                    <a:lstStyle/>
                    <a:p>
                      <a:r>
                        <a:rPr lang="ja-JP" altLang="en-US" sz="900" dirty="0"/>
                        <a:t>予報対象期間の初めの日の年</a:t>
                      </a:r>
                    </a:p>
                  </a:txBody>
                  <a:tcPr anchor="ctr">
                    <a:solidFill>
                      <a:schemeClr val="bg1">
                        <a:lumMod val="95000"/>
                      </a:schemeClr>
                    </a:solidFill>
                  </a:tcPr>
                </a:tc>
                <a:tc>
                  <a:txBody>
                    <a:bodyPr/>
                    <a:lstStyle/>
                    <a:p>
                      <a:pPr algn="ctr"/>
                      <a:r>
                        <a:rPr lang="ja-JP" altLang="en-US" sz="900" dirty="0"/>
                        <a:t>年</a:t>
                      </a:r>
                    </a:p>
                  </a:txBody>
                  <a:tcPr anchor="ctr">
                    <a:solidFill>
                      <a:schemeClr val="bg1">
                        <a:lumMod val="95000"/>
                      </a:schemeClr>
                    </a:solidFill>
                  </a:tcPr>
                </a:tc>
                <a:extLst>
                  <a:ext uri="{0D108BD9-81ED-4DB2-BD59-A6C34878D82A}">
                    <a16:rowId xmlns:a16="http://schemas.microsoft.com/office/drawing/2014/main" val="3682909892"/>
                  </a:ext>
                </a:extLst>
              </a:tr>
              <a:tr h="198000">
                <a:tc>
                  <a:txBody>
                    <a:bodyPr/>
                    <a:lstStyle/>
                    <a:p>
                      <a:pPr algn="ctr"/>
                      <a:r>
                        <a:rPr lang="en-US" altLang="ja-JP" sz="900" dirty="0"/>
                        <a:t>2</a:t>
                      </a:r>
                    </a:p>
                  </a:txBody>
                  <a:tcPr anchor="ctr">
                    <a:noFill/>
                  </a:tcPr>
                </a:tc>
                <a:tc>
                  <a:txBody>
                    <a:bodyPr/>
                    <a:lstStyle/>
                    <a:p>
                      <a:r>
                        <a:rPr lang="ja-JP" altLang="en-US" sz="900" dirty="0"/>
                        <a:t>予報対象期間の初めの日の月</a:t>
                      </a:r>
                    </a:p>
                  </a:txBody>
                  <a:tcPr anchor="ctr">
                    <a:noFill/>
                  </a:tcPr>
                </a:tc>
                <a:tc>
                  <a:txBody>
                    <a:bodyPr/>
                    <a:lstStyle/>
                    <a:p>
                      <a:pPr algn="ctr"/>
                      <a:r>
                        <a:rPr lang="ja-JP" altLang="en-US" sz="900" dirty="0"/>
                        <a:t>月</a:t>
                      </a:r>
                    </a:p>
                  </a:txBody>
                  <a:tcPr anchor="ctr">
                    <a:noFill/>
                  </a:tcPr>
                </a:tc>
                <a:extLst>
                  <a:ext uri="{0D108BD9-81ED-4DB2-BD59-A6C34878D82A}">
                    <a16:rowId xmlns:a16="http://schemas.microsoft.com/office/drawing/2014/main" val="2711627421"/>
                  </a:ext>
                </a:extLst>
              </a:tr>
              <a:tr h="198000">
                <a:tc>
                  <a:txBody>
                    <a:bodyPr/>
                    <a:lstStyle/>
                    <a:p>
                      <a:pPr algn="ctr"/>
                      <a:r>
                        <a:rPr lang="en-US" altLang="ja-JP" sz="900" dirty="0"/>
                        <a:t>3</a:t>
                      </a:r>
                    </a:p>
                  </a:txBody>
                  <a:tcPr anchor="ctr">
                    <a:solidFill>
                      <a:schemeClr val="bg1">
                        <a:lumMod val="95000"/>
                      </a:schemeClr>
                    </a:solidFill>
                  </a:tcPr>
                </a:tc>
                <a:tc>
                  <a:txBody>
                    <a:bodyPr/>
                    <a:lstStyle/>
                    <a:p>
                      <a:r>
                        <a:rPr lang="ja-JP" altLang="en-US" sz="900" dirty="0"/>
                        <a:t>予報対象期間の初めの日の日</a:t>
                      </a:r>
                    </a:p>
                  </a:txBody>
                  <a:tcPr anchor="ctr">
                    <a:solidFill>
                      <a:schemeClr val="bg1">
                        <a:lumMod val="95000"/>
                      </a:schemeClr>
                    </a:solidFill>
                  </a:tcPr>
                </a:tc>
                <a:tc>
                  <a:txBody>
                    <a:bodyPr/>
                    <a:lstStyle/>
                    <a:p>
                      <a:pPr algn="ctr"/>
                      <a:r>
                        <a:rPr lang="ja-JP" altLang="en-US" sz="900" dirty="0"/>
                        <a:t>日</a:t>
                      </a:r>
                    </a:p>
                  </a:txBody>
                  <a:tcPr anchor="ctr">
                    <a:solidFill>
                      <a:schemeClr val="bg1">
                        <a:lumMod val="95000"/>
                      </a:schemeClr>
                    </a:solidFill>
                  </a:tcPr>
                </a:tc>
                <a:extLst>
                  <a:ext uri="{0D108BD9-81ED-4DB2-BD59-A6C34878D82A}">
                    <a16:rowId xmlns:a16="http://schemas.microsoft.com/office/drawing/2014/main" val="2890859261"/>
                  </a:ext>
                </a:extLst>
              </a:tr>
              <a:tr h="198000">
                <a:tc>
                  <a:txBody>
                    <a:bodyPr/>
                    <a:lstStyle/>
                    <a:p>
                      <a:pPr algn="ctr"/>
                      <a:r>
                        <a:rPr lang="en-US" altLang="ja-JP" sz="900" dirty="0"/>
                        <a:t>4</a:t>
                      </a:r>
                    </a:p>
                  </a:txBody>
                  <a:tcPr anchor="ctr">
                    <a:noFill/>
                  </a:tcPr>
                </a:tc>
                <a:tc>
                  <a:txBody>
                    <a:bodyPr/>
                    <a:lstStyle/>
                    <a:p>
                      <a:r>
                        <a:rPr lang="ja-JP" altLang="en-US" sz="900" dirty="0"/>
                        <a:t>予報対象期間終わりの日の年</a:t>
                      </a:r>
                    </a:p>
                  </a:txBody>
                  <a:tcPr anchor="ctr">
                    <a:noFill/>
                  </a:tcPr>
                </a:tc>
                <a:tc>
                  <a:txBody>
                    <a:bodyPr/>
                    <a:lstStyle/>
                    <a:p>
                      <a:pPr algn="ctr"/>
                      <a:r>
                        <a:rPr lang="ja-JP" altLang="en-US" sz="900" dirty="0"/>
                        <a:t>年</a:t>
                      </a:r>
                    </a:p>
                  </a:txBody>
                  <a:tcPr anchor="ctr">
                    <a:noFill/>
                  </a:tcPr>
                </a:tc>
                <a:extLst>
                  <a:ext uri="{0D108BD9-81ED-4DB2-BD59-A6C34878D82A}">
                    <a16:rowId xmlns:a16="http://schemas.microsoft.com/office/drawing/2014/main" val="3496335717"/>
                  </a:ext>
                </a:extLst>
              </a:tr>
              <a:tr h="198000">
                <a:tc>
                  <a:txBody>
                    <a:bodyPr/>
                    <a:lstStyle/>
                    <a:p>
                      <a:pPr algn="ctr"/>
                      <a:r>
                        <a:rPr lang="en-US" altLang="ja-JP" sz="900" dirty="0"/>
                        <a:t>5</a:t>
                      </a:r>
                    </a:p>
                  </a:txBody>
                  <a:tcPr anchor="ctr">
                    <a:solidFill>
                      <a:schemeClr val="bg1">
                        <a:lumMod val="95000"/>
                      </a:schemeClr>
                    </a:solidFill>
                  </a:tcPr>
                </a:tc>
                <a:tc>
                  <a:txBody>
                    <a:bodyPr/>
                    <a:lstStyle/>
                    <a:p>
                      <a:r>
                        <a:rPr lang="ja-JP" altLang="en-US" sz="900" dirty="0"/>
                        <a:t>予報対象期間終わりの日の月</a:t>
                      </a:r>
                    </a:p>
                  </a:txBody>
                  <a:tcPr anchor="ctr">
                    <a:solidFill>
                      <a:schemeClr val="bg1">
                        <a:lumMod val="95000"/>
                      </a:schemeClr>
                    </a:solidFill>
                  </a:tcPr>
                </a:tc>
                <a:tc>
                  <a:txBody>
                    <a:bodyPr/>
                    <a:lstStyle/>
                    <a:p>
                      <a:pPr algn="ctr"/>
                      <a:r>
                        <a:rPr lang="ja-JP" altLang="en-US" sz="900" dirty="0"/>
                        <a:t>月</a:t>
                      </a:r>
                    </a:p>
                  </a:txBody>
                  <a:tcPr anchor="ctr">
                    <a:solidFill>
                      <a:schemeClr val="bg1">
                        <a:lumMod val="95000"/>
                      </a:schemeClr>
                    </a:solidFill>
                  </a:tcPr>
                </a:tc>
                <a:extLst>
                  <a:ext uri="{0D108BD9-81ED-4DB2-BD59-A6C34878D82A}">
                    <a16:rowId xmlns:a16="http://schemas.microsoft.com/office/drawing/2014/main" val="2566591500"/>
                  </a:ext>
                </a:extLst>
              </a:tr>
              <a:tr h="198000">
                <a:tc>
                  <a:txBody>
                    <a:bodyPr/>
                    <a:lstStyle/>
                    <a:p>
                      <a:pPr algn="ctr"/>
                      <a:r>
                        <a:rPr lang="en-US" altLang="ja-JP" sz="900"/>
                        <a:t>6</a:t>
                      </a:r>
                    </a:p>
                  </a:txBody>
                  <a:tcPr anchor="ctr">
                    <a:noFill/>
                  </a:tcPr>
                </a:tc>
                <a:tc>
                  <a:txBody>
                    <a:bodyPr/>
                    <a:lstStyle/>
                    <a:p>
                      <a:r>
                        <a:rPr lang="ja-JP" altLang="en-US" sz="900" dirty="0"/>
                        <a:t>予報対象期間終わりの日の日</a:t>
                      </a:r>
                    </a:p>
                  </a:txBody>
                  <a:tcPr anchor="ctr">
                    <a:noFill/>
                  </a:tcPr>
                </a:tc>
                <a:tc>
                  <a:txBody>
                    <a:bodyPr/>
                    <a:lstStyle/>
                    <a:p>
                      <a:pPr algn="ctr"/>
                      <a:r>
                        <a:rPr lang="ja-JP" altLang="en-US" sz="900" dirty="0"/>
                        <a:t>日</a:t>
                      </a:r>
                    </a:p>
                  </a:txBody>
                  <a:tcPr anchor="ctr">
                    <a:noFill/>
                  </a:tcPr>
                </a:tc>
                <a:extLst>
                  <a:ext uri="{0D108BD9-81ED-4DB2-BD59-A6C34878D82A}">
                    <a16:rowId xmlns:a16="http://schemas.microsoft.com/office/drawing/2014/main" val="1390296455"/>
                  </a:ext>
                </a:extLst>
              </a:tr>
              <a:tr h="198000">
                <a:tc>
                  <a:txBody>
                    <a:bodyPr/>
                    <a:lstStyle/>
                    <a:p>
                      <a:pPr algn="ctr"/>
                      <a:r>
                        <a:rPr lang="en-US" altLang="ja-JP" sz="900" dirty="0"/>
                        <a:t>7</a:t>
                      </a:r>
                    </a:p>
                  </a:txBody>
                  <a:tcPr anchor="ctr">
                    <a:solidFill>
                      <a:schemeClr val="bg1">
                        <a:lumMod val="95000"/>
                      </a:schemeClr>
                    </a:solidFill>
                  </a:tcPr>
                </a:tc>
                <a:tc>
                  <a:txBody>
                    <a:bodyPr/>
                    <a:lstStyle/>
                    <a:p>
                      <a:r>
                        <a:rPr lang="ja-JP" altLang="en-US" sz="900" dirty="0"/>
                        <a:t>予報対象期間の日数</a:t>
                      </a:r>
                    </a:p>
                  </a:txBody>
                  <a:tcPr anchor="ctr">
                    <a:solidFill>
                      <a:schemeClr val="bg1">
                        <a:lumMod val="95000"/>
                      </a:schemeClr>
                    </a:solidFill>
                  </a:tcPr>
                </a:tc>
                <a:tc>
                  <a:txBody>
                    <a:bodyPr/>
                    <a:lstStyle/>
                    <a:p>
                      <a:pPr algn="ctr"/>
                      <a:r>
                        <a:rPr lang="ja-JP" altLang="en-US" sz="900" dirty="0"/>
                        <a:t>日</a:t>
                      </a:r>
                    </a:p>
                  </a:txBody>
                  <a:tcPr anchor="ctr">
                    <a:solidFill>
                      <a:schemeClr val="bg1">
                        <a:lumMod val="95000"/>
                      </a:schemeClr>
                    </a:solidFill>
                  </a:tcPr>
                </a:tc>
                <a:extLst>
                  <a:ext uri="{0D108BD9-81ED-4DB2-BD59-A6C34878D82A}">
                    <a16:rowId xmlns:a16="http://schemas.microsoft.com/office/drawing/2014/main" val="2835805808"/>
                  </a:ext>
                </a:extLst>
              </a:tr>
              <a:tr h="198000">
                <a:tc>
                  <a:txBody>
                    <a:bodyPr/>
                    <a:lstStyle/>
                    <a:p>
                      <a:pPr algn="ctr"/>
                      <a:r>
                        <a:rPr lang="en-US" altLang="ja-JP" sz="900" dirty="0"/>
                        <a:t>8</a:t>
                      </a: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900" dirty="0">
                          <a:hlinkClick r:id="rId5"/>
                        </a:rPr>
                        <a:t>予報対象の地域番号</a:t>
                      </a:r>
                      <a:r>
                        <a:rPr lang="ja-JP" altLang="en-US" sz="900" dirty="0"/>
                        <a:t>　</a:t>
                      </a:r>
                      <a:r>
                        <a:rPr lang="ja-JP" altLang="en-US" sz="900" dirty="0">
                          <a:hlinkClick r:id="rId5"/>
                        </a:rPr>
                        <a:t>予報対象の地点番号</a:t>
                      </a:r>
                      <a:endParaRPr lang="ja-JP" altLang="en-US" sz="900" dirty="0"/>
                    </a:p>
                  </a:txBody>
                  <a:tcPr anchor="ctr">
                    <a:noFill/>
                  </a:tcPr>
                </a:tc>
                <a:tc>
                  <a:txBody>
                    <a:bodyPr/>
                    <a:lstStyle/>
                    <a:p>
                      <a:pPr algn="ctr"/>
                      <a:endParaRPr lang="ja-JP" altLang="en-US" sz="900" dirty="0"/>
                    </a:p>
                  </a:txBody>
                  <a:tcPr anchor="ctr">
                    <a:noFill/>
                  </a:tcPr>
                </a:tc>
                <a:extLst>
                  <a:ext uri="{0D108BD9-81ED-4DB2-BD59-A6C34878D82A}">
                    <a16:rowId xmlns:a16="http://schemas.microsoft.com/office/drawing/2014/main" val="1045839836"/>
                  </a:ext>
                </a:extLst>
              </a:tr>
              <a:tr h="198000">
                <a:tc>
                  <a:txBody>
                    <a:bodyPr/>
                    <a:lstStyle/>
                    <a:p>
                      <a:pPr algn="ctr"/>
                      <a:r>
                        <a:rPr lang="en-US" altLang="ja-JP" sz="900"/>
                        <a:t>9</a:t>
                      </a:r>
                    </a:p>
                  </a:txBody>
                  <a:tcPr anchor="ctr">
                    <a:solidFill>
                      <a:schemeClr val="bg1">
                        <a:lumMod val="95000"/>
                      </a:schemeClr>
                    </a:solidFill>
                  </a:tcPr>
                </a:tc>
                <a:tc>
                  <a:txBody>
                    <a:bodyPr/>
                    <a:lstStyle/>
                    <a:p>
                      <a:r>
                        <a:rPr lang="ja-JP" altLang="en-US" sz="900" dirty="0"/>
                        <a:t>予報対象が日平均気温であることを表す番号：</a:t>
                      </a:r>
                      <a:r>
                        <a:rPr lang="en-US" altLang="ja-JP" sz="900" dirty="0"/>
                        <a:t>1</a:t>
                      </a:r>
                    </a:p>
                  </a:txBody>
                  <a:tcPr anchor="ctr">
                    <a:solidFill>
                      <a:schemeClr val="bg1">
                        <a:lumMod val="95000"/>
                      </a:schemeClr>
                    </a:solidFill>
                  </a:tcPr>
                </a:tc>
                <a:tc>
                  <a:txBody>
                    <a:bodyPr/>
                    <a:lstStyle/>
                    <a:p>
                      <a:pPr algn="ctr"/>
                      <a:endParaRPr lang="ja-JP" altLang="en-US" sz="900" dirty="0"/>
                    </a:p>
                  </a:txBody>
                  <a:tcPr anchor="ctr">
                    <a:solidFill>
                      <a:schemeClr val="bg1">
                        <a:lumMod val="95000"/>
                      </a:schemeClr>
                    </a:solidFill>
                  </a:tcPr>
                </a:tc>
                <a:extLst>
                  <a:ext uri="{0D108BD9-81ED-4DB2-BD59-A6C34878D82A}">
                    <a16:rowId xmlns:a16="http://schemas.microsoft.com/office/drawing/2014/main" val="3918724977"/>
                  </a:ext>
                </a:extLst>
              </a:tr>
              <a:tr h="198000">
                <a:tc>
                  <a:txBody>
                    <a:bodyPr/>
                    <a:lstStyle/>
                    <a:p>
                      <a:pPr algn="ctr"/>
                      <a:r>
                        <a:rPr lang="en-US" altLang="ja-JP" sz="900" dirty="0"/>
                        <a:t>10</a:t>
                      </a:r>
                    </a:p>
                  </a:txBody>
                  <a:tcPr anchor="ctr">
                    <a:noFill/>
                  </a:tcPr>
                </a:tc>
                <a:tc>
                  <a:txBody>
                    <a:bodyPr/>
                    <a:lstStyle/>
                    <a:p>
                      <a:r>
                        <a:rPr lang="ja-JP" altLang="en-US" sz="900" dirty="0"/>
                        <a:t>ガイダンスを表す番号：３</a:t>
                      </a:r>
                    </a:p>
                  </a:txBody>
                  <a:tcPr anchor="ctr">
                    <a:noFill/>
                  </a:tcPr>
                </a:tc>
                <a:tc>
                  <a:txBody>
                    <a:bodyPr/>
                    <a:lstStyle/>
                    <a:p>
                      <a:pPr algn="ctr"/>
                      <a:endParaRPr lang="ja-JP" altLang="en-US" sz="900" dirty="0"/>
                    </a:p>
                  </a:txBody>
                  <a:tcPr anchor="ctr">
                    <a:noFill/>
                  </a:tcPr>
                </a:tc>
                <a:extLst>
                  <a:ext uri="{0D108BD9-81ED-4DB2-BD59-A6C34878D82A}">
                    <a16:rowId xmlns:a16="http://schemas.microsoft.com/office/drawing/2014/main" val="241538418"/>
                  </a:ext>
                </a:extLst>
              </a:tr>
              <a:tr h="198000">
                <a:tc>
                  <a:txBody>
                    <a:bodyPr/>
                    <a:lstStyle/>
                    <a:p>
                      <a:pPr algn="ctr"/>
                      <a:r>
                        <a:rPr lang="en-US" altLang="ja-JP" sz="900" dirty="0"/>
                        <a:t>11</a:t>
                      </a:r>
                    </a:p>
                  </a:txBody>
                  <a:tcPr anchor="ctr">
                    <a:solidFill>
                      <a:schemeClr val="bg1">
                        <a:lumMod val="95000"/>
                      </a:schemeClr>
                    </a:solidFill>
                  </a:tcPr>
                </a:tc>
                <a:tc>
                  <a:txBody>
                    <a:bodyPr/>
                    <a:lstStyle/>
                    <a:p>
                      <a:r>
                        <a:rPr lang="ja-JP" altLang="en-US" sz="900" dirty="0"/>
                        <a:t>予測値の平年差（</a:t>
                      </a:r>
                      <a:r>
                        <a:rPr lang="ja-JP" altLang="en-US" sz="900" dirty="0">
                          <a:hlinkClick r:id="rId6"/>
                        </a:rPr>
                        <a:t>アンサンブル平均</a:t>
                      </a:r>
                      <a:r>
                        <a:rPr lang="ja-JP" altLang="en-US" sz="900" dirty="0"/>
                        <a:t>）</a:t>
                      </a:r>
                    </a:p>
                  </a:txBody>
                  <a:tcPr anchor="ctr">
                    <a:solidFill>
                      <a:schemeClr val="bg1">
                        <a:lumMod val="95000"/>
                      </a:schemeClr>
                    </a:solidFill>
                  </a:tcPr>
                </a:tc>
                <a:tc>
                  <a:txBody>
                    <a:bodyPr/>
                    <a:lstStyle/>
                    <a:p>
                      <a:pPr algn="ctr"/>
                      <a:r>
                        <a:rPr lang="en-US" altLang="ja-JP" sz="900" dirty="0"/>
                        <a:t>0.1℃</a:t>
                      </a:r>
                    </a:p>
                  </a:txBody>
                  <a:tcPr anchor="ctr">
                    <a:solidFill>
                      <a:schemeClr val="bg1">
                        <a:lumMod val="95000"/>
                      </a:schemeClr>
                    </a:solidFill>
                  </a:tcPr>
                </a:tc>
                <a:extLst>
                  <a:ext uri="{0D108BD9-81ED-4DB2-BD59-A6C34878D82A}">
                    <a16:rowId xmlns:a16="http://schemas.microsoft.com/office/drawing/2014/main" val="3799705290"/>
                  </a:ext>
                </a:extLst>
              </a:tr>
            </a:tbl>
          </a:graphicData>
        </a:graphic>
      </p:graphicFrame>
      <p:graphicFrame>
        <p:nvGraphicFramePr>
          <p:cNvPr id="15" name="表 5">
            <a:extLst>
              <a:ext uri="{FF2B5EF4-FFF2-40B4-BE49-F238E27FC236}">
                <a16:creationId xmlns:a16="http://schemas.microsoft.com/office/drawing/2014/main" id="{9E01B0A8-27CB-D2D3-59E9-B537B16CDB23}"/>
              </a:ext>
            </a:extLst>
          </p:cNvPr>
          <p:cNvGraphicFramePr>
            <a:graphicFrameLocks noGrp="1"/>
          </p:cNvGraphicFramePr>
          <p:nvPr>
            <p:extLst>
              <p:ext uri="{D42A27DB-BD31-4B8C-83A1-F6EECF244321}">
                <p14:modId xmlns:p14="http://schemas.microsoft.com/office/powerpoint/2010/main" val="3688693621"/>
              </p:ext>
            </p:extLst>
          </p:nvPr>
        </p:nvGraphicFramePr>
        <p:xfrm>
          <a:off x="4669136" y="4910248"/>
          <a:ext cx="4089318" cy="1623600"/>
        </p:xfrm>
        <a:graphic>
          <a:graphicData uri="http://schemas.openxmlformats.org/drawingml/2006/table">
            <a:tbl>
              <a:tblPr firstRow="1" bandRow="1">
                <a:tableStyleId>{5C22544A-7EE6-4342-B048-85BDC9FD1C3A}</a:tableStyleId>
              </a:tblPr>
              <a:tblGrid>
                <a:gridCol w="667673">
                  <a:extLst>
                    <a:ext uri="{9D8B030D-6E8A-4147-A177-3AD203B41FA5}">
                      <a16:colId xmlns:a16="http://schemas.microsoft.com/office/drawing/2014/main" val="22310263"/>
                    </a:ext>
                  </a:extLst>
                </a:gridCol>
                <a:gridCol w="2880000">
                  <a:extLst>
                    <a:ext uri="{9D8B030D-6E8A-4147-A177-3AD203B41FA5}">
                      <a16:colId xmlns:a16="http://schemas.microsoft.com/office/drawing/2014/main" val="230675405"/>
                    </a:ext>
                  </a:extLst>
                </a:gridCol>
                <a:gridCol w="541645">
                  <a:extLst>
                    <a:ext uri="{9D8B030D-6E8A-4147-A177-3AD203B41FA5}">
                      <a16:colId xmlns:a16="http://schemas.microsoft.com/office/drawing/2014/main" val="3772934908"/>
                    </a:ext>
                  </a:extLst>
                </a:gridCol>
              </a:tblGrid>
              <a:tr h="252000">
                <a:tc>
                  <a:txBody>
                    <a:bodyPr/>
                    <a:lstStyle/>
                    <a:p>
                      <a:pPr algn="ctr"/>
                      <a:r>
                        <a:rPr lang="ja-JP" altLang="en-US" sz="1050" dirty="0"/>
                        <a:t>カラム</a:t>
                      </a:r>
                    </a:p>
                  </a:txBody>
                  <a:tcPr marL="45068" marR="45068" marT="22534" marB="22534" anchor="ctr">
                    <a:solidFill>
                      <a:schemeClr val="tx2"/>
                    </a:solidFill>
                  </a:tcPr>
                </a:tc>
                <a:tc>
                  <a:txBody>
                    <a:bodyPr/>
                    <a:lstStyle/>
                    <a:p>
                      <a:pPr algn="ctr"/>
                      <a:r>
                        <a:rPr lang="ja-JP" altLang="en-US" sz="1050" dirty="0"/>
                        <a:t>要素</a:t>
                      </a:r>
                    </a:p>
                  </a:txBody>
                  <a:tcPr marL="45068" marR="45068" marT="22534" marB="22534" anchor="ctr">
                    <a:solidFill>
                      <a:schemeClr val="tx2"/>
                    </a:solidFill>
                  </a:tcPr>
                </a:tc>
                <a:tc>
                  <a:txBody>
                    <a:bodyPr/>
                    <a:lstStyle/>
                    <a:p>
                      <a:pPr algn="ctr"/>
                      <a:r>
                        <a:rPr lang="ja-JP" altLang="en-US" sz="1050" dirty="0"/>
                        <a:t>単位</a:t>
                      </a:r>
                    </a:p>
                  </a:txBody>
                  <a:tcPr marL="45068" marR="45068" marT="22534" marB="22534" anchor="ctr">
                    <a:solidFill>
                      <a:schemeClr val="tx2"/>
                    </a:solidFill>
                  </a:tcPr>
                </a:tc>
                <a:extLst>
                  <a:ext uri="{0D108BD9-81ED-4DB2-BD59-A6C34878D82A}">
                    <a16:rowId xmlns:a16="http://schemas.microsoft.com/office/drawing/2014/main" val="2227192188"/>
                  </a:ext>
                </a:extLst>
              </a:tr>
              <a:tr h="198000">
                <a:tc>
                  <a:txBody>
                    <a:bodyPr/>
                    <a:lstStyle/>
                    <a:p>
                      <a:pPr algn="ctr"/>
                      <a:r>
                        <a:rPr lang="en-US" altLang="ja-JP" sz="1000" dirty="0"/>
                        <a:t>12</a:t>
                      </a:r>
                      <a:r>
                        <a:rPr lang="ja-JP" altLang="en-US" sz="1000" dirty="0"/>
                        <a:t>～</a:t>
                      </a:r>
                      <a:r>
                        <a:rPr lang="en-US" altLang="ja-JP" sz="1000" dirty="0"/>
                        <a:t>152</a:t>
                      </a:r>
                    </a:p>
                  </a:txBody>
                  <a:tcPr anchor="ctr">
                    <a:solidFill>
                      <a:schemeClr val="bg1">
                        <a:lumMod val="95000"/>
                      </a:schemeClr>
                    </a:solidFill>
                  </a:tcPr>
                </a:tc>
                <a:tc>
                  <a:txBody>
                    <a:bodyPr/>
                    <a:lstStyle/>
                    <a:p>
                      <a:r>
                        <a:rPr lang="ja-JP" altLang="en-US" sz="1000" dirty="0"/>
                        <a:t>予測値の平年差について</a:t>
                      </a:r>
                      <a:br>
                        <a:rPr lang="ja-JP" altLang="en-US" sz="1000" dirty="0"/>
                      </a:br>
                      <a:r>
                        <a:rPr lang="en-US" altLang="ja-JP" sz="1000" dirty="0"/>
                        <a:t>-7.0</a:t>
                      </a:r>
                      <a:r>
                        <a:rPr lang="ja-JP" altLang="en-US" sz="1000" dirty="0"/>
                        <a:t>～</a:t>
                      </a:r>
                      <a:r>
                        <a:rPr lang="en-US" altLang="ja-JP" sz="1000" dirty="0"/>
                        <a:t>+7.0℃</a:t>
                      </a:r>
                      <a:r>
                        <a:rPr lang="ja-JP" altLang="en-US" sz="1000" dirty="0"/>
                        <a:t>（</a:t>
                      </a:r>
                      <a:r>
                        <a:rPr lang="en-US" altLang="ja-JP" sz="1000" dirty="0"/>
                        <a:t>0.1℃</a:t>
                      </a:r>
                      <a:r>
                        <a:rPr lang="ja-JP" altLang="en-US" sz="1000" dirty="0"/>
                        <a:t>間隔）の累積確率</a:t>
                      </a:r>
                    </a:p>
                  </a:txBody>
                  <a:tcPr anchor="ctr">
                    <a:solidFill>
                      <a:schemeClr val="bg1">
                        <a:lumMod val="95000"/>
                      </a:schemeClr>
                    </a:solidFill>
                  </a:tcPr>
                </a:tc>
                <a:tc>
                  <a:txBody>
                    <a:bodyPr/>
                    <a:lstStyle/>
                    <a:p>
                      <a:pPr algn="ctr"/>
                      <a:r>
                        <a:rPr lang="en-US" altLang="ja-JP" sz="1000" dirty="0"/>
                        <a:t>%</a:t>
                      </a:r>
                    </a:p>
                  </a:txBody>
                  <a:tcPr anchor="ctr">
                    <a:solidFill>
                      <a:schemeClr val="bg1">
                        <a:lumMod val="95000"/>
                      </a:schemeClr>
                    </a:solidFill>
                  </a:tcPr>
                </a:tc>
                <a:extLst>
                  <a:ext uri="{0D108BD9-81ED-4DB2-BD59-A6C34878D82A}">
                    <a16:rowId xmlns:a16="http://schemas.microsoft.com/office/drawing/2014/main" val="1182664027"/>
                  </a:ext>
                </a:extLst>
              </a:tr>
              <a:tr h="198000">
                <a:tc>
                  <a:txBody>
                    <a:bodyPr/>
                    <a:lstStyle/>
                    <a:p>
                      <a:pPr algn="ctr"/>
                      <a:r>
                        <a:rPr lang="en-US" altLang="ja-JP" sz="1000" dirty="0"/>
                        <a:t>153</a:t>
                      </a:r>
                    </a:p>
                  </a:txBody>
                  <a:tcPr anchor="ctr">
                    <a:noFill/>
                  </a:tcPr>
                </a:tc>
                <a:tc>
                  <a:txBody>
                    <a:bodyPr/>
                    <a:lstStyle/>
                    <a:p>
                      <a:r>
                        <a:rPr lang="ja-JP" altLang="en-US" sz="1000" dirty="0"/>
                        <a:t>昨年の日平均気温（実況値）</a:t>
                      </a:r>
                      <a:r>
                        <a:rPr lang="en-US" altLang="ja-JP" sz="1000" baseline="30000" dirty="0"/>
                        <a:t>※1※2</a:t>
                      </a:r>
                      <a:endParaRPr lang="ja-JP" altLang="en-US" sz="1000" dirty="0"/>
                    </a:p>
                  </a:txBody>
                  <a:tcPr anchor="ctr">
                    <a:noFill/>
                  </a:tcPr>
                </a:tc>
                <a:tc>
                  <a:txBody>
                    <a:bodyPr/>
                    <a:lstStyle/>
                    <a:p>
                      <a:pPr algn="ctr"/>
                      <a:r>
                        <a:rPr lang="en-US" altLang="ja-JP" sz="1000" dirty="0"/>
                        <a:t>0.1℃</a:t>
                      </a:r>
                    </a:p>
                  </a:txBody>
                  <a:tcPr anchor="ctr">
                    <a:noFill/>
                  </a:tcPr>
                </a:tc>
                <a:extLst>
                  <a:ext uri="{0D108BD9-81ED-4DB2-BD59-A6C34878D82A}">
                    <a16:rowId xmlns:a16="http://schemas.microsoft.com/office/drawing/2014/main" val="1961501359"/>
                  </a:ext>
                </a:extLst>
              </a:tr>
              <a:tr h="198000">
                <a:tc>
                  <a:txBody>
                    <a:bodyPr/>
                    <a:lstStyle/>
                    <a:p>
                      <a:pPr algn="ctr"/>
                      <a:r>
                        <a:rPr lang="en-US" altLang="ja-JP" sz="1000" dirty="0"/>
                        <a:t>154</a:t>
                      </a:r>
                    </a:p>
                  </a:txBody>
                  <a:tcPr anchor="ctr">
                    <a:solidFill>
                      <a:schemeClr val="bg1">
                        <a:lumMod val="95000"/>
                      </a:schemeClr>
                    </a:solidFill>
                  </a:tcPr>
                </a:tc>
                <a:tc>
                  <a:txBody>
                    <a:bodyPr/>
                    <a:lstStyle/>
                    <a:p>
                      <a:r>
                        <a:rPr lang="ja-JP" altLang="en-US" sz="1000" dirty="0"/>
                        <a:t>過去</a:t>
                      </a:r>
                      <a:r>
                        <a:rPr lang="en-US" altLang="ja-JP" sz="1000" dirty="0"/>
                        <a:t>10</a:t>
                      </a:r>
                      <a:r>
                        <a:rPr lang="ja-JP" altLang="en-US" sz="1000" dirty="0"/>
                        <a:t>年の日平均気温の平年値</a:t>
                      </a:r>
                      <a:r>
                        <a:rPr lang="en-US" altLang="ja-JP" sz="1000" baseline="30000" dirty="0"/>
                        <a:t>※1※2</a:t>
                      </a:r>
                      <a:endParaRPr lang="ja-JP" altLang="en-US" sz="1000" dirty="0"/>
                    </a:p>
                  </a:txBody>
                  <a:tcPr anchor="ctr">
                    <a:solidFill>
                      <a:schemeClr val="bg1">
                        <a:lumMod val="95000"/>
                      </a:schemeClr>
                    </a:solidFill>
                  </a:tcPr>
                </a:tc>
                <a:tc>
                  <a:txBody>
                    <a:bodyPr/>
                    <a:lstStyle/>
                    <a:p>
                      <a:pPr algn="ctr"/>
                      <a:r>
                        <a:rPr lang="en-US" altLang="ja-JP" sz="1000" dirty="0"/>
                        <a:t>0.1℃</a:t>
                      </a:r>
                    </a:p>
                  </a:txBody>
                  <a:tcPr anchor="ctr">
                    <a:solidFill>
                      <a:schemeClr val="bg1">
                        <a:lumMod val="95000"/>
                      </a:schemeClr>
                    </a:solidFill>
                  </a:tcPr>
                </a:tc>
                <a:extLst>
                  <a:ext uri="{0D108BD9-81ED-4DB2-BD59-A6C34878D82A}">
                    <a16:rowId xmlns:a16="http://schemas.microsoft.com/office/drawing/2014/main" val="2397379435"/>
                  </a:ext>
                </a:extLst>
              </a:tr>
              <a:tr h="198000">
                <a:tc>
                  <a:txBody>
                    <a:bodyPr/>
                    <a:lstStyle/>
                    <a:p>
                      <a:pPr algn="ctr"/>
                      <a:r>
                        <a:rPr lang="en-US" altLang="ja-JP" sz="1000" dirty="0"/>
                        <a:t>155</a:t>
                      </a:r>
                    </a:p>
                  </a:txBody>
                  <a:tcPr anchor="ctr">
                    <a:noFill/>
                  </a:tcPr>
                </a:tc>
                <a:tc>
                  <a:txBody>
                    <a:bodyPr/>
                    <a:lstStyle/>
                    <a:p>
                      <a:r>
                        <a:rPr lang="ja-JP" altLang="en-US" sz="1000" dirty="0"/>
                        <a:t>日平均気温の平年値</a:t>
                      </a:r>
                    </a:p>
                  </a:txBody>
                  <a:tcPr anchor="ctr">
                    <a:noFill/>
                  </a:tcPr>
                </a:tc>
                <a:tc>
                  <a:txBody>
                    <a:bodyPr/>
                    <a:lstStyle/>
                    <a:p>
                      <a:pPr algn="ctr"/>
                      <a:r>
                        <a:rPr lang="en-US" altLang="ja-JP" sz="1000" dirty="0"/>
                        <a:t>0.1℃</a:t>
                      </a:r>
                    </a:p>
                  </a:txBody>
                  <a:tcPr anchor="ctr">
                    <a:noFill/>
                  </a:tcPr>
                </a:tc>
                <a:extLst>
                  <a:ext uri="{0D108BD9-81ED-4DB2-BD59-A6C34878D82A}">
                    <a16:rowId xmlns:a16="http://schemas.microsoft.com/office/drawing/2014/main" val="3463478662"/>
                  </a:ext>
                </a:extLst>
              </a:tr>
              <a:tr h="198000">
                <a:tc>
                  <a:txBody>
                    <a:bodyPr/>
                    <a:lstStyle/>
                    <a:p>
                      <a:pPr algn="ctr"/>
                      <a:r>
                        <a:rPr lang="en-US" altLang="ja-JP" sz="1000" dirty="0"/>
                        <a:t>156</a:t>
                      </a:r>
                    </a:p>
                  </a:txBody>
                  <a:tcPr anchor="ctr">
                    <a:solidFill>
                      <a:schemeClr val="bg1">
                        <a:lumMod val="95000"/>
                      </a:schemeClr>
                    </a:solidFill>
                  </a:tcPr>
                </a:tc>
                <a:tc>
                  <a:txBody>
                    <a:bodyPr/>
                    <a:lstStyle/>
                    <a:p>
                      <a:r>
                        <a:rPr lang="ja-JP" altLang="en-US" sz="1000" dirty="0"/>
                        <a:t>実況値に準ずる検証用データ</a:t>
                      </a:r>
                      <a:r>
                        <a:rPr lang="en-US" altLang="ja-JP" sz="1000" baseline="30000" dirty="0"/>
                        <a:t>※3</a:t>
                      </a:r>
                      <a:endParaRPr lang="ja-JP" altLang="en-US" sz="1000" dirty="0"/>
                    </a:p>
                  </a:txBody>
                  <a:tcPr anchor="ctr">
                    <a:solidFill>
                      <a:schemeClr val="bg1">
                        <a:lumMod val="95000"/>
                      </a:schemeClr>
                    </a:solidFill>
                  </a:tcPr>
                </a:tc>
                <a:tc>
                  <a:txBody>
                    <a:bodyPr/>
                    <a:lstStyle/>
                    <a:p>
                      <a:pPr algn="ctr"/>
                      <a:r>
                        <a:rPr lang="en-US" altLang="ja-JP" sz="1000" dirty="0"/>
                        <a:t>0.1℃</a:t>
                      </a:r>
                    </a:p>
                  </a:txBody>
                  <a:tcPr anchor="ctr">
                    <a:solidFill>
                      <a:schemeClr val="bg1">
                        <a:lumMod val="95000"/>
                      </a:schemeClr>
                    </a:solidFill>
                  </a:tcPr>
                </a:tc>
                <a:extLst>
                  <a:ext uri="{0D108BD9-81ED-4DB2-BD59-A6C34878D82A}">
                    <a16:rowId xmlns:a16="http://schemas.microsoft.com/office/drawing/2014/main" val="923442170"/>
                  </a:ext>
                </a:extLst>
              </a:tr>
            </a:tbl>
          </a:graphicData>
        </a:graphic>
      </p:graphicFrame>
      <p:sp>
        <p:nvSpPr>
          <p:cNvPr id="17" name="テキスト ボックス 16">
            <a:extLst>
              <a:ext uri="{FF2B5EF4-FFF2-40B4-BE49-F238E27FC236}">
                <a16:creationId xmlns:a16="http://schemas.microsoft.com/office/drawing/2014/main" id="{74D723CF-E5C8-1CA0-BC41-597A583E3628}"/>
              </a:ext>
            </a:extLst>
          </p:cNvPr>
          <p:cNvSpPr txBox="1"/>
          <p:nvPr/>
        </p:nvSpPr>
        <p:spPr>
          <a:xfrm>
            <a:off x="4572000" y="4676407"/>
            <a:ext cx="1891403" cy="253916"/>
          </a:xfrm>
          <a:prstGeom prst="rect">
            <a:avLst/>
          </a:prstGeom>
          <a:noFill/>
        </p:spPr>
        <p:txBody>
          <a:bodyPr wrap="square">
            <a:spAutoFit/>
          </a:bodyPr>
          <a:lstStyle/>
          <a:p>
            <a:r>
              <a:rPr lang="ja-JP" altLang="en-US" sz="1050" b="1" dirty="0"/>
              <a:t>「地域」を選択した場合</a:t>
            </a:r>
          </a:p>
        </p:txBody>
      </p:sp>
      <p:sp>
        <p:nvSpPr>
          <p:cNvPr id="19" name="テキスト ボックス 18">
            <a:extLst>
              <a:ext uri="{FF2B5EF4-FFF2-40B4-BE49-F238E27FC236}">
                <a16:creationId xmlns:a16="http://schemas.microsoft.com/office/drawing/2014/main" id="{4B94B833-D140-62BC-77AE-AE65B7C830BB}"/>
              </a:ext>
            </a:extLst>
          </p:cNvPr>
          <p:cNvSpPr txBox="1"/>
          <p:nvPr/>
        </p:nvSpPr>
        <p:spPr>
          <a:xfrm>
            <a:off x="4540192" y="2818696"/>
            <a:ext cx="2689284" cy="253916"/>
          </a:xfrm>
          <a:prstGeom prst="rect">
            <a:avLst/>
          </a:prstGeom>
          <a:noFill/>
        </p:spPr>
        <p:txBody>
          <a:bodyPr wrap="square">
            <a:spAutoFit/>
          </a:bodyPr>
          <a:lstStyle/>
          <a:p>
            <a:r>
              <a:rPr lang="ja-JP" altLang="en-US" sz="1050" b="1" dirty="0"/>
              <a:t>「地点」を選択した場合</a:t>
            </a:r>
          </a:p>
        </p:txBody>
      </p:sp>
      <p:sp>
        <p:nvSpPr>
          <p:cNvPr id="21" name="テキスト ボックス 20">
            <a:extLst>
              <a:ext uri="{FF2B5EF4-FFF2-40B4-BE49-F238E27FC236}">
                <a16:creationId xmlns:a16="http://schemas.microsoft.com/office/drawing/2014/main" id="{723DC21A-3071-F039-3804-FCF2A14DFCC3}"/>
              </a:ext>
            </a:extLst>
          </p:cNvPr>
          <p:cNvSpPr txBox="1"/>
          <p:nvPr/>
        </p:nvSpPr>
        <p:spPr>
          <a:xfrm>
            <a:off x="1767985" y="894035"/>
            <a:ext cx="5885639" cy="276999"/>
          </a:xfrm>
          <a:prstGeom prst="rect">
            <a:avLst/>
          </a:prstGeom>
          <a:noFill/>
        </p:spPr>
        <p:txBody>
          <a:bodyPr wrap="square" rtlCol="0">
            <a:spAutoFit/>
          </a:bodyPr>
          <a:lstStyle/>
          <a:p>
            <a:pPr algn="ctr"/>
            <a:r>
              <a:rPr lang="ja-JP" altLang="en-US" sz="1200" b="1" dirty="0"/>
              <a:t>１か月予報気温</a:t>
            </a:r>
            <a:r>
              <a:rPr kumimoji="1" lang="ja-JP" altLang="en-US" sz="1200" b="1" dirty="0"/>
              <a:t>の</a:t>
            </a:r>
            <a:r>
              <a:rPr kumimoji="1" lang="en-US" altLang="ja-JP" sz="1200" b="1" dirty="0"/>
              <a:t>CSV</a:t>
            </a:r>
            <a:r>
              <a:rPr kumimoji="1" lang="ja-JP" altLang="en-US" sz="1200" b="1" dirty="0"/>
              <a:t>ファイルの例（初期値：</a:t>
            </a:r>
            <a:r>
              <a:rPr kumimoji="1" lang="en-US" altLang="ja-JP" sz="1200" b="1" dirty="0"/>
              <a:t>2022</a:t>
            </a:r>
            <a:r>
              <a:rPr kumimoji="1" lang="ja-JP" altLang="en-US" sz="1200" b="1" dirty="0"/>
              <a:t>年</a:t>
            </a:r>
            <a:r>
              <a:rPr kumimoji="1" lang="en-US" altLang="ja-JP" sz="1200" b="1" dirty="0"/>
              <a:t>9</a:t>
            </a:r>
            <a:r>
              <a:rPr kumimoji="1" lang="ja-JP" altLang="en-US" sz="1200" b="1" dirty="0"/>
              <a:t>月</a:t>
            </a:r>
            <a:r>
              <a:rPr kumimoji="1" lang="en-US" altLang="ja-JP" sz="1200" b="1" dirty="0"/>
              <a:t>13</a:t>
            </a:r>
            <a:r>
              <a:rPr kumimoji="1" lang="ja-JP" altLang="en-US" sz="1200" b="1" dirty="0"/>
              <a:t>日、地点：大阪）</a:t>
            </a:r>
          </a:p>
        </p:txBody>
      </p:sp>
      <p:sp>
        <p:nvSpPr>
          <p:cNvPr id="31" name="正方形/長方形 30">
            <a:extLst>
              <a:ext uri="{FF2B5EF4-FFF2-40B4-BE49-F238E27FC236}">
                <a16:creationId xmlns:a16="http://schemas.microsoft.com/office/drawing/2014/main" id="{A66FD17A-AEA4-95BD-61CD-C981C1BDE251}"/>
              </a:ext>
            </a:extLst>
          </p:cNvPr>
          <p:cNvSpPr/>
          <p:nvPr/>
        </p:nvSpPr>
        <p:spPr>
          <a:xfrm>
            <a:off x="1597314" y="1566464"/>
            <a:ext cx="6737841" cy="135385"/>
          </a:xfrm>
          <a:prstGeom prst="rect">
            <a:avLst/>
          </a:prstGeom>
          <a:noFill/>
          <a:ln>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A4593652-449B-0953-2009-37018834F57B}"/>
              </a:ext>
            </a:extLst>
          </p:cNvPr>
          <p:cNvSpPr txBox="1"/>
          <p:nvPr/>
        </p:nvSpPr>
        <p:spPr>
          <a:xfrm>
            <a:off x="167252" y="1287559"/>
            <a:ext cx="1043856" cy="707886"/>
          </a:xfrm>
          <a:prstGeom prst="rect">
            <a:avLst/>
          </a:prstGeom>
          <a:noFill/>
        </p:spPr>
        <p:txBody>
          <a:bodyPr wrap="square" rtlCol="0">
            <a:spAutoFit/>
          </a:bodyPr>
          <a:lstStyle/>
          <a:p>
            <a:pPr algn="r"/>
            <a:r>
              <a:rPr kumimoji="1" lang="ja-JP" altLang="en-US" sz="800" dirty="0"/>
              <a:t>初期値の年月日</a:t>
            </a:r>
            <a:endParaRPr kumimoji="1" lang="en-US" altLang="ja-JP" sz="800" dirty="0"/>
          </a:p>
          <a:p>
            <a:pPr algn="r"/>
            <a:r>
              <a:rPr kumimoji="1" lang="en-US" altLang="ja-JP" sz="800" dirty="0"/>
              <a:t>1</a:t>
            </a:r>
            <a:r>
              <a:rPr kumimoji="1" lang="ja-JP" altLang="en-US" sz="800" dirty="0"/>
              <a:t>か月先まで</a:t>
            </a:r>
            <a:endParaRPr kumimoji="1" lang="en-US" altLang="ja-JP" sz="800" dirty="0"/>
          </a:p>
          <a:p>
            <a:pPr algn="r"/>
            <a:r>
              <a:rPr lang="en-US" altLang="ja-JP" sz="800" dirty="0"/>
              <a:t>1</a:t>
            </a:r>
            <a:r>
              <a:rPr lang="ja-JP" altLang="en-US" sz="800" dirty="0"/>
              <a:t>週目</a:t>
            </a:r>
            <a:endParaRPr lang="en-US" altLang="ja-JP" sz="800" dirty="0"/>
          </a:p>
          <a:p>
            <a:pPr algn="r"/>
            <a:r>
              <a:rPr kumimoji="1" lang="en-US" altLang="ja-JP" sz="800" dirty="0"/>
              <a:t>2</a:t>
            </a:r>
            <a:r>
              <a:rPr kumimoji="1" lang="ja-JP" altLang="en-US" sz="800" dirty="0"/>
              <a:t>週目</a:t>
            </a:r>
            <a:endParaRPr kumimoji="1" lang="en-US" altLang="ja-JP" sz="800" dirty="0"/>
          </a:p>
          <a:p>
            <a:pPr algn="r"/>
            <a:r>
              <a:rPr lang="en-US" altLang="ja-JP" sz="800" dirty="0"/>
              <a:t>3</a:t>
            </a:r>
            <a:r>
              <a:rPr lang="ja-JP" altLang="en-US" sz="800" dirty="0"/>
              <a:t>～</a:t>
            </a:r>
            <a:r>
              <a:rPr lang="en-US" altLang="ja-JP" sz="800" dirty="0"/>
              <a:t>4</a:t>
            </a:r>
            <a:r>
              <a:rPr lang="ja-JP" altLang="en-US" sz="800" dirty="0"/>
              <a:t>週目</a:t>
            </a:r>
            <a:endParaRPr kumimoji="1" lang="ja-JP" altLang="en-US" sz="800" dirty="0"/>
          </a:p>
        </p:txBody>
      </p:sp>
      <p:cxnSp>
        <p:nvCxnSpPr>
          <p:cNvPr id="38" name="直線矢印コネクタ 37">
            <a:extLst>
              <a:ext uri="{FF2B5EF4-FFF2-40B4-BE49-F238E27FC236}">
                <a16:creationId xmlns:a16="http://schemas.microsoft.com/office/drawing/2014/main" id="{16022CE1-BF44-2C54-2518-DE11C12EB1BB}"/>
              </a:ext>
            </a:extLst>
          </p:cNvPr>
          <p:cNvCxnSpPr/>
          <p:nvPr/>
        </p:nvCxnSpPr>
        <p:spPr>
          <a:xfrm>
            <a:off x="1169791" y="1512915"/>
            <a:ext cx="252000" cy="0"/>
          </a:xfrm>
          <a:prstGeom prst="straightConnector1">
            <a:avLst/>
          </a:prstGeom>
          <a:ln w="6350">
            <a:solidFill>
              <a:schemeClr val="tx2"/>
            </a:solidFill>
            <a:headEnd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7D0CDA1F-A965-2BB7-D0CD-D06C248092A1}"/>
              </a:ext>
            </a:extLst>
          </p:cNvPr>
          <p:cNvCxnSpPr/>
          <p:nvPr/>
        </p:nvCxnSpPr>
        <p:spPr>
          <a:xfrm>
            <a:off x="1169791" y="1641502"/>
            <a:ext cx="252000" cy="0"/>
          </a:xfrm>
          <a:prstGeom prst="straightConnector1">
            <a:avLst/>
          </a:prstGeom>
          <a:ln w="6350">
            <a:solidFill>
              <a:schemeClr val="tx2"/>
            </a:solidFill>
            <a:headEnd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D2CC4C26-3862-A62D-32FB-0FB0D93CD34A}"/>
              </a:ext>
            </a:extLst>
          </p:cNvPr>
          <p:cNvCxnSpPr/>
          <p:nvPr/>
        </p:nvCxnSpPr>
        <p:spPr>
          <a:xfrm>
            <a:off x="1169791" y="1755353"/>
            <a:ext cx="252000" cy="0"/>
          </a:xfrm>
          <a:prstGeom prst="straightConnector1">
            <a:avLst/>
          </a:prstGeom>
          <a:ln w="6350">
            <a:solidFill>
              <a:schemeClr val="tx2"/>
            </a:solidFill>
            <a:headEnd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BE52C0FE-BA9E-D704-BEFA-3669C3E29FAF}"/>
              </a:ext>
            </a:extLst>
          </p:cNvPr>
          <p:cNvCxnSpPr/>
          <p:nvPr/>
        </p:nvCxnSpPr>
        <p:spPr>
          <a:xfrm>
            <a:off x="1169791" y="1874416"/>
            <a:ext cx="252000" cy="0"/>
          </a:xfrm>
          <a:prstGeom prst="straightConnector1">
            <a:avLst/>
          </a:prstGeom>
          <a:ln w="6350">
            <a:solidFill>
              <a:schemeClr val="tx2"/>
            </a:solidFill>
            <a:headEnd w="sm" len="sm"/>
            <a:tailEnd type="triangle" w="sm" len="sm"/>
          </a:ln>
        </p:spPr>
        <p:style>
          <a:lnRef idx="1">
            <a:schemeClr val="accent1"/>
          </a:lnRef>
          <a:fillRef idx="0">
            <a:schemeClr val="accent1"/>
          </a:fillRef>
          <a:effectRef idx="0">
            <a:schemeClr val="accent1"/>
          </a:effectRef>
          <a:fontRef idx="minor">
            <a:schemeClr val="tx1"/>
          </a:fontRef>
        </p:style>
      </p:cxnSp>
      <p:sp>
        <p:nvSpPr>
          <p:cNvPr id="43" name="正方形/長方形 42">
            <a:extLst>
              <a:ext uri="{FF2B5EF4-FFF2-40B4-BE49-F238E27FC236}">
                <a16:creationId xmlns:a16="http://schemas.microsoft.com/office/drawing/2014/main" id="{94012669-4A1C-A0E7-F0E8-0DD7E807C18F}"/>
              </a:ext>
            </a:extLst>
          </p:cNvPr>
          <p:cNvSpPr/>
          <p:nvPr/>
        </p:nvSpPr>
        <p:spPr>
          <a:xfrm>
            <a:off x="3653877" y="1420803"/>
            <a:ext cx="348277" cy="525883"/>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二等辺三角形 46">
            <a:extLst>
              <a:ext uri="{FF2B5EF4-FFF2-40B4-BE49-F238E27FC236}">
                <a16:creationId xmlns:a16="http://schemas.microsoft.com/office/drawing/2014/main" id="{727CCA4A-DCEC-3DED-7BB0-9F8295A37A56}"/>
              </a:ext>
            </a:extLst>
          </p:cNvPr>
          <p:cNvSpPr/>
          <p:nvPr/>
        </p:nvSpPr>
        <p:spPr>
          <a:xfrm>
            <a:off x="3782787" y="1922648"/>
            <a:ext cx="98456" cy="285712"/>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9" name="四角形: 角を丸くする 48">
            <a:extLst>
              <a:ext uri="{FF2B5EF4-FFF2-40B4-BE49-F238E27FC236}">
                <a16:creationId xmlns:a16="http://schemas.microsoft.com/office/drawing/2014/main" id="{53A80F75-537C-D1D5-D621-FFD09B9DFE80}"/>
              </a:ext>
            </a:extLst>
          </p:cNvPr>
          <p:cNvSpPr/>
          <p:nvPr/>
        </p:nvSpPr>
        <p:spPr>
          <a:xfrm>
            <a:off x="3392261" y="2065504"/>
            <a:ext cx="903478" cy="30518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050" dirty="0">
                <a:solidFill>
                  <a:schemeClr val="bg1"/>
                </a:solidFill>
              </a:rPr>
              <a:t>平均日数</a:t>
            </a:r>
            <a:endParaRPr lang="en-US" altLang="ja-JP" sz="1050" dirty="0">
              <a:solidFill>
                <a:schemeClr val="bg1"/>
              </a:solidFill>
            </a:endParaRPr>
          </a:p>
        </p:txBody>
      </p:sp>
      <p:cxnSp>
        <p:nvCxnSpPr>
          <p:cNvPr id="56" name="直線矢印コネクタ 55">
            <a:extLst>
              <a:ext uri="{FF2B5EF4-FFF2-40B4-BE49-F238E27FC236}">
                <a16:creationId xmlns:a16="http://schemas.microsoft.com/office/drawing/2014/main" id="{1E6D7269-9139-D6F0-EE5A-F9350BAFD4B9}"/>
              </a:ext>
            </a:extLst>
          </p:cNvPr>
          <p:cNvCxnSpPr/>
          <p:nvPr/>
        </p:nvCxnSpPr>
        <p:spPr>
          <a:xfrm>
            <a:off x="1169791" y="1385915"/>
            <a:ext cx="252000" cy="0"/>
          </a:xfrm>
          <a:prstGeom prst="straightConnector1">
            <a:avLst/>
          </a:prstGeom>
          <a:ln w="6350">
            <a:solidFill>
              <a:schemeClr val="tx2"/>
            </a:solidFill>
            <a:headEnd w="sm" len="sm"/>
            <a:tailEnd type="triangle" w="sm" len="sm"/>
          </a:ln>
        </p:spPr>
        <p:style>
          <a:lnRef idx="1">
            <a:schemeClr val="accent1"/>
          </a:lnRef>
          <a:fillRef idx="0">
            <a:schemeClr val="accent1"/>
          </a:fillRef>
          <a:effectRef idx="0">
            <a:schemeClr val="accent1"/>
          </a:effectRef>
          <a:fontRef idx="minor">
            <a:schemeClr val="tx1"/>
          </a:fontRef>
        </p:style>
      </p:cxnSp>
      <p:sp>
        <p:nvSpPr>
          <p:cNvPr id="60" name="フリーフォーム: 図形 59">
            <a:extLst>
              <a:ext uri="{FF2B5EF4-FFF2-40B4-BE49-F238E27FC236}">
                <a16:creationId xmlns:a16="http://schemas.microsoft.com/office/drawing/2014/main" id="{940C4D07-9702-AECF-6A07-B09C9BDCE1C6}"/>
              </a:ext>
            </a:extLst>
          </p:cNvPr>
          <p:cNvSpPr/>
          <p:nvPr/>
        </p:nvSpPr>
        <p:spPr>
          <a:xfrm>
            <a:off x="4848263" y="1720683"/>
            <a:ext cx="3123080" cy="986639"/>
          </a:xfrm>
          <a:custGeom>
            <a:avLst/>
            <a:gdLst>
              <a:gd name="connsiteX0" fmla="*/ 1412483 w 3071578"/>
              <a:gd name="connsiteY0" fmla="*/ 0 h 986639"/>
              <a:gd name="connsiteX1" fmla="*/ 1479546 w 3071578"/>
              <a:gd name="connsiteY1" fmla="*/ 214950 h 986639"/>
              <a:gd name="connsiteX2" fmla="*/ 2981059 w 3071578"/>
              <a:gd name="connsiteY2" fmla="*/ 214950 h 986639"/>
              <a:gd name="connsiteX3" fmla="*/ 3071578 w 3071578"/>
              <a:gd name="connsiteY3" fmla="*/ 305469 h 986639"/>
              <a:gd name="connsiteX4" fmla="*/ 3071578 w 3071578"/>
              <a:gd name="connsiteY4" fmla="*/ 896120 h 986639"/>
              <a:gd name="connsiteX5" fmla="*/ 2981059 w 3071578"/>
              <a:gd name="connsiteY5" fmla="*/ 986639 h 986639"/>
              <a:gd name="connsiteX6" fmla="*/ 90519 w 3071578"/>
              <a:gd name="connsiteY6" fmla="*/ 986639 h 986639"/>
              <a:gd name="connsiteX7" fmla="*/ 0 w 3071578"/>
              <a:gd name="connsiteY7" fmla="*/ 896120 h 986639"/>
              <a:gd name="connsiteX8" fmla="*/ 0 w 3071578"/>
              <a:gd name="connsiteY8" fmla="*/ 305469 h 986639"/>
              <a:gd name="connsiteX9" fmla="*/ 90519 w 3071578"/>
              <a:gd name="connsiteY9" fmla="*/ 214950 h 986639"/>
              <a:gd name="connsiteX10" fmla="*/ 1345421 w 3071578"/>
              <a:gd name="connsiteY10" fmla="*/ 214950 h 986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71578" h="986639">
                <a:moveTo>
                  <a:pt x="1412483" y="0"/>
                </a:moveTo>
                <a:lnTo>
                  <a:pt x="1479546" y="214950"/>
                </a:lnTo>
                <a:lnTo>
                  <a:pt x="2981059" y="214950"/>
                </a:lnTo>
                <a:cubicBezTo>
                  <a:pt x="3031051" y="214950"/>
                  <a:pt x="3071578" y="255477"/>
                  <a:pt x="3071578" y="305469"/>
                </a:cubicBezTo>
                <a:lnTo>
                  <a:pt x="3071578" y="896120"/>
                </a:lnTo>
                <a:cubicBezTo>
                  <a:pt x="3071578" y="946112"/>
                  <a:pt x="3031051" y="986639"/>
                  <a:pt x="2981059" y="986639"/>
                </a:cubicBezTo>
                <a:lnTo>
                  <a:pt x="90519" y="986639"/>
                </a:lnTo>
                <a:cubicBezTo>
                  <a:pt x="40527" y="986639"/>
                  <a:pt x="0" y="946112"/>
                  <a:pt x="0" y="896120"/>
                </a:cubicBezTo>
                <a:lnTo>
                  <a:pt x="0" y="305469"/>
                </a:lnTo>
                <a:cubicBezTo>
                  <a:pt x="0" y="255477"/>
                  <a:pt x="40527" y="214950"/>
                  <a:pt x="90519" y="214950"/>
                </a:cubicBezTo>
                <a:lnTo>
                  <a:pt x="1345421" y="214950"/>
                </a:lnTo>
                <a:close/>
              </a:path>
            </a:pathLst>
          </a:custGeom>
          <a:solidFill>
            <a:schemeClr val="bg1"/>
          </a:solidFill>
          <a:ln>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58" name="テキスト ボックス 57">
            <a:extLst>
              <a:ext uri="{FF2B5EF4-FFF2-40B4-BE49-F238E27FC236}">
                <a16:creationId xmlns:a16="http://schemas.microsoft.com/office/drawing/2014/main" id="{9E91D77B-CB84-8923-67C1-7E49ACC3BE7F}"/>
              </a:ext>
            </a:extLst>
          </p:cNvPr>
          <p:cNvSpPr txBox="1"/>
          <p:nvPr/>
        </p:nvSpPr>
        <p:spPr>
          <a:xfrm>
            <a:off x="4874014" y="1983821"/>
            <a:ext cx="3071578" cy="665952"/>
          </a:xfrm>
          <a:prstGeom prst="rect">
            <a:avLst/>
          </a:prstGeom>
          <a:noFill/>
        </p:spPr>
        <p:txBody>
          <a:bodyPr wrap="square" rtlCol="0">
            <a:spAutoFit/>
          </a:bodyPr>
          <a:lstStyle/>
          <a:p>
            <a:pPr algn="ctr">
              <a:lnSpc>
                <a:spcPct val="120000"/>
              </a:lnSpc>
            </a:pPr>
            <a:r>
              <a:rPr kumimoji="1" lang="ja-JP" altLang="en-US" sz="1050" b="1" dirty="0"/>
              <a:t>この行のデータの読み方</a:t>
            </a:r>
            <a:endParaRPr kumimoji="1" lang="en-US" altLang="ja-JP" sz="1050" b="1" dirty="0"/>
          </a:p>
          <a:p>
            <a:pPr>
              <a:lnSpc>
                <a:spcPct val="120000"/>
              </a:lnSpc>
            </a:pPr>
            <a:r>
              <a:rPr lang="ja-JP" altLang="en-US" sz="1050" dirty="0"/>
              <a:t>大阪</a:t>
            </a:r>
            <a:r>
              <a:rPr kumimoji="1" lang="ja-JP" altLang="en-US" sz="1050" dirty="0"/>
              <a:t>（</a:t>
            </a:r>
            <a:r>
              <a:rPr kumimoji="1" lang="en-US" altLang="ja-JP" sz="1050" dirty="0"/>
              <a:t>47772</a:t>
            </a:r>
            <a:r>
              <a:rPr kumimoji="1" lang="ja-JP" altLang="en-US" sz="1050" dirty="0"/>
              <a:t>）における</a:t>
            </a:r>
            <a:r>
              <a:rPr kumimoji="1" lang="en-US" altLang="ja-JP" sz="1050" dirty="0"/>
              <a:t>9</a:t>
            </a:r>
            <a:r>
              <a:rPr lang="en-US" altLang="ja-JP" sz="1050" dirty="0"/>
              <a:t>/</a:t>
            </a:r>
            <a:r>
              <a:rPr kumimoji="1" lang="en-US" altLang="ja-JP" sz="1050" dirty="0"/>
              <a:t>17</a:t>
            </a:r>
            <a:r>
              <a:rPr kumimoji="1" lang="ja-JP" altLang="en-US" sz="1050" dirty="0"/>
              <a:t>～</a:t>
            </a:r>
            <a:r>
              <a:rPr kumimoji="1" lang="en-US" altLang="ja-JP" sz="1050" dirty="0"/>
              <a:t>9</a:t>
            </a:r>
            <a:r>
              <a:rPr lang="en-US" altLang="ja-JP" sz="1050" dirty="0"/>
              <a:t>/23</a:t>
            </a:r>
            <a:r>
              <a:rPr kumimoji="1" lang="ja-JP" altLang="en-US" sz="1050" dirty="0"/>
              <a:t>の</a:t>
            </a:r>
            <a:r>
              <a:rPr kumimoji="1" lang="en-US" altLang="ja-JP" sz="1050" dirty="0"/>
              <a:t>7</a:t>
            </a:r>
            <a:r>
              <a:rPr kumimoji="1" lang="ja-JP" altLang="en-US" sz="1050" dirty="0"/>
              <a:t>日間の平均気温の平年差は＋</a:t>
            </a:r>
            <a:r>
              <a:rPr kumimoji="1" lang="en-US" altLang="ja-JP" sz="1050" dirty="0"/>
              <a:t>1.8</a:t>
            </a:r>
            <a:r>
              <a:rPr kumimoji="1" lang="ja-JP" altLang="en-US" sz="1050" dirty="0"/>
              <a:t>℃、平年値は</a:t>
            </a:r>
            <a:r>
              <a:rPr kumimoji="1" lang="en-US" altLang="ja-JP" sz="1050" dirty="0"/>
              <a:t>24.4</a:t>
            </a:r>
            <a:r>
              <a:rPr kumimoji="1" lang="ja-JP" altLang="en-US" sz="1050" dirty="0"/>
              <a:t>℃</a:t>
            </a:r>
          </a:p>
        </p:txBody>
      </p:sp>
      <p:sp>
        <p:nvSpPr>
          <p:cNvPr id="62" name="テキスト ボックス 61">
            <a:extLst>
              <a:ext uri="{FF2B5EF4-FFF2-40B4-BE49-F238E27FC236}">
                <a16:creationId xmlns:a16="http://schemas.microsoft.com/office/drawing/2014/main" id="{8DC947E4-6644-DA51-ED44-6148C3737E04}"/>
              </a:ext>
            </a:extLst>
          </p:cNvPr>
          <p:cNvSpPr txBox="1"/>
          <p:nvPr/>
        </p:nvSpPr>
        <p:spPr>
          <a:xfrm>
            <a:off x="319568" y="2818696"/>
            <a:ext cx="2689284" cy="253916"/>
          </a:xfrm>
          <a:prstGeom prst="rect">
            <a:avLst/>
          </a:prstGeom>
          <a:noFill/>
        </p:spPr>
        <p:txBody>
          <a:bodyPr wrap="square">
            <a:spAutoFit/>
          </a:bodyPr>
          <a:lstStyle/>
          <a:p>
            <a:r>
              <a:rPr lang="ja-JP" altLang="en-US" sz="1050" b="1" dirty="0"/>
              <a:t>「地域」・「地点」共通</a:t>
            </a:r>
          </a:p>
        </p:txBody>
      </p:sp>
      <p:sp>
        <p:nvSpPr>
          <p:cNvPr id="4" name="テキスト ボックス 3">
            <a:extLst>
              <a:ext uri="{FF2B5EF4-FFF2-40B4-BE49-F238E27FC236}">
                <a16:creationId xmlns:a16="http://schemas.microsoft.com/office/drawing/2014/main" id="{A14AF2BF-4E2B-BB76-AE4B-780CE17A2795}"/>
              </a:ext>
            </a:extLst>
          </p:cNvPr>
          <p:cNvSpPr txBox="1"/>
          <p:nvPr/>
        </p:nvSpPr>
        <p:spPr>
          <a:xfrm>
            <a:off x="5884834" y="1503002"/>
            <a:ext cx="875846" cy="276999"/>
          </a:xfrm>
          <a:prstGeom prst="rect">
            <a:avLst/>
          </a:prstGeom>
          <a:noFill/>
        </p:spPr>
        <p:txBody>
          <a:bodyPr wrap="square" rtlCol="0">
            <a:spAutoFit/>
          </a:bodyPr>
          <a:lstStyle/>
          <a:p>
            <a:pPr algn="ctr"/>
            <a:r>
              <a:rPr kumimoji="1" lang="ja-JP" altLang="en-US" sz="1200" dirty="0"/>
              <a:t>・・・</a:t>
            </a:r>
          </a:p>
        </p:txBody>
      </p:sp>
      <p:sp>
        <p:nvSpPr>
          <p:cNvPr id="3" name="スライド番号プレースホルダー 2">
            <a:extLst>
              <a:ext uri="{FF2B5EF4-FFF2-40B4-BE49-F238E27FC236}">
                <a16:creationId xmlns:a16="http://schemas.microsoft.com/office/drawing/2014/main" id="{772E95E5-AE0F-E867-26AC-D55CB0D093D9}"/>
              </a:ext>
            </a:extLst>
          </p:cNvPr>
          <p:cNvSpPr>
            <a:spLocks noGrp="1"/>
          </p:cNvSpPr>
          <p:nvPr>
            <p:ph type="sldNum" sz="quarter" idx="12"/>
          </p:nvPr>
        </p:nvSpPr>
        <p:spPr/>
        <p:txBody>
          <a:bodyPr/>
          <a:lstStyle/>
          <a:p>
            <a:fld id="{5F9F9204-6EDA-41A6-81B7-5E8491083ADF}" type="slidenum">
              <a:rPr kumimoji="1" lang="ja-JP" altLang="en-US" smtClean="0"/>
              <a:t>23</a:t>
            </a:fld>
            <a:endParaRPr kumimoji="1" lang="ja-JP" altLang="en-US" dirty="0"/>
          </a:p>
        </p:txBody>
      </p:sp>
    </p:spTree>
    <p:extLst>
      <p:ext uri="{BB962C8B-B14F-4D97-AF65-F5344CB8AC3E}">
        <p14:creationId xmlns:p14="http://schemas.microsoft.com/office/powerpoint/2010/main" val="981062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635D8404-ACFF-2652-DAA3-FCA25B6DD568}"/>
              </a:ext>
            </a:extLst>
          </p:cNvPr>
          <p:cNvPicPr>
            <a:picLocks noChangeAspect="1"/>
          </p:cNvPicPr>
          <p:nvPr/>
        </p:nvPicPr>
        <p:blipFill>
          <a:blip r:embed="rId3"/>
          <a:stretch>
            <a:fillRect/>
          </a:stretch>
        </p:blipFill>
        <p:spPr>
          <a:xfrm>
            <a:off x="1316914" y="1651070"/>
            <a:ext cx="5796271" cy="2137375"/>
          </a:xfrm>
          <a:prstGeom prst="rect">
            <a:avLst/>
          </a:prstGeom>
        </p:spPr>
      </p:pic>
      <p:sp>
        <p:nvSpPr>
          <p:cNvPr id="2" name="タイトル 1">
            <a:extLst>
              <a:ext uri="{FF2B5EF4-FFF2-40B4-BE49-F238E27FC236}">
                <a16:creationId xmlns:a16="http://schemas.microsoft.com/office/drawing/2014/main" id="{DEAC97B3-F49C-1852-F012-C7259E187423}"/>
              </a:ext>
            </a:extLst>
          </p:cNvPr>
          <p:cNvSpPr>
            <a:spLocks noGrp="1"/>
          </p:cNvSpPr>
          <p:nvPr>
            <p:ph type="title"/>
          </p:nvPr>
        </p:nvSpPr>
        <p:spPr/>
        <p:txBody>
          <a:bodyPr/>
          <a:lstStyle/>
          <a:p>
            <a:r>
              <a:rPr lang="ja-JP" altLang="en-US" dirty="0"/>
              <a:t>サンプル</a:t>
            </a:r>
            <a:r>
              <a:rPr kumimoji="1" lang="ja-JP" altLang="en-US" dirty="0"/>
              <a:t>ワークブックの提供について</a:t>
            </a:r>
          </a:p>
        </p:txBody>
      </p:sp>
      <p:sp>
        <p:nvSpPr>
          <p:cNvPr id="3" name="コンテンツ プレースホルダー 2">
            <a:extLst>
              <a:ext uri="{FF2B5EF4-FFF2-40B4-BE49-F238E27FC236}">
                <a16:creationId xmlns:a16="http://schemas.microsoft.com/office/drawing/2014/main" id="{D5BD9E20-3329-F591-CEA4-16BE024DDAA2}"/>
              </a:ext>
            </a:extLst>
          </p:cNvPr>
          <p:cNvSpPr>
            <a:spLocks noGrp="1"/>
          </p:cNvSpPr>
          <p:nvPr>
            <p:ph idx="1"/>
          </p:nvPr>
        </p:nvSpPr>
        <p:spPr/>
        <p:txBody>
          <a:bodyPr/>
          <a:lstStyle/>
          <a:p>
            <a:r>
              <a:rPr kumimoji="1" lang="ja-JP" altLang="en-US" dirty="0"/>
              <a:t>最新の確率予測資料の内容をグラフ表示させることが可能</a:t>
            </a:r>
          </a:p>
        </p:txBody>
      </p:sp>
      <p:pic>
        <p:nvPicPr>
          <p:cNvPr id="7" name="図 6">
            <a:extLst>
              <a:ext uri="{FF2B5EF4-FFF2-40B4-BE49-F238E27FC236}">
                <a16:creationId xmlns:a16="http://schemas.microsoft.com/office/drawing/2014/main" id="{8B7D3EB6-5511-83CC-CAC5-FC21094DB674}"/>
              </a:ext>
            </a:extLst>
          </p:cNvPr>
          <p:cNvPicPr>
            <a:picLocks noChangeAspect="1"/>
          </p:cNvPicPr>
          <p:nvPr/>
        </p:nvPicPr>
        <p:blipFill>
          <a:blip r:embed="rId4"/>
          <a:stretch>
            <a:fillRect/>
          </a:stretch>
        </p:blipFill>
        <p:spPr>
          <a:xfrm>
            <a:off x="1316914" y="3860679"/>
            <a:ext cx="5677467" cy="2672658"/>
          </a:xfrm>
          <a:prstGeom prst="rect">
            <a:avLst/>
          </a:prstGeom>
        </p:spPr>
      </p:pic>
      <p:sp>
        <p:nvSpPr>
          <p:cNvPr id="8" name="四角形: 角を丸くする 7">
            <a:extLst>
              <a:ext uri="{FF2B5EF4-FFF2-40B4-BE49-F238E27FC236}">
                <a16:creationId xmlns:a16="http://schemas.microsoft.com/office/drawing/2014/main" id="{41A6F2AF-726B-DE9D-5DF8-FC66139E8718}"/>
              </a:ext>
            </a:extLst>
          </p:cNvPr>
          <p:cNvSpPr/>
          <p:nvPr/>
        </p:nvSpPr>
        <p:spPr>
          <a:xfrm>
            <a:off x="1137917" y="1394460"/>
            <a:ext cx="6057681" cy="5274625"/>
          </a:xfrm>
          <a:prstGeom prst="roundRect">
            <a:avLst>
              <a:gd name="adj" fmla="val 3615"/>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フローチャート: 結合子 22">
            <a:extLst>
              <a:ext uri="{FF2B5EF4-FFF2-40B4-BE49-F238E27FC236}">
                <a16:creationId xmlns:a16="http://schemas.microsoft.com/office/drawing/2014/main" id="{3B12A92C-D25B-20BD-6F77-0A5D865DDC15}"/>
              </a:ext>
            </a:extLst>
          </p:cNvPr>
          <p:cNvSpPr>
            <a:spLocks noChangeAspect="1"/>
          </p:cNvSpPr>
          <p:nvPr/>
        </p:nvSpPr>
        <p:spPr>
          <a:xfrm>
            <a:off x="1646434" y="1476000"/>
            <a:ext cx="288000" cy="288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t>1</a:t>
            </a:r>
            <a:endParaRPr kumimoji="1" lang="ja-JP" altLang="en-US" sz="1400" dirty="0"/>
          </a:p>
        </p:txBody>
      </p:sp>
      <p:sp>
        <p:nvSpPr>
          <p:cNvPr id="24" name="フローチャート: 結合子 23">
            <a:extLst>
              <a:ext uri="{FF2B5EF4-FFF2-40B4-BE49-F238E27FC236}">
                <a16:creationId xmlns:a16="http://schemas.microsoft.com/office/drawing/2014/main" id="{3B5B2301-124F-2D74-B943-10D30C4E9777}"/>
              </a:ext>
            </a:extLst>
          </p:cNvPr>
          <p:cNvSpPr>
            <a:spLocks noChangeAspect="1"/>
          </p:cNvSpPr>
          <p:nvPr/>
        </p:nvSpPr>
        <p:spPr>
          <a:xfrm>
            <a:off x="2437486" y="1476000"/>
            <a:ext cx="288000" cy="288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t>2</a:t>
            </a:r>
            <a:endParaRPr kumimoji="1" lang="ja-JP" altLang="en-US" sz="1400" dirty="0"/>
          </a:p>
        </p:txBody>
      </p:sp>
      <p:sp>
        <p:nvSpPr>
          <p:cNvPr id="25" name="フローチャート: 結合子 24">
            <a:extLst>
              <a:ext uri="{FF2B5EF4-FFF2-40B4-BE49-F238E27FC236}">
                <a16:creationId xmlns:a16="http://schemas.microsoft.com/office/drawing/2014/main" id="{F976AFAF-C3E9-C501-4691-F28A970944B2}"/>
              </a:ext>
            </a:extLst>
          </p:cNvPr>
          <p:cNvSpPr>
            <a:spLocks noChangeAspect="1"/>
          </p:cNvSpPr>
          <p:nvPr/>
        </p:nvSpPr>
        <p:spPr>
          <a:xfrm>
            <a:off x="3308819" y="1477308"/>
            <a:ext cx="288000" cy="288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t>3</a:t>
            </a:r>
            <a:endParaRPr kumimoji="1" lang="ja-JP" altLang="en-US" sz="1400" dirty="0"/>
          </a:p>
        </p:txBody>
      </p:sp>
      <p:sp>
        <p:nvSpPr>
          <p:cNvPr id="26" name="矢印: 五方向 25">
            <a:extLst>
              <a:ext uri="{FF2B5EF4-FFF2-40B4-BE49-F238E27FC236}">
                <a16:creationId xmlns:a16="http://schemas.microsoft.com/office/drawing/2014/main" id="{B86E1511-5A00-8DD4-C5FE-47E6CEFD8D7B}"/>
              </a:ext>
            </a:extLst>
          </p:cNvPr>
          <p:cNvSpPr/>
          <p:nvPr/>
        </p:nvSpPr>
        <p:spPr>
          <a:xfrm flipH="1">
            <a:off x="6463744" y="3056788"/>
            <a:ext cx="2203033" cy="324000"/>
          </a:xfrm>
          <a:prstGeom prst="homePlate">
            <a:avLst>
              <a:gd name="adj" fmla="val 3928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dirty="0"/>
              <a:t>アンサンブル平均時系列図</a:t>
            </a:r>
          </a:p>
        </p:txBody>
      </p:sp>
      <p:sp>
        <p:nvSpPr>
          <p:cNvPr id="27" name="矢印: 五方向 26">
            <a:extLst>
              <a:ext uri="{FF2B5EF4-FFF2-40B4-BE49-F238E27FC236}">
                <a16:creationId xmlns:a16="http://schemas.microsoft.com/office/drawing/2014/main" id="{9F21713B-6096-C531-B056-CBF891137F9E}"/>
              </a:ext>
            </a:extLst>
          </p:cNvPr>
          <p:cNvSpPr/>
          <p:nvPr/>
        </p:nvSpPr>
        <p:spPr>
          <a:xfrm flipH="1">
            <a:off x="6285893" y="5151324"/>
            <a:ext cx="2380883" cy="324000"/>
          </a:xfrm>
          <a:prstGeom prst="homePlate">
            <a:avLst>
              <a:gd name="adj" fmla="val 3928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dirty="0"/>
              <a:t>特定の気温以下、以上の確率</a:t>
            </a:r>
          </a:p>
        </p:txBody>
      </p:sp>
      <p:sp>
        <p:nvSpPr>
          <p:cNvPr id="29" name="二等辺三角形 28">
            <a:extLst>
              <a:ext uri="{FF2B5EF4-FFF2-40B4-BE49-F238E27FC236}">
                <a16:creationId xmlns:a16="http://schemas.microsoft.com/office/drawing/2014/main" id="{8EE8AE54-F6E5-8AF5-9FEE-795DCA6E8013}"/>
              </a:ext>
            </a:extLst>
          </p:cNvPr>
          <p:cNvSpPr/>
          <p:nvPr/>
        </p:nvSpPr>
        <p:spPr>
          <a:xfrm>
            <a:off x="3308819" y="2992293"/>
            <a:ext cx="180024" cy="285712"/>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1" name="二等辺三角形 30">
            <a:extLst>
              <a:ext uri="{FF2B5EF4-FFF2-40B4-BE49-F238E27FC236}">
                <a16:creationId xmlns:a16="http://schemas.microsoft.com/office/drawing/2014/main" id="{1C7821AE-8FAB-137E-B972-78122831F08E}"/>
              </a:ext>
            </a:extLst>
          </p:cNvPr>
          <p:cNvSpPr/>
          <p:nvPr/>
        </p:nvSpPr>
        <p:spPr>
          <a:xfrm>
            <a:off x="3452819" y="4129492"/>
            <a:ext cx="180024" cy="285712"/>
          </a:xfrm>
          <a:prstGeom prst="triangl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0" name="四角形: 角を丸くする 29">
            <a:extLst>
              <a:ext uri="{FF2B5EF4-FFF2-40B4-BE49-F238E27FC236}">
                <a16:creationId xmlns:a16="http://schemas.microsoft.com/office/drawing/2014/main" id="{16C9D842-B438-7209-2EB3-E1A2670CFFF1}"/>
              </a:ext>
            </a:extLst>
          </p:cNvPr>
          <p:cNvSpPr/>
          <p:nvPr/>
        </p:nvSpPr>
        <p:spPr>
          <a:xfrm>
            <a:off x="1877560" y="4310532"/>
            <a:ext cx="3132000" cy="36000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rPr>
              <a:t>注目する値は</a:t>
            </a:r>
            <a:r>
              <a:rPr lang="en-US" altLang="ja-JP" sz="1200" dirty="0">
                <a:solidFill>
                  <a:schemeClr val="bg1"/>
                </a:solidFill>
              </a:rPr>
              <a:t>0.1</a:t>
            </a:r>
            <a:r>
              <a:rPr lang="ja-JP" altLang="en-US" sz="1200" dirty="0">
                <a:solidFill>
                  <a:schemeClr val="bg1"/>
                </a:solidFill>
              </a:rPr>
              <a:t>度単位で細かく指定可能</a:t>
            </a:r>
            <a:endParaRPr lang="en-US" altLang="ja-JP" sz="1200" dirty="0">
              <a:solidFill>
                <a:schemeClr val="bg1"/>
              </a:solidFill>
            </a:endParaRPr>
          </a:p>
        </p:txBody>
      </p:sp>
      <p:sp>
        <p:nvSpPr>
          <p:cNvPr id="35" name="四角形: 角を丸くする 34">
            <a:extLst>
              <a:ext uri="{FF2B5EF4-FFF2-40B4-BE49-F238E27FC236}">
                <a16:creationId xmlns:a16="http://schemas.microsoft.com/office/drawing/2014/main" id="{0C1030CF-40AC-1E12-DB59-61B714D1F654}"/>
              </a:ext>
            </a:extLst>
          </p:cNvPr>
          <p:cNvSpPr/>
          <p:nvPr/>
        </p:nvSpPr>
        <p:spPr>
          <a:xfrm>
            <a:off x="5037222" y="1357194"/>
            <a:ext cx="2954464" cy="1047526"/>
          </a:xfrm>
          <a:prstGeom prst="roundRect">
            <a:avLst>
              <a:gd name="adj" fmla="val 6071"/>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B31C9E92-96A7-F474-2C94-8D17D1D4A840}"/>
              </a:ext>
            </a:extLst>
          </p:cNvPr>
          <p:cNvSpPr txBox="1"/>
          <p:nvPr/>
        </p:nvSpPr>
        <p:spPr>
          <a:xfrm>
            <a:off x="5452894" y="1484849"/>
            <a:ext cx="2419675" cy="276999"/>
          </a:xfrm>
          <a:prstGeom prst="rect">
            <a:avLst/>
          </a:prstGeom>
          <a:noFill/>
        </p:spPr>
        <p:txBody>
          <a:bodyPr wrap="square">
            <a:spAutoFit/>
          </a:bodyPr>
          <a:lstStyle/>
          <a:p>
            <a:r>
              <a:rPr lang="ja-JP" altLang="en-US" sz="1200" dirty="0"/>
              <a:t>都道府県または地域平均を選択</a:t>
            </a:r>
          </a:p>
        </p:txBody>
      </p:sp>
      <p:sp>
        <p:nvSpPr>
          <p:cNvPr id="20" name="テキスト ボックス 19">
            <a:extLst>
              <a:ext uri="{FF2B5EF4-FFF2-40B4-BE49-F238E27FC236}">
                <a16:creationId xmlns:a16="http://schemas.microsoft.com/office/drawing/2014/main" id="{7176EF29-A95A-FDFF-4B38-FA3EDDF7C15A}"/>
              </a:ext>
            </a:extLst>
          </p:cNvPr>
          <p:cNvSpPr txBox="1"/>
          <p:nvPr/>
        </p:nvSpPr>
        <p:spPr>
          <a:xfrm>
            <a:off x="5447079" y="1764803"/>
            <a:ext cx="1684562" cy="276999"/>
          </a:xfrm>
          <a:prstGeom prst="rect">
            <a:avLst/>
          </a:prstGeom>
          <a:noFill/>
        </p:spPr>
        <p:txBody>
          <a:bodyPr wrap="square">
            <a:spAutoFit/>
          </a:bodyPr>
          <a:lstStyle/>
          <a:p>
            <a:r>
              <a:rPr lang="ja-JP" altLang="en-US" sz="1200" dirty="0"/>
              <a:t>地点・地域を選択</a:t>
            </a:r>
          </a:p>
        </p:txBody>
      </p:sp>
      <p:sp>
        <p:nvSpPr>
          <p:cNvPr id="22" name="テキスト ボックス 21">
            <a:extLst>
              <a:ext uri="{FF2B5EF4-FFF2-40B4-BE49-F238E27FC236}">
                <a16:creationId xmlns:a16="http://schemas.microsoft.com/office/drawing/2014/main" id="{C72CBBDB-2100-1BF4-8153-6BE861A2E6C0}"/>
              </a:ext>
            </a:extLst>
          </p:cNvPr>
          <p:cNvSpPr txBox="1"/>
          <p:nvPr/>
        </p:nvSpPr>
        <p:spPr>
          <a:xfrm>
            <a:off x="5461538" y="2061325"/>
            <a:ext cx="1574118" cy="276999"/>
          </a:xfrm>
          <a:prstGeom prst="rect">
            <a:avLst/>
          </a:prstGeom>
          <a:noFill/>
        </p:spPr>
        <p:txBody>
          <a:bodyPr wrap="square">
            <a:spAutoFit/>
          </a:bodyPr>
          <a:lstStyle/>
          <a:p>
            <a:r>
              <a:rPr lang="ja-JP" altLang="en-US" sz="1200" dirty="0"/>
              <a:t>クリックで取得</a:t>
            </a:r>
          </a:p>
        </p:txBody>
      </p:sp>
      <p:cxnSp>
        <p:nvCxnSpPr>
          <p:cNvPr id="36" name="直線コネクタ 35">
            <a:extLst>
              <a:ext uri="{FF2B5EF4-FFF2-40B4-BE49-F238E27FC236}">
                <a16:creationId xmlns:a16="http://schemas.microsoft.com/office/drawing/2014/main" id="{DCD46041-8C9A-0DC6-070C-9B735BC97421}"/>
              </a:ext>
            </a:extLst>
          </p:cNvPr>
          <p:cNvCxnSpPr>
            <a:cxnSpLocks/>
          </p:cNvCxnSpPr>
          <p:nvPr/>
        </p:nvCxnSpPr>
        <p:spPr>
          <a:xfrm>
            <a:off x="5340819" y="1572947"/>
            <a:ext cx="0" cy="648000"/>
          </a:xfrm>
          <a:prstGeom prst="line">
            <a:avLst/>
          </a:prstGeom>
          <a:ln w="12700">
            <a:solidFill>
              <a:schemeClr val="accent2"/>
            </a:solidFill>
            <a:prstDash val="sysDot"/>
          </a:ln>
        </p:spPr>
        <p:style>
          <a:lnRef idx="1">
            <a:schemeClr val="accent1"/>
          </a:lnRef>
          <a:fillRef idx="0">
            <a:schemeClr val="accent1"/>
          </a:fillRef>
          <a:effectRef idx="0">
            <a:schemeClr val="accent1"/>
          </a:effectRef>
          <a:fontRef idx="minor">
            <a:schemeClr val="tx1"/>
          </a:fontRef>
        </p:style>
      </p:cxnSp>
      <p:sp>
        <p:nvSpPr>
          <p:cNvPr id="14" name="フローチャート: 結合子 13">
            <a:extLst>
              <a:ext uri="{FF2B5EF4-FFF2-40B4-BE49-F238E27FC236}">
                <a16:creationId xmlns:a16="http://schemas.microsoft.com/office/drawing/2014/main" id="{FD30618F-8825-3D2E-0652-26D6E606CB8B}"/>
              </a:ext>
            </a:extLst>
          </p:cNvPr>
          <p:cNvSpPr>
            <a:spLocks noChangeAspect="1"/>
          </p:cNvSpPr>
          <p:nvPr/>
        </p:nvSpPr>
        <p:spPr>
          <a:xfrm>
            <a:off x="5231079" y="1474316"/>
            <a:ext cx="216000" cy="216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t>1</a:t>
            </a:r>
            <a:endParaRPr kumimoji="1" lang="ja-JP" altLang="en-US" sz="1050" dirty="0"/>
          </a:p>
        </p:txBody>
      </p:sp>
      <p:sp>
        <p:nvSpPr>
          <p:cNvPr id="15" name="フローチャート: 結合子 14">
            <a:extLst>
              <a:ext uri="{FF2B5EF4-FFF2-40B4-BE49-F238E27FC236}">
                <a16:creationId xmlns:a16="http://schemas.microsoft.com/office/drawing/2014/main" id="{9583A5D8-3D38-F404-0D49-C5E7A3F69763}"/>
              </a:ext>
            </a:extLst>
          </p:cNvPr>
          <p:cNvSpPr>
            <a:spLocks noChangeAspect="1"/>
          </p:cNvSpPr>
          <p:nvPr/>
        </p:nvSpPr>
        <p:spPr>
          <a:xfrm>
            <a:off x="5231079" y="1767648"/>
            <a:ext cx="216000" cy="216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2</a:t>
            </a:r>
            <a:endParaRPr kumimoji="1" lang="ja-JP" altLang="en-US" sz="1200" dirty="0"/>
          </a:p>
        </p:txBody>
      </p:sp>
      <p:sp>
        <p:nvSpPr>
          <p:cNvPr id="16" name="フローチャート: 結合子 15">
            <a:extLst>
              <a:ext uri="{FF2B5EF4-FFF2-40B4-BE49-F238E27FC236}">
                <a16:creationId xmlns:a16="http://schemas.microsoft.com/office/drawing/2014/main" id="{D8BA8DF5-4877-0400-3E4E-054CDC481715}"/>
              </a:ext>
            </a:extLst>
          </p:cNvPr>
          <p:cNvSpPr>
            <a:spLocks noChangeAspect="1"/>
          </p:cNvSpPr>
          <p:nvPr/>
        </p:nvSpPr>
        <p:spPr>
          <a:xfrm>
            <a:off x="5232372" y="2070851"/>
            <a:ext cx="216000" cy="216000"/>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3</a:t>
            </a:r>
            <a:endParaRPr kumimoji="1" lang="ja-JP" altLang="en-US" sz="1200" dirty="0"/>
          </a:p>
        </p:txBody>
      </p:sp>
      <p:sp>
        <p:nvSpPr>
          <p:cNvPr id="37" name="矢印: 五方向 36">
            <a:extLst>
              <a:ext uri="{FF2B5EF4-FFF2-40B4-BE49-F238E27FC236}">
                <a16:creationId xmlns:a16="http://schemas.microsoft.com/office/drawing/2014/main" id="{7A9664B5-D143-9C7D-1CA0-AD645CFFA972}"/>
              </a:ext>
            </a:extLst>
          </p:cNvPr>
          <p:cNvSpPr/>
          <p:nvPr/>
        </p:nvSpPr>
        <p:spPr>
          <a:xfrm flipH="1">
            <a:off x="6857375" y="1177326"/>
            <a:ext cx="1979018" cy="324000"/>
          </a:xfrm>
          <a:prstGeom prst="homePlate">
            <a:avLst>
              <a:gd name="adj" fmla="val 3928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tIns="72000" rtlCol="0" anchor="ctr"/>
          <a:lstStyle/>
          <a:p>
            <a:pPr algn="ctr"/>
            <a:r>
              <a:rPr lang="ja-JP" altLang="en-US" sz="1200" dirty="0"/>
              <a:t>確率予測資料の取得</a:t>
            </a:r>
          </a:p>
        </p:txBody>
      </p:sp>
      <p:pic>
        <p:nvPicPr>
          <p:cNvPr id="4" name="図 3">
            <a:extLst>
              <a:ext uri="{FF2B5EF4-FFF2-40B4-BE49-F238E27FC236}">
                <a16:creationId xmlns:a16="http://schemas.microsoft.com/office/drawing/2014/main" id="{364D46F2-481B-4E5D-BAD0-9B1C5F1BF703}"/>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rot="16200000">
            <a:off x="3213206" y="1917652"/>
            <a:ext cx="419638" cy="419638"/>
          </a:xfrm>
          <a:prstGeom prst="rect">
            <a:avLst/>
          </a:prstGeom>
        </p:spPr>
      </p:pic>
      <p:sp>
        <p:nvSpPr>
          <p:cNvPr id="28" name="四角形: 角を丸くする 27">
            <a:extLst>
              <a:ext uri="{FF2B5EF4-FFF2-40B4-BE49-F238E27FC236}">
                <a16:creationId xmlns:a16="http://schemas.microsoft.com/office/drawing/2014/main" id="{451E427B-4AE5-8524-9E25-852BCAE87AF8}"/>
              </a:ext>
            </a:extLst>
          </p:cNvPr>
          <p:cNvSpPr/>
          <p:nvPr/>
        </p:nvSpPr>
        <p:spPr>
          <a:xfrm>
            <a:off x="1877560" y="3176013"/>
            <a:ext cx="3132000" cy="540000"/>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dirty="0">
                <a:solidFill>
                  <a:schemeClr val="bg1"/>
                </a:solidFill>
              </a:rPr>
              <a:t>平均、最高、最低気温に対応。</a:t>
            </a:r>
            <a:endParaRPr lang="en-US" altLang="ja-JP" sz="1200" dirty="0">
              <a:solidFill>
                <a:schemeClr val="bg1"/>
              </a:solidFill>
            </a:endParaRPr>
          </a:p>
          <a:p>
            <a:r>
              <a:rPr lang="ja-JP" altLang="en-US" sz="1200" dirty="0">
                <a:solidFill>
                  <a:schemeClr val="bg1"/>
                </a:solidFill>
              </a:rPr>
              <a:t>昨年、過去</a:t>
            </a:r>
            <a:r>
              <a:rPr lang="en-US" altLang="ja-JP" sz="1200" dirty="0">
                <a:solidFill>
                  <a:schemeClr val="bg1"/>
                </a:solidFill>
              </a:rPr>
              <a:t>10</a:t>
            </a:r>
            <a:r>
              <a:rPr lang="ja-JP" altLang="en-US" sz="1200" dirty="0">
                <a:solidFill>
                  <a:schemeClr val="bg1"/>
                </a:solidFill>
              </a:rPr>
              <a:t>年、平年の値も参考に表示</a:t>
            </a:r>
            <a:endParaRPr lang="en-US" altLang="ja-JP" sz="1200" dirty="0">
              <a:solidFill>
                <a:schemeClr val="bg1"/>
              </a:solidFill>
            </a:endParaRPr>
          </a:p>
        </p:txBody>
      </p:sp>
      <p:sp>
        <p:nvSpPr>
          <p:cNvPr id="6" name="スライド番号プレースホルダー 5">
            <a:extLst>
              <a:ext uri="{FF2B5EF4-FFF2-40B4-BE49-F238E27FC236}">
                <a16:creationId xmlns:a16="http://schemas.microsoft.com/office/drawing/2014/main" id="{A33EECE2-B864-A582-B656-C81A23E0319E}"/>
              </a:ext>
            </a:extLst>
          </p:cNvPr>
          <p:cNvSpPr>
            <a:spLocks noGrp="1"/>
          </p:cNvSpPr>
          <p:nvPr>
            <p:ph type="sldNum" sz="quarter" idx="12"/>
          </p:nvPr>
        </p:nvSpPr>
        <p:spPr/>
        <p:txBody>
          <a:bodyPr/>
          <a:lstStyle/>
          <a:p>
            <a:fld id="{5F9F9204-6EDA-41A6-81B7-5E8491083ADF}" type="slidenum">
              <a:rPr kumimoji="1" lang="ja-JP" altLang="en-US" smtClean="0"/>
              <a:t>24</a:t>
            </a:fld>
            <a:endParaRPr kumimoji="1" lang="ja-JP" altLang="en-US" dirty="0"/>
          </a:p>
        </p:txBody>
      </p:sp>
    </p:spTree>
    <p:extLst>
      <p:ext uri="{BB962C8B-B14F-4D97-AF65-F5344CB8AC3E}">
        <p14:creationId xmlns:p14="http://schemas.microsoft.com/office/powerpoint/2010/main" val="966093293"/>
      </p:ext>
    </p:extLst>
  </p:cSld>
  <p:clrMapOvr>
    <a:masterClrMapping/>
  </p:clrMapOvr>
</p:sld>
</file>

<file path=ppt/theme/theme1.xml><?xml version="1.0" encoding="utf-8"?>
<a:theme xmlns:a="http://schemas.openxmlformats.org/drawingml/2006/main" name="Office テーマ">
  <a:themeElements>
    <a:clrScheme name="ユーザー定義 4">
      <a:dk1>
        <a:srgbClr val="2A2E33"/>
      </a:dk1>
      <a:lt1>
        <a:sysClr val="window" lastClr="FFFFFF"/>
      </a:lt1>
      <a:dk2>
        <a:srgbClr val="43B0B1"/>
      </a:dk2>
      <a:lt2>
        <a:srgbClr val="E7E6E6"/>
      </a:lt2>
      <a:accent1>
        <a:srgbClr val="003DB8"/>
      </a:accent1>
      <a:accent2>
        <a:srgbClr val="F04A51"/>
      </a:accent2>
      <a:accent3>
        <a:srgbClr val="A5A5A5"/>
      </a:accent3>
      <a:accent4>
        <a:srgbClr val="FFC000"/>
      </a:accent4>
      <a:accent5>
        <a:srgbClr val="5B9BD5"/>
      </a:accent5>
      <a:accent6>
        <a:srgbClr val="43B0B1"/>
      </a:accent6>
      <a:hlink>
        <a:srgbClr val="2A2E33"/>
      </a:hlink>
      <a:folHlink>
        <a:srgbClr val="2A2E33"/>
      </a:folHlink>
    </a:clrScheme>
    <a:fontScheme name="ユーザー定義 3">
      <a:majorFont>
        <a:latin typeface="Segoe UI Semibold"/>
        <a:ea typeface="メイリオ"/>
        <a:cs typeface=""/>
      </a:majorFont>
      <a:minorFont>
        <a:latin typeface="Segoe UI"/>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a:solidFill>
            <a:schemeClr val="accent1">
              <a:lumMod val="90000"/>
            </a:schemeClr>
          </a:solidFill>
          <a:tailEnd type="ova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286fcfe-a88d-4310-bcbf-27eb916eb212">
      <Terms xmlns="http://schemas.microsoft.com/office/infopath/2007/PartnerControls"/>
    </lcf76f155ced4ddcb4097134ff3c332f>
    <TaxCatchAll xmlns="98dc07a7-5f9a-4129-9bee-ee3f4ad71861" xsi:nil="true"/>
    <_x65e5__x6642_ xmlns="e286fcfe-a88d-4310-bcbf-27eb916eb212" xsi:nil="true"/>
    <SharedWithUsers xmlns="98dc07a7-5f9a-4129-9bee-ee3f4ad71861">
      <UserInfo>
        <DisplayName/>
        <AccountId xsi:nil="true"/>
        <AccountType/>
      </UserInfo>
    </SharedWithUsers>
    <MediaLengthInSeconds xmlns="e286fcfe-a88d-4310-bcbf-27eb916eb21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108E5ECFC57E25488063B99D7581144F" ma:contentTypeVersion="15" ma:contentTypeDescription="新しいドキュメントを作成します。" ma:contentTypeScope="" ma:versionID="33401abf4e479700e7a816c435c8c5ad">
  <xsd:schema xmlns:xsd="http://www.w3.org/2001/XMLSchema" xmlns:xs="http://www.w3.org/2001/XMLSchema" xmlns:p="http://schemas.microsoft.com/office/2006/metadata/properties" xmlns:ns2="e286fcfe-a88d-4310-bcbf-27eb916eb212" xmlns:ns3="98dc07a7-5f9a-4129-9bee-ee3f4ad71861" targetNamespace="http://schemas.microsoft.com/office/2006/metadata/properties" ma:root="true" ma:fieldsID="797ae83b991a147c7092738dcc1c3d15" ns2:_="" ns3:_="">
    <xsd:import namespace="e286fcfe-a88d-4310-bcbf-27eb916eb212"/>
    <xsd:import namespace="98dc07a7-5f9a-4129-9bee-ee3f4ad7186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element ref="ns2:_x65e5__x6642_" minOccurs="0"/>
                <xsd:element ref="ns2:MediaServiceBillingMetadata"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86fcfe-a88d-4310-bcbf-27eb916eb2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画像タグ" ma:readOnly="false" ma:fieldId="{5cf76f15-5ced-4ddc-b409-7134ff3c332f}" ma:taxonomyMulti="true" ma:sspId="1e1c6816-2a4f-4461-93c7-8dd281d6228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_x65e5__x6642_" ma:index="25" nillable="true" ma:displayName="日時" ma:format="DateTime" ma:internalName="_x65e5__x6642_">
      <xsd:simpleType>
        <xsd:restriction base="dms:DateTime"/>
      </xsd:simpleType>
    </xsd:element>
    <xsd:element name="MediaServiceBillingMetadata" ma:index="26" nillable="true" ma:displayName="MediaServiceBillingMetadata" ma:hidden="true" ma:internalName="MediaServiceBillingMetadata" ma:readOnly="true">
      <xsd:simpleType>
        <xsd:restriction base="dms:Note"/>
      </xsd:simpleType>
    </xsd:element>
    <xsd:element name="MediaLengthInSeconds" ma:index="2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8dc07a7-5f9a-4129-9bee-ee3f4ad71861" elementFormDefault="qualified">
    <xsd:import namespace="http://schemas.microsoft.com/office/2006/documentManagement/types"/>
    <xsd:import namespace="http://schemas.microsoft.com/office/infopath/2007/PartnerControls"/>
    <xsd:element name="SharedWithUsers" ma:index="16"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共有相手の詳細情報" ma:internalName="SharedWithDetails" ma:readOnly="true">
      <xsd:simpleType>
        <xsd:restriction base="dms:Note">
          <xsd:maxLength value="255"/>
        </xsd:restriction>
      </xsd:simpleType>
    </xsd:element>
    <xsd:element name="TaxCatchAll" ma:index="22" nillable="true" ma:displayName="Taxonomy Catch All Column" ma:hidden="true" ma:list="{fae9d373-fe91-46ba-b151-1ccc1f5d07d7}" ma:internalName="TaxCatchAll" ma:readOnly="false" ma:showField="CatchAllData" ma:web="98dc07a7-5f9a-4129-9bee-ee3f4ad718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0265C09-BB67-4D00-9B7C-ABBD924A7470}">
  <ds:schemaRefs>
    <ds:schemaRef ds:uri="e286fcfe-a88d-4310-bcbf-27eb916eb212"/>
    <ds:schemaRef ds:uri="http://schemas.microsoft.com/office/2006/metadata/properties"/>
    <ds:schemaRef ds:uri="http://purl.org/dc/elements/1.1/"/>
    <ds:schemaRef ds:uri="http://schemas.microsoft.com/office/2006/documentManagement/types"/>
    <ds:schemaRef ds:uri="http://www.w3.org/XML/1998/namespace"/>
    <ds:schemaRef ds:uri="http://purl.org/dc/terms/"/>
    <ds:schemaRef ds:uri="http://purl.org/dc/dcmitype/"/>
    <ds:schemaRef ds:uri="http://schemas.microsoft.com/office/infopath/2007/PartnerControls"/>
    <ds:schemaRef ds:uri="http://schemas.openxmlformats.org/package/2006/metadata/core-properties"/>
    <ds:schemaRef ds:uri="98dc07a7-5f9a-4129-9bee-ee3f4ad71861"/>
  </ds:schemaRefs>
</ds:datastoreItem>
</file>

<file path=customXml/itemProps2.xml><?xml version="1.0" encoding="utf-8"?>
<ds:datastoreItem xmlns:ds="http://schemas.openxmlformats.org/officeDocument/2006/customXml" ds:itemID="{EE1EB74F-3BD6-41F4-B3A2-B1B5E4765B3C}">
  <ds:schemaRefs>
    <ds:schemaRef ds:uri="http://schemas.microsoft.com/sharepoint/v3/contenttype/forms"/>
  </ds:schemaRefs>
</ds:datastoreItem>
</file>

<file path=customXml/itemProps3.xml><?xml version="1.0" encoding="utf-8"?>
<ds:datastoreItem xmlns:ds="http://schemas.openxmlformats.org/officeDocument/2006/customXml" ds:itemID="{2E832335-08D8-4898-9134-9F2C1CC9DD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86fcfe-a88d-4310-bcbf-27eb916eb212"/>
    <ds:schemaRef ds:uri="98dc07a7-5f9a-4129-9bee-ee3f4ad718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6429</Words>
  <Application>Microsoft Office PowerPoint</Application>
  <PresentationFormat>画面に合わせる (4:3)</PresentationFormat>
  <Paragraphs>529</Paragraphs>
  <Slides>25</Slides>
  <Notes>25</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25</vt:i4>
      </vt:variant>
    </vt:vector>
  </HeadingPairs>
  <TitlesOfParts>
    <vt:vector size="34" baseType="lpstr">
      <vt:lpstr>Meiryo UI</vt:lpstr>
      <vt:lpstr>メイリオ</vt:lpstr>
      <vt:lpstr>游ゴシック</vt:lpstr>
      <vt:lpstr>Arial</vt:lpstr>
      <vt:lpstr>Calibri</vt:lpstr>
      <vt:lpstr>Segoe UI</vt:lpstr>
      <vt:lpstr>Segoe UI Semibold</vt:lpstr>
      <vt:lpstr>Wingdings</vt:lpstr>
      <vt:lpstr>Office テーマ</vt:lpstr>
      <vt:lpstr>農業に役立つ気象情報の利用の手引き　</vt:lpstr>
      <vt:lpstr>目次</vt:lpstr>
      <vt:lpstr>気象データの活用事例</vt:lpstr>
      <vt:lpstr>気象データを活用してみませんか？</vt:lpstr>
      <vt:lpstr>気象データの活用イメージ：影響の評価と対応</vt:lpstr>
      <vt:lpstr>気象データの活用イメージ：高度利用</vt:lpstr>
      <vt:lpstr>農業における気温予測データ活用事例</vt:lpstr>
      <vt:lpstr>活用事例１｜水稲生育予測システム（千葉県）</vt:lpstr>
      <vt:lpstr>活用事例２｜おきたま米づくり情報（山形県）</vt:lpstr>
      <vt:lpstr>活用事例３｜稲作技術情報（新潟県）</vt:lpstr>
      <vt:lpstr>活用事例４｜「おいでまい」通信（香川県）</vt:lpstr>
      <vt:lpstr>活用事例５｜ナシ開花予測システム（千葉県）</vt:lpstr>
      <vt:lpstr>活用事例６｜モモの開花日予測（山梨県）</vt:lpstr>
      <vt:lpstr>活用事例７｜病害虫の防除適期予測（沖縄県）</vt:lpstr>
      <vt:lpstr>活用事例８｜病害虫の防除適期予測（栃木県）</vt:lpstr>
      <vt:lpstr>活用事例９｜メッシュ農業気象データ（農研機構）</vt:lpstr>
      <vt:lpstr>気象データの取得方法</vt:lpstr>
      <vt:lpstr>気候リスク管理のポータルサイト</vt:lpstr>
      <vt:lpstr>過去の気象データ・ダウンロード</vt:lpstr>
      <vt:lpstr>向こう２週間・１か月の予測資料</vt:lpstr>
      <vt:lpstr>確率予測資料とは？</vt:lpstr>
      <vt:lpstr>確率予測資料提供ページ</vt:lpstr>
      <vt:lpstr>確率予測資料CSVファイル形式： 2週間気温予報</vt:lpstr>
      <vt:lpstr>確率予測資料CSVファイル形式： １か月予報気温</vt:lpstr>
      <vt:lpstr>サンプルワークブックの提供について</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2023-03-14T09:06:56Z</dcterms:created>
  <dcterms:modified xsi:type="dcterms:W3CDTF">2026-03-30T07:01:57Z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0x010100108E5ECFC57E25488063B99D7581144F</vt:lpwstr>
  </property>
  <property fmtid="{D5CDD505-2E9C-101B-9397-08002B2CF9AE}" pid="3" name="Order">
    <vt:r8>0</vt:r8>
  </property>
  <property fmtid="{D5CDD505-2E9C-101B-9397-08002B2CF9AE}" pid="4" name="GUID">
    <vt:lpwstr>5524bdc6-dbfe-403b-a90b-07b919ebcc4b</vt:lpwstr>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